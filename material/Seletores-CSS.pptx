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8288000" cy="10287000"/>
  <p:notesSz cx="6858000" cy="9144000"/>
  <p:embeddedFontLst>
    <p:embeddedFont>
      <p:font typeface="Poetsen" charset="1" panose="020108030300000D0203"/>
      <p:regular r:id="rId37"/>
    </p:embeddedFont>
    <p:embeddedFont>
      <p:font typeface="Poppins" charset="1" panose="00000500000000000000"/>
      <p:regular r:id="rId38"/>
    </p:embeddedFont>
    <p:embeddedFont>
      <p:font typeface="Roboto" charset="1" panose="02000000000000000000"/>
      <p:regular r:id="rId39"/>
    </p:embeddedFont>
    <p:embeddedFont>
      <p:font typeface="Poppins Bold" charset="1" panose="00000800000000000000"/>
      <p:regular r:id="rId40"/>
    </p:embeddedFont>
    <p:embeddedFont>
      <p:font typeface="Open Sans" charset="1" panose="020B0606030504020204"/>
      <p:regular r:id="rId41"/>
    </p:embeddedFont>
    <p:embeddedFont>
      <p:font typeface="Roboto Bold" charset="1" panose="0200000000000000000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31.pn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34.png" Type="http://schemas.openxmlformats.org/officeDocument/2006/relationships/image"/><Relationship Id="rId15" Target="../media/image35.svg" Type="http://schemas.openxmlformats.org/officeDocument/2006/relationships/image"/><Relationship Id="rId2" Target="../media/image1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6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6.pn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6.pn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4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9.png" Type="http://schemas.openxmlformats.org/officeDocument/2006/relationships/image"/><Relationship Id="rId4" Target="../media/image45.pn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6.pn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4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2.png" Type="http://schemas.openxmlformats.org/officeDocument/2006/relationships/image"/><Relationship Id="rId4" Target="../media/image36.png" Type="http://schemas.openxmlformats.org/officeDocument/2006/relationships/image"/><Relationship Id="rId5" Target="../media/image4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6.pn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4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6.pn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6.pn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54.png" Type="http://schemas.openxmlformats.org/officeDocument/2006/relationships/image"/><Relationship Id="rId7" Target="../media/image55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6.pn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5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6.pn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6.png" Type="http://schemas.openxmlformats.org/officeDocument/2006/relationships/image"/><Relationship Id="rId4" Target="../media/image62.png" Type="http://schemas.openxmlformats.org/officeDocument/2006/relationships/image"/><Relationship Id="rId5" Target="../media/image63.svg" Type="http://schemas.openxmlformats.org/officeDocument/2006/relationships/image"/><Relationship Id="rId6" Target="../media/image64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3.png" Type="http://schemas.openxmlformats.org/officeDocument/2006/relationships/image"/><Relationship Id="rId4" Target="../media/image65.png" Type="http://schemas.openxmlformats.org/officeDocument/2006/relationships/image"/><Relationship Id="rId5" Target="../media/image66.png" Type="http://schemas.openxmlformats.org/officeDocument/2006/relationships/image"/><Relationship Id="rId6" Target="../media/image67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8.png" Type="http://schemas.openxmlformats.org/officeDocument/2006/relationships/image"/><Relationship Id="rId4" Target="../media/image69.png" Type="http://schemas.openxmlformats.org/officeDocument/2006/relationships/image"/><Relationship Id="rId5" Target="../media/image70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38699" y="1759039"/>
            <a:ext cx="7735912" cy="6768923"/>
          </a:xfrm>
          <a:custGeom>
            <a:avLst/>
            <a:gdLst/>
            <a:ahLst/>
            <a:cxnLst/>
            <a:rect r="r" b="b" t="t" l="l"/>
            <a:pathLst>
              <a:path h="6768923" w="7735912">
                <a:moveTo>
                  <a:pt x="0" y="0"/>
                </a:moveTo>
                <a:lnTo>
                  <a:pt x="7735912" y="0"/>
                </a:lnTo>
                <a:lnTo>
                  <a:pt x="7735912" y="6768922"/>
                </a:lnTo>
                <a:lnTo>
                  <a:pt x="0" y="67689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14425" y="3327609"/>
            <a:ext cx="9068986" cy="119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39"/>
              </a:lnSpc>
              <a:spcBef>
                <a:spcPct val="0"/>
              </a:spcBef>
            </a:pPr>
            <a:r>
              <a:rPr lang="en-US" sz="8622" spc="-474">
                <a:solidFill>
                  <a:srgbClr val="6851BF"/>
                </a:solidFill>
                <a:latin typeface="Poetsen"/>
                <a:ea typeface="Poetsen"/>
                <a:cs typeface="Poetsen"/>
                <a:sym typeface="Poetsen"/>
              </a:rPr>
              <a:t>Programação para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4425" y="4733658"/>
            <a:ext cx="8377727" cy="160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74"/>
              </a:lnSpc>
            </a:pPr>
            <a:r>
              <a:rPr lang="en-US" sz="13342" spc="-733">
                <a:solidFill>
                  <a:srgbClr val="F09D24"/>
                </a:solidFill>
                <a:latin typeface="Poetsen"/>
                <a:ea typeface="Poetsen"/>
                <a:cs typeface="Poetsen"/>
                <a:sym typeface="Poetsen"/>
              </a:rPr>
              <a:t>Web Design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14425" y="6231074"/>
            <a:ext cx="9068986" cy="84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81"/>
              </a:lnSpc>
            </a:pPr>
            <a:r>
              <a:rPr lang="en-US" sz="4701" spc="-258">
                <a:solidFill>
                  <a:srgbClr val="F02051"/>
                </a:solidFill>
                <a:latin typeface="Poppins"/>
                <a:ea typeface="Poppins"/>
                <a:cs typeface="Poppins"/>
                <a:sym typeface="Poppins"/>
              </a:rPr>
              <a:t>Professora Melissa Schreder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64042" y="1783312"/>
            <a:ext cx="6495258" cy="5959399"/>
          </a:xfrm>
          <a:custGeom>
            <a:avLst/>
            <a:gdLst/>
            <a:ahLst/>
            <a:cxnLst/>
            <a:rect r="r" b="b" t="t" l="l"/>
            <a:pathLst>
              <a:path h="5959399" w="6495258">
                <a:moveTo>
                  <a:pt x="0" y="0"/>
                </a:moveTo>
                <a:lnTo>
                  <a:pt x="6495258" y="0"/>
                </a:lnTo>
                <a:lnTo>
                  <a:pt x="6495258" y="5959399"/>
                </a:lnTo>
                <a:lnTo>
                  <a:pt x="0" y="59593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76080" y="2219228"/>
            <a:ext cx="11045065" cy="1921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628"/>
              </a:lnSpc>
              <a:spcBef>
                <a:spcPct val="0"/>
              </a:spcBef>
            </a:pPr>
            <a:r>
              <a:rPr lang="en-US" sz="13800" spc="-759" strike="noStrike" u="none">
                <a:solidFill>
                  <a:srgbClr val="4B9BB3"/>
                </a:solidFill>
                <a:latin typeface="Poetsen"/>
                <a:ea typeface="Poetsen"/>
                <a:cs typeface="Poetsen"/>
                <a:sym typeface="Poetsen"/>
              </a:rPr>
              <a:t>Seletores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76080" y="4191385"/>
            <a:ext cx="10203185" cy="194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74"/>
              </a:lnSpc>
            </a:pPr>
            <a:r>
              <a:rPr lang="en-US" sz="16249" spc="-893">
                <a:solidFill>
                  <a:srgbClr val="01111D"/>
                </a:solidFill>
                <a:latin typeface="Poetsen"/>
                <a:ea typeface="Poetsen"/>
                <a:cs typeface="Poetsen"/>
                <a:sym typeface="Poetsen"/>
              </a:rPr>
              <a:t>CSS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76080" y="6421625"/>
            <a:ext cx="9068986" cy="84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81"/>
              </a:lnSpc>
            </a:pPr>
            <a:r>
              <a:rPr lang="en-US" sz="4701" spc="-258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Como o CSS escolhe elementos</a:t>
            </a:r>
          </a:p>
        </p:txBody>
      </p:sp>
    </p:spTree>
  </p:cSld>
  <p:clrMapOvr>
    <a:masterClrMapping/>
  </p:clrMapOvr>
  <p:transition spd="med">
    <p:cover dir="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71406" y="8377875"/>
            <a:ext cx="9787894" cy="1360680"/>
          </a:xfrm>
          <a:custGeom>
            <a:avLst/>
            <a:gdLst/>
            <a:ahLst/>
            <a:cxnLst/>
            <a:rect r="r" b="b" t="t" l="l"/>
            <a:pathLst>
              <a:path h="1360680" w="9787894">
                <a:moveTo>
                  <a:pt x="0" y="0"/>
                </a:moveTo>
                <a:lnTo>
                  <a:pt x="9787894" y="0"/>
                </a:lnTo>
                <a:lnTo>
                  <a:pt x="9787894" y="1360680"/>
                </a:lnTo>
                <a:lnTo>
                  <a:pt x="0" y="1360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350" t="-421111" r="-9350" b="-4777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8843" y="4845695"/>
            <a:ext cx="4801627" cy="4723601"/>
          </a:xfrm>
          <a:custGeom>
            <a:avLst/>
            <a:gdLst/>
            <a:ahLst/>
            <a:cxnLst/>
            <a:rect r="r" b="b" t="t" l="l"/>
            <a:pathLst>
              <a:path h="4723601" w="4801627">
                <a:moveTo>
                  <a:pt x="0" y="0"/>
                </a:moveTo>
                <a:lnTo>
                  <a:pt x="4801627" y="0"/>
                </a:lnTo>
                <a:lnTo>
                  <a:pt x="4801627" y="4723601"/>
                </a:lnTo>
                <a:lnTo>
                  <a:pt x="0" y="4723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33502" y="1815601"/>
            <a:ext cx="13112533" cy="793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61"/>
              </a:lnSpc>
            </a:pPr>
            <a:r>
              <a:rPr lang="en-US" sz="4401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Precisamos lembrar: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33502" y="693526"/>
            <a:ext cx="15973767" cy="124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41"/>
              </a:lnSpc>
              <a:spcBef>
                <a:spcPct val="0"/>
              </a:spcBef>
            </a:pPr>
            <a:r>
              <a:rPr lang="en-US" sz="9001" spc="-495">
                <a:solidFill>
                  <a:srgbClr val="4B9BB3"/>
                </a:solidFill>
                <a:latin typeface="Poetsen"/>
                <a:ea typeface="Poetsen"/>
                <a:cs typeface="Poetsen"/>
                <a:sym typeface="Poetsen"/>
              </a:rPr>
              <a:t>Antes dos Seletores...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971629" y="2608688"/>
            <a:ext cx="8787448" cy="5259180"/>
          </a:xfrm>
          <a:custGeom>
            <a:avLst/>
            <a:gdLst/>
            <a:ahLst/>
            <a:cxnLst/>
            <a:rect r="r" b="b" t="t" l="l"/>
            <a:pathLst>
              <a:path h="5259180" w="8787448">
                <a:moveTo>
                  <a:pt x="0" y="0"/>
                </a:moveTo>
                <a:lnTo>
                  <a:pt x="8787448" y="0"/>
                </a:lnTo>
                <a:lnTo>
                  <a:pt x="8787448" y="5259180"/>
                </a:lnTo>
                <a:lnTo>
                  <a:pt x="0" y="52591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1137" t="-72921" r="-17354" b="-70308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11973002" y="5398398"/>
            <a:ext cx="1201324" cy="0"/>
          </a:xfrm>
          <a:prstGeom prst="line">
            <a:avLst/>
          </a:prstGeom>
          <a:ln cap="flat" w="123825">
            <a:solidFill>
              <a:srgbClr val="000000"/>
            </a:solidFill>
            <a:prstDash val="solid"/>
            <a:headEnd type="triangle" len="med" w="lg"/>
            <a:tailEnd type="triangle" len="med" w="lg"/>
          </a:ln>
        </p:spPr>
      </p:sp>
    </p:spTree>
  </p:cSld>
  <p:clrMapOvr>
    <a:masterClrMapping/>
  </p:clrMapOvr>
  <p:transition spd="med">
    <p:cover dir="d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4259408"/>
            <a:ext cx="7315200" cy="2167128"/>
          </a:xfrm>
          <a:custGeom>
            <a:avLst/>
            <a:gdLst/>
            <a:ahLst/>
            <a:cxnLst/>
            <a:rect r="r" b="b" t="t" l="l"/>
            <a:pathLst>
              <a:path h="2167128" w="7315200">
                <a:moveTo>
                  <a:pt x="0" y="0"/>
                </a:moveTo>
                <a:lnTo>
                  <a:pt x="7315200" y="0"/>
                </a:lnTo>
                <a:lnTo>
                  <a:pt x="7315200" y="2167128"/>
                </a:lnTo>
                <a:lnTo>
                  <a:pt x="0" y="21671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58995" y="4871510"/>
            <a:ext cx="5630773" cy="6998372"/>
          </a:xfrm>
          <a:custGeom>
            <a:avLst/>
            <a:gdLst/>
            <a:ahLst/>
            <a:cxnLst/>
            <a:rect r="r" b="b" t="t" l="l"/>
            <a:pathLst>
              <a:path h="6998372" w="5630773">
                <a:moveTo>
                  <a:pt x="0" y="0"/>
                </a:moveTo>
                <a:lnTo>
                  <a:pt x="5630774" y="0"/>
                </a:lnTo>
                <a:lnTo>
                  <a:pt x="5630774" y="6998372"/>
                </a:lnTo>
                <a:lnTo>
                  <a:pt x="0" y="69983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57116" y="1746159"/>
            <a:ext cx="15973767" cy="124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41"/>
              </a:lnSpc>
              <a:spcBef>
                <a:spcPct val="0"/>
              </a:spcBef>
            </a:pPr>
            <a:r>
              <a:rPr lang="en-US" sz="9001" spc="-495">
                <a:solidFill>
                  <a:srgbClr val="4B9BB3"/>
                </a:solidFill>
                <a:latin typeface="Poetsen"/>
                <a:ea typeface="Poetsen"/>
                <a:cs typeface="Poetsen"/>
                <a:sym typeface="Poetsen"/>
              </a:rPr>
              <a:t>E cada um deles tem suas partes...</a:t>
            </a:r>
          </a:p>
        </p:txBody>
      </p:sp>
    </p:spTree>
  </p:cSld>
  <p:clrMapOvr>
    <a:masterClrMapping/>
  </p:clrMapOvr>
  <p:transition spd="med">
    <p:cover dir="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25943" y="3347782"/>
            <a:ext cx="11636113" cy="1738789"/>
          </a:xfrm>
          <a:custGeom>
            <a:avLst/>
            <a:gdLst/>
            <a:ahLst/>
            <a:cxnLst/>
            <a:rect r="r" b="b" t="t" l="l"/>
            <a:pathLst>
              <a:path h="1738789" w="11636113">
                <a:moveTo>
                  <a:pt x="0" y="0"/>
                </a:moveTo>
                <a:lnTo>
                  <a:pt x="11636114" y="0"/>
                </a:lnTo>
                <a:lnTo>
                  <a:pt x="11636114" y="1738789"/>
                </a:lnTo>
                <a:lnTo>
                  <a:pt x="0" y="17387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809" t="-122929" r="-28476" b="-42929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94443" y="5311191"/>
            <a:ext cx="1598733" cy="3207808"/>
          </a:xfrm>
          <a:custGeom>
            <a:avLst/>
            <a:gdLst/>
            <a:ahLst/>
            <a:cxnLst/>
            <a:rect r="r" b="b" t="t" l="l"/>
            <a:pathLst>
              <a:path h="3207808" w="1598733">
                <a:moveTo>
                  <a:pt x="0" y="0"/>
                </a:moveTo>
                <a:lnTo>
                  <a:pt x="1598733" y="0"/>
                </a:lnTo>
                <a:lnTo>
                  <a:pt x="1598733" y="3207808"/>
                </a:lnTo>
                <a:lnTo>
                  <a:pt x="0" y="3207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3839" t="-66697" r="-480328" b="-5384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951584" y="5318992"/>
            <a:ext cx="2131657" cy="3324019"/>
          </a:xfrm>
          <a:custGeom>
            <a:avLst/>
            <a:gdLst/>
            <a:ahLst/>
            <a:cxnLst/>
            <a:rect r="r" b="b" t="t" l="l"/>
            <a:pathLst>
              <a:path h="3324019" w="2131657">
                <a:moveTo>
                  <a:pt x="0" y="0"/>
                </a:moveTo>
                <a:lnTo>
                  <a:pt x="2131656" y="0"/>
                </a:lnTo>
                <a:lnTo>
                  <a:pt x="2131656" y="3324019"/>
                </a:lnTo>
                <a:lnTo>
                  <a:pt x="0" y="3324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209" t="-65789" r="-206913" b="-4703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36573" y="5311191"/>
            <a:ext cx="1873489" cy="3331820"/>
          </a:xfrm>
          <a:custGeom>
            <a:avLst/>
            <a:gdLst/>
            <a:ahLst/>
            <a:cxnLst/>
            <a:rect r="r" b="b" t="t" l="l"/>
            <a:pathLst>
              <a:path h="3331820" w="1873489">
                <a:moveTo>
                  <a:pt x="0" y="0"/>
                </a:moveTo>
                <a:lnTo>
                  <a:pt x="1873490" y="0"/>
                </a:lnTo>
                <a:lnTo>
                  <a:pt x="1873490" y="3331820"/>
                </a:lnTo>
                <a:lnTo>
                  <a:pt x="0" y="3331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84612" t="-65401" r="-82152" b="-4692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450737" y="8518838"/>
            <a:ext cx="2837263" cy="1478923"/>
          </a:xfrm>
          <a:custGeom>
            <a:avLst/>
            <a:gdLst/>
            <a:ahLst/>
            <a:cxnLst/>
            <a:rect r="r" b="b" t="t" l="l"/>
            <a:pathLst>
              <a:path h="1478923" w="2837263">
                <a:moveTo>
                  <a:pt x="0" y="0"/>
                </a:moveTo>
                <a:lnTo>
                  <a:pt x="2837263" y="0"/>
                </a:lnTo>
                <a:lnTo>
                  <a:pt x="2837263" y="1478924"/>
                </a:lnTo>
                <a:lnTo>
                  <a:pt x="0" y="1478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57116" y="1152525"/>
            <a:ext cx="15973767" cy="1300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65"/>
              </a:lnSpc>
              <a:spcBef>
                <a:spcPct val="0"/>
              </a:spcBef>
            </a:pPr>
            <a:r>
              <a:rPr lang="en-US" sz="9401">
                <a:solidFill>
                  <a:srgbClr val="4B9BB3"/>
                </a:solidFill>
                <a:latin typeface="Poetsen"/>
                <a:ea typeface="Poetsen"/>
                <a:cs typeface="Poetsen"/>
                <a:sym typeface="Poetsen"/>
              </a:rPr>
              <a:t>Partes de uma Tag HTML</a:t>
            </a:r>
          </a:p>
        </p:txBody>
      </p:sp>
    </p:spTree>
  </p:cSld>
  <p:clrMapOvr>
    <a:masterClrMapping/>
  </p:clrMapOvr>
  <p:transition spd="med">
    <p:cover dir="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72331" y="2928796"/>
            <a:ext cx="5460360" cy="2148664"/>
            <a:chOff x="0" y="0"/>
            <a:chExt cx="7280480" cy="286488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7280480" cy="2864886"/>
              <a:chOff x="0" y="0"/>
              <a:chExt cx="2306629" cy="907664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306629" cy="907664"/>
              </a:xfrm>
              <a:custGeom>
                <a:avLst/>
                <a:gdLst/>
                <a:ahLst/>
                <a:cxnLst/>
                <a:rect r="r" b="b" t="t" l="l"/>
                <a:pathLst>
                  <a:path h="907664" w="2306629">
                    <a:moveTo>
                      <a:pt x="43953" y="0"/>
                    </a:moveTo>
                    <a:lnTo>
                      <a:pt x="2262675" y="0"/>
                    </a:lnTo>
                    <a:cubicBezTo>
                      <a:pt x="2286950" y="0"/>
                      <a:pt x="2306629" y="19678"/>
                      <a:pt x="2306629" y="43953"/>
                    </a:cubicBezTo>
                    <a:lnTo>
                      <a:pt x="2306629" y="863711"/>
                    </a:lnTo>
                    <a:cubicBezTo>
                      <a:pt x="2306629" y="887985"/>
                      <a:pt x="2286950" y="907664"/>
                      <a:pt x="2262675" y="907664"/>
                    </a:cubicBezTo>
                    <a:lnTo>
                      <a:pt x="43953" y="907664"/>
                    </a:lnTo>
                    <a:cubicBezTo>
                      <a:pt x="19678" y="907664"/>
                      <a:pt x="0" y="887985"/>
                      <a:pt x="0" y="863711"/>
                    </a:cubicBezTo>
                    <a:lnTo>
                      <a:pt x="0" y="43953"/>
                    </a:lnTo>
                    <a:cubicBezTo>
                      <a:pt x="0" y="19678"/>
                      <a:pt x="19678" y="0"/>
                      <a:pt x="43953" y="0"/>
                    </a:cubicBezTo>
                    <a:close/>
                  </a:path>
                </a:pathLst>
              </a:custGeom>
              <a:solidFill>
                <a:srgbClr val="202429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306629" cy="9457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27117" y="299935"/>
              <a:ext cx="6026246" cy="2274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57"/>
                </a:lnSpc>
              </a:pPr>
              <a:r>
                <a:rPr lang="en-US" sz="3842" spc="318">
                  <a:solidFill>
                    <a:srgbClr val="01F6FB"/>
                  </a:solidFill>
                  <a:latin typeface="Roboto"/>
                  <a:ea typeface="Roboto"/>
                  <a:cs typeface="Roboto"/>
                  <a:sym typeface="Roboto"/>
                </a:rPr>
                <a:t>input  </a:t>
              </a:r>
              <a:r>
                <a:rPr lang="en-US" sz="3842" spc="318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{</a:t>
              </a:r>
            </a:p>
            <a:p>
              <a:pPr algn="l">
                <a:lnSpc>
                  <a:spcPts val="4457"/>
                </a:lnSpc>
              </a:pPr>
              <a:r>
                <a:rPr lang="en-US" sz="3842" spc="318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     </a:t>
              </a:r>
              <a:r>
                <a:rPr lang="en-US" sz="3842" spc="318">
                  <a:solidFill>
                    <a:srgbClr val="B36FE9"/>
                  </a:solidFill>
                  <a:latin typeface="Roboto"/>
                  <a:ea typeface="Roboto"/>
                  <a:cs typeface="Roboto"/>
                  <a:sym typeface="Roboto"/>
                </a:rPr>
                <a:t>color</a:t>
              </a:r>
              <a:r>
                <a:rPr lang="en-US" sz="3842" spc="318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:  </a:t>
              </a:r>
              <a:r>
                <a:rPr lang="en-US" sz="3842" spc="318">
                  <a:solidFill>
                    <a:srgbClr val="FF5757"/>
                  </a:solidFill>
                  <a:latin typeface="Roboto"/>
                  <a:ea typeface="Roboto"/>
                  <a:cs typeface="Roboto"/>
                  <a:sym typeface="Roboto"/>
                </a:rPr>
                <a:t>red</a:t>
              </a:r>
              <a:r>
                <a:rPr lang="en-US" sz="3842" spc="318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;</a:t>
              </a:r>
            </a:p>
            <a:p>
              <a:pPr algn="l" marL="0" indent="0" lvl="0">
                <a:lnSpc>
                  <a:spcPts val="4457"/>
                </a:lnSpc>
              </a:pPr>
              <a:r>
                <a:rPr lang="en-US" sz="3842" spc="318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}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213074" y="3229443"/>
            <a:ext cx="3433548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00"/>
              </a:lnSpc>
            </a:pPr>
            <a:r>
              <a:rPr lang="en-US" b="true" sz="3500">
                <a:solidFill>
                  <a:srgbClr val="00B2FF"/>
                </a:solidFill>
                <a:latin typeface="Poppins Bold"/>
                <a:ea typeface="Poppins Bold"/>
                <a:cs typeface="Poppins Bold"/>
                <a:sym typeface="Poppins Bold"/>
              </a:rPr>
              <a:t>SELETOR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73919" y="5622729"/>
            <a:ext cx="3433548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00"/>
              </a:lnSpc>
            </a:pPr>
            <a:r>
              <a:rPr lang="en-US" b="true" sz="3500">
                <a:solidFill>
                  <a:srgbClr val="7C3AED"/>
                </a:solidFill>
                <a:latin typeface="Poppins Bold"/>
                <a:ea typeface="Poppins Bold"/>
                <a:cs typeface="Poppins Bold"/>
                <a:sym typeface="Poppins Bold"/>
              </a:rPr>
              <a:t>PROPRIEDADE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5139290" y="3465871"/>
            <a:ext cx="1086046" cy="133460"/>
          </a:xfrm>
          <a:prstGeom prst="line">
            <a:avLst/>
          </a:prstGeom>
          <a:ln cap="flat" w="85725">
            <a:solidFill>
              <a:srgbClr val="00B2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1" id="11"/>
          <p:cNvSpPr/>
          <p:nvPr/>
        </p:nvSpPr>
        <p:spPr>
          <a:xfrm flipV="true">
            <a:off x="7848191" y="4508686"/>
            <a:ext cx="264337" cy="1218819"/>
          </a:xfrm>
          <a:prstGeom prst="line">
            <a:avLst/>
          </a:prstGeom>
          <a:ln cap="flat" w="85725">
            <a:solidFill>
              <a:srgbClr val="7C3AE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2" id="12"/>
          <p:cNvSpPr/>
          <p:nvPr/>
        </p:nvSpPr>
        <p:spPr>
          <a:xfrm flipH="true" flipV="true">
            <a:off x="10091988" y="4482335"/>
            <a:ext cx="1992974" cy="1268743"/>
          </a:xfrm>
          <a:prstGeom prst="line">
            <a:avLst/>
          </a:prstGeom>
          <a:ln cap="flat" w="85725">
            <a:solidFill>
              <a:srgbClr val="EB4B3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3" id="13"/>
          <p:cNvSpPr/>
          <p:nvPr/>
        </p:nvSpPr>
        <p:spPr>
          <a:xfrm flipH="false" flipV="false" rot="-5400000">
            <a:off x="9777358" y="3390141"/>
            <a:ext cx="685953" cy="8070031"/>
          </a:xfrm>
          <a:custGeom>
            <a:avLst/>
            <a:gdLst/>
            <a:ahLst/>
            <a:cxnLst/>
            <a:rect r="r" b="b" t="t" l="l"/>
            <a:pathLst>
              <a:path h="8070031" w="685953">
                <a:moveTo>
                  <a:pt x="0" y="0"/>
                </a:moveTo>
                <a:lnTo>
                  <a:pt x="685953" y="0"/>
                </a:lnTo>
                <a:lnTo>
                  <a:pt x="685953" y="8070031"/>
                </a:lnTo>
                <a:lnTo>
                  <a:pt x="0" y="80700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0" y="7783873"/>
            <a:ext cx="2673628" cy="2948855"/>
          </a:xfrm>
          <a:custGeom>
            <a:avLst/>
            <a:gdLst/>
            <a:ahLst/>
            <a:cxnLst/>
            <a:rect r="r" b="b" t="t" l="l"/>
            <a:pathLst>
              <a:path h="2948855" w="2673628">
                <a:moveTo>
                  <a:pt x="0" y="0"/>
                </a:moveTo>
                <a:lnTo>
                  <a:pt x="2673628" y="0"/>
                </a:lnTo>
                <a:lnTo>
                  <a:pt x="2673628" y="2948854"/>
                </a:lnTo>
                <a:lnTo>
                  <a:pt x="0" y="29488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740852" y="5753924"/>
            <a:ext cx="3433548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00"/>
              </a:lnSpc>
            </a:pPr>
            <a:r>
              <a:rPr lang="en-US" b="true" sz="3500">
                <a:solidFill>
                  <a:srgbClr val="EB4B36"/>
                </a:solidFill>
                <a:latin typeface="Poppins Bold"/>
                <a:ea typeface="Poppins Bold"/>
                <a:cs typeface="Poppins Bold"/>
                <a:sym typeface="Poppins Bold"/>
              </a:rPr>
              <a:t>VALOR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7116" y="1152525"/>
            <a:ext cx="15973767" cy="1300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65"/>
              </a:lnSpc>
              <a:spcBef>
                <a:spcPct val="0"/>
              </a:spcBef>
            </a:pPr>
            <a:r>
              <a:rPr lang="en-US" sz="9401">
                <a:solidFill>
                  <a:srgbClr val="4B9BB3"/>
                </a:solidFill>
                <a:latin typeface="Poetsen"/>
                <a:ea typeface="Poetsen"/>
                <a:cs typeface="Poetsen"/>
                <a:sym typeface="Poetsen"/>
              </a:rPr>
              <a:t>Partes do CSS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85801" y="3871878"/>
            <a:ext cx="3888094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Escolhe o(s)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3000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elementos(s) HTML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73919" y="6217637"/>
            <a:ext cx="3433548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O que será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3000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alterado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40852" y="6386931"/>
            <a:ext cx="3433548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Como ficará</a:t>
            </a:r>
          </a:p>
          <a:p>
            <a:pPr algn="ctr" marL="0" indent="0" lvl="0">
              <a:lnSpc>
                <a:spcPts val="4200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8403560" y="7987208"/>
            <a:ext cx="3433548" cy="1604557"/>
            <a:chOff x="0" y="0"/>
            <a:chExt cx="4578064" cy="213941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891162"/>
              <a:ext cx="4578064" cy="1248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61"/>
                </a:lnSpc>
              </a:pPr>
              <a:r>
                <a:rPr lang="en-US" sz="2686">
                  <a:solidFill>
                    <a:srgbClr val="01111D"/>
                  </a:solidFill>
                  <a:latin typeface="Poppins"/>
                  <a:ea typeface="Poppins"/>
                  <a:cs typeface="Poppins"/>
                  <a:sym typeface="Poppins"/>
                </a:rPr>
                <a:t>Propriedade + valor</a:t>
              </a:r>
            </a:p>
            <a:p>
              <a:pPr algn="ctr" marL="0" indent="0" lvl="0">
                <a:lnSpc>
                  <a:spcPts val="3761"/>
                </a:lnSpc>
              </a:pPr>
              <a:r>
                <a:rPr lang="en-US" sz="2686">
                  <a:solidFill>
                    <a:srgbClr val="01111D"/>
                  </a:solidFill>
                  <a:latin typeface="Poppins"/>
                  <a:ea typeface="Poppins"/>
                  <a:cs typeface="Poppins"/>
                  <a:sym typeface="Poppins"/>
                </a:rPr>
                <a:t>(termina com ;)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-104775"/>
              <a:ext cx="4578064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900"/>
                </a:lnSpc>
              </a:pPr>
              <a:r>
                <a:rPr lang="en-US" b="true" sz="3500">
                  <a:solidFill>
                    <a:srgbClr val="F661A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DECLARAÇÃO</a:t>
              </a:r>
            </a:p>
          </p:txBody>
        </p:sp>
      </p:grpSp>
    </p:spTree>
  </p:cSld>
  <p:clrMapOvr>
    <a:masterClrMapping/>
  </p:clrMapOvr>
  <p:transition spd="med">
    <p:cover dir="d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52525"/>
            <a:ext cx="15973767" cy="124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41"/>
              </a:lnSpc>
              <a:spcBef>
                <a:spcPct val="0"/>
              </a:spcBef>
            </a:pPr>
            <a:r>
              <a:rPr lang="en-US" sz="9001" spc="-495">
                <a:solidFill>
                  <a:srgbClr val="4B9BB3"/>
                </a:solidFill>
                <a:latin typeface="Poetsen"/>
                <a:ea typeface="Poetsen"/>
                <a:cs typeface="Poetsen"/>
                <a:sym typeface="Poetsen"/>
              </a:rPr>
              <a:t>Voltando aos Seletores...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594072" y="1028700"/>
            <a:ext cx="1177964" cy="1369726"/>
          </a:xfrm>
          <a:custGeom>
            <a:avLst/>
            <a:gdLst/>
            <a:ahLst/>
            <a:cxnLst/>
            <a:rect r="r" b="b" t="t" l="l"/>
            <a:pathLst>
              <a:path h="1369726" w="1177964">
                <a:moveTo>
                  <a:pt x="0" y="0"/>
                </a:moveTo>
                <a:lnTo>
                  <a:pt x="1177965" y="0"/>
                </a:lnTo>
                <a:lnTo>
                  <a:pt x="1177965" y="1369726"/>
                </a:lnTo>
                <a:lnTo>
                  <a:pt x="0" y="13697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501320" y="3278360"/>
            <a:ext cx="8757980" cy="3730280"/>
            <a:chOff x="0" y="0"/>
            <a:chExt cx="11677307" cy="497370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378659"/>
              <a:ext cx="11677307" cy="4595048"/>
              <a:chOff x="0" y="0"/>
              <a:chExt cx="2306629" cy="90766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06629" cy="907664"/>
              </a:xfrm>
              <a:custGeom>
                <a:avLst/>
                <a:gdLst/>
                <a:ahLst/>
                <a:cxnLst/>
                <a:rect r="r" b="b" t="t" l="l"/>
                <a:pathLst>
                  <a:path h="907664" w="2306629">
                    <a:moveTo>
                      <a:pt x="27404" y="0"/>
                    </a:moveTo>
                    <a:lnTo>
                      <a:pt x="2279225" y="0"/>
                    </a:lnTo>
                    <a:cubicBezTo>
                      <a:pt x="2294360" y="0"/>
                      <a:pt x="2306629" y="12269"/>
                      <a:pt x="2306629" y="27404"/>
                    </a:cubicBezTo>
                    <a:lnTo>
                      <a:pt x="2306629" y="880260"/>
                    </a:lnTo>
                    <a:cubicBezTo>
                      <a:pt x="2306629" y="895395"/>
                      <a:pt x="2294360" y="907664"/>
                      <a:pt x="2279225" y="907664"/>
                    </a:cubicBezTo>
                    <a:lnTo>
                      <a:pt x="27404" y="907664"/>
                    </a:lnTo>
                    <a:cubicBezTo>
                      <a:pt x="12269" y="907664"/>
                      <a:pt x="0" y="895395"/>
                      <a:pt x="0" y="880260"/>
                    </a:cubicBezTo>
                    <a:lnTo>
                      <a:pt x="0" y="27404"/>
                    </a:lnTo>
                    <a:cubicBezTo>
                      <a:pt x="0" y="12269"/>
                      <a:pt x="12269" y="0"/>
                      <a:pt x="27404" y="0"/>
                    </a:cubicBezTo>
                    <a:close/>
                  </a:path>
                </a:pathLst>
              </a:custGeom>
              <a:solidFill>
                <a:srgbClr val="20242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306629" cy="9457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244033" cy="1180187"/>
              <a:chOff x="0" y="0"/>
              <a:chExt cx="443266" cy="23312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43266" cy="233123"/>
              </a:xfrm>
              <a:custGeom>
                <a:avLst/>
                <a:gdLst/>
                <a:ahLst/>
                <a:cxnLst/>
                <a:rect r="r" b="b" t="t" l="l"/>
                <a:pathLst>
                  <a:path h="233123" w="443266">
                    <a:moveTo>
                      <a:pt x="64400" y="0"/>
                    </a:moveTo>
                    <a:lnTo>
                      <a:pt x="378866" y="0"/>
                    </a:lnTo>
                    <a:cubicBezTo>
                      <a:pt x="414433" y="0"/>
                      <a:pt x="443266" y="28833"/>
                      <a:pt x="443266" y="64400"/>
                    </a:cubicBezTo>
                    <a:lnTo>
                      <a:pt x="443266" y="168723"/>
                    </a:lnTo>
                    <a:cubicBezTo>
                      <a:pt x="443266" y="185803"/>
                      <a:pt x="436481" y="202184"/>
                      <a:pt x="424403" y="214261"/>
                    </a:cubicBezTo>
                    <a:cubicBezTo>
                      <a:pt x="412326" y="226338"/>
                      <a:pt x="395946" y="233123"/>
                      <a:pt x="378866" y="233123"/>
                    </a:cubicBezTo>
                    <a:lnTo>
                      <a:pt x="64400" y="233123"/>
                    </a:lnTo>
                    <a:cubicBezTo>
                      <a:pt x="47320" y="233123"/>
                      <a:pt x="30940" y="226338"/>
                      <a:pt x="18862" y="214261"/>
                    </a:cubicBezTo>
                    <a:cubicBezTo>
                      <a:pt x="6785" y="202184"/>
                      <a:pt x="0" y="185803"/>
                      <a:pt x="0" y="168723"/>
                    </a:cubicBezTo>
                    <a:lnTo>
                      <a:pt x="0" y="64400"/>
                    </a:lnTo>
                    <a:cubicBezTo>
                      <a:pt x="0" y="47320"/>
                      <a:pt x="6785" y="30940"/>
                      <a:pt x="18862" y="18862"/>
                    </a:cubicBezTo>
                    <a:cubicBezTo>
                      <a:pt x="30940" y="6785"/>
                      <a:pt x="47320" y="0"/>
                      <a:pt x="64400" y="0"/>
                    </a:cubicBez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43266" cy="2712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312276"/>
              <a:ext cx="2244033" cy="867911"/>
              <a:chOff x="0" y="0"/>
              <a:chExt cx="443266" cy="17143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43266" cy="171439"/>
              </a:xfrm>
              <a:custGeom>
                <a:avLst/>
                <a:gdLst/>
                <a:ahLst/>
                <a:cxnLst/>
                <a:rect r="r" b="b" t="t" l="l"/>
                <a:pathLst>
                  <a:path h="171439" w="443266">
                    <a:moveTo>
                      <a:pt x="0" y="0"/>
                    </a:moveTo>
                    <a:lnTo>
                      <a:pt x="443266" y="0"/>
                    </a:lnTo>
                    <a:lnTo>
                      <a:pt x="443266" y="171439"/>
                    </a:lnTo>
                    <a:lnTo>
                      <a:pt x="0" y="171439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443266" cy="2095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250839" y="120856"/>
              <a:ext cx="1742355" cy="83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042"/>
                </a:lnSpc>
              </a:pPr>
              <a:r>
                <a:rPr lang="en-US" sz="3601" spc="298">
                  <a:solidFill>
                    <a:srgbClr val="F5FFF9"/>
                  </a:solidFill>
                  <a:latin typeface="Poppins"/>
                  <a:ea typeface="Poppins"/>
                  <a:cs typeface="Poppins"/>
                  <a:sym typeface="Poppins"/>
                </a:rPr>
                <a:t>CSS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468549" y="1679155"/>
              <a:ext cx="9461663" cy="2506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2"/>
                </a:lnSpc>
              </a:pPr>
              <a:r>
                <a:rPr lang="en-US" sz="3601" spc="298">
                  <a:solidFill>
                    <a:srgbClr val="FEA002"/>
                  </a:solidFill>
                  <a:latin typeface="Roboto"/>
                  <a:ea typeface="Roboto"/>
                  <a:cs typeface="Roboto"/>
                  <a:sym typeface="Roboto"/>
                </a:rPr>
                <a:t>p </a:t>
              </a:r>
              <a:r>
                <a:rPr lang="en-US" sz="3601" spc="298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{</a:t>
              </a:r>
            </a:p>
            <a:p>
              <a:pPr algn="l">
                <a:lnSpc>
                  <a:spcPts val="5042"/>
                </a:lnSpc>
              </a:pPr>
              <a:r>
                <a:rPr lang="en-US" sz="3601" spc="298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     </a:t>
              </a:r>
              <a:r>
                <a:rPr lang="en-US" sz="3601" spc="298">
                  <a:solidFill>
                    <a:srgbClr val="BFECAC"/>
                  </a:solidFill>
                  <a:latin typeface="Roboto"/>
                  <a:ea typeface="Roboto"/>
                  <a:cs typeface="Roboto"/>
                  <a:sym typeface="Roboto"/>
                </a:rPr>
                <a:t>color</a:t>
              </a:r>
              <a:r>
                <a:rPr lang="en-US" sz="3601" spc="298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: </a:t>
              </a:r>
              <a:r>
                <a:rPr lang="en-US" sz="3601" spc="298">
                  <a:solidFill>
                    <a:srgbClr val="FF5757"/>
                  </a:solidFill>
                  <a:latin typeface="Roboto"/>
                  <a:ea typeface="Roboto"/>
                  <a:cs typeface="Roboto"/>
                  <a:sym typeface="Roboto"/>
                </a:rPr>
                <a:t>red</a:t>
              </a:r>
              <a:r>
                <a:rPr lang="en-US" sz="3601" spc="298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;</a:t>
              </a:r>
            </a:p>
            <a:p>
              <a:pPr algn="l" marL="0" indent="0" lvl="0">
                <a:lnSpc>
                  <a:spcPts val="5042"/>
                </a:lnSpc>
              </a:pPr>
              <a:r>
                <a:rPr lang="en-US" sz="3601" spc="298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}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3891329"/>
            <a:ext cx="6748409" cy="2499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81"/>
              </a:lnSpc>
            </a:pPr>
            <a:r>
              <a:rPr lang="en-US" sz="4701" spc="-258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É a parte do CSS que seleciona elementos HTML para aplicar estilo.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709661" y="7455341"/>
            <a:ext cx="8868679" cy="2054497"/>
            <a:chOff x="0" y="0"/>
            <a:chExt cx="11824905" cy="2739329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1069671" y="0"/>
              <a:ext cx="10755235" cy="2739329"/>
              <a:chOff x="0" y="0"/>
              <a:chExt cx="1344875" cy="34253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344875" cy="342536"/>
              </a:xfrm>
              <a:custGeom>
                <a:avLst/>
                <a:gdLst/>
                <a:ahLst/>
                <a:cxnLst/>
                <a:rect r="r" b="b" t="t" l="l"/>
                <a:pathLst>
                  <a:path h="342536" w="1344875">
                    <a:moveTo>
                      <a:pt x="29753" y="0"/>
                    </a:moveTo>
                    <a:lnTo>
                      <a:pt x="1315122" y="0"/>
                    </a:lnTo>
                    <a:cubicBezTo>
                      <a:pt x="1331554" y="0"/>
                      <a:pt x="1344875" y="13321"/>
                      <a:pt x="1344875" y="29753"/>
                    </a:cubicBezTo>
                    <a:lnTo>
                      <a:pt x="1344875" y="312783"/>
                    </a:lnTo>
                    <a:cubicBezTo>
                      <a:pt x="1344875" y="329215"/>
                      <a:pt x="1331554" y="342536"/>
                      <a:pt x="1315122" y="342536"/>
                    </a:cubicBezTo>
                    <a:lnTo>
                      <a:pt x="29753" y="342536"/>
                    </a:lnTo>
                    <a:cubicBezTo>
                      <a:pt x="13321" y="342536"/>
                      <a:pt x="0" y="329215"/>
                      <a:pt x="0" y="312783"/>
                    </a:cubicBezTo>
                    <a:lnTo>
                      <a:pt x="0" y="29753"/>
                    </a:lnTo>
                    <a:cubicBezTo>
                      <a:pt x="0" y="13321"/>
                      <a:pt x="13321" y="0"/>
                      <a:pt x="29753" y="0"/>
                    </a:cubicBezTo>
                    <a:close/>
                  </a:path>
                </a:pathLst>
              </a:custGeom>
              <a:solidFill>
                <a:srgbClr val="DADFC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344875" cy="3806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61001" cy="2556884"/>
            </a:xfrm>
            <a:custGeom>
              <a:avLst/>
              <a:gdLst/>
              <a:ahLst/>
              <a:cxnLst/>
              <a:rect r="r" b="b" t="t" l="l"/>
              <a:pathLst>
                <a:path h="2556884" w="2461001">
                  <a:moveTo>
                    <a:pt x="0" y="0"/>
                  </a:moveTo>
                  <a:lnTo>
                    <a:pt x="2461001" y="0"/>
                  </a:lnTo>
                  <a:lnTo>
                    <a:pt x="2461001" y="2556884"/>
                  </a:lnTo>
                  <a:lnTo>
                    <a:pt x="0" y="2556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2966273" y="539619"/>
              <a:ext cx="8858632" cy="1555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25"/>
                </a:lnSpc>
              </a:pPr>
              <a:r>
                <a:rPr lang="en-US" sz="3375" spc="175" b="true">
                  <a:solidFill>
                    <a:srgbClr val="01111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 CSS precisa saber </a:t>
              </a:r>
            </a:p>
            <a:p>
              <a:pPr algn="l" marL="0" indent="0" lvl="0">
                <a:lnSpc>
                  <a:spcPts val="4725"/>
                </a:lnSpc>
              </a:pPr>
              <a:r>
                <a:rPr lang="en-US" b="true" sz="3375" spc="175">
                  <a:solidFill>
                    <a:srgbClr val="01111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em quem aplicar o estilo!</a:t>
              </a:r>
            </a:p>
          </p:txBody>
        </p:sp>
      </p:grpSp>
    </p:spTree>
  </p:cSld>
  <p:clrMapOvr>
    <a:masterClrMapping/>
  </p:clrMapOvr>
  <p:transition spd="med">
    <p:cover dir="d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57116" y="508999"/>
            <a:ext cx="15973767" cy="124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41"/>
              </a:lnSpc>
              <a:spcBef>
                <a:spcPct val="0"/>
              </a:spcBef>
            </a:pPr>
            <a:r>
              <a:rPr lang="en-US" sz="9001" spc="-495">
                <a:solidFill>
                  <a:srgbClr val="4B9BB3"/>
                </a:solidFill>
                <a:latin typeface="Poetsen"/>
                <a:ea typeface="Poetsen"/>
                <a:cs typeface="Poetsen"/>
                <a:sym typeface="Poetsen"/>
              </a:rPr>
              <a:t>Eles possuem tipos!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429878" y="6245581"/>
            <a:ext cx="2478520" cy="3402316"/>
            <a:chOff x="0" y="0"/>
            <a:chExt cx="3304694" cy="45364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99720" y="491910"/>
              <a:ext cx="2305254" cy="3025990"/>
            </a:xfrm>
            <a:custGeom>
              <a:avLst/>
              <a:gdLst/>
              <a:ahLst/>
              <a:cxnLst/>
              <a:rect r="r" b="b" t="t" l="l"/>
              <a:pathLst>
                <a:path h="3025990" w="2305254">
                  <a:moveTo>
                    <a:pt x="0" y="0"/>
                  </a:moveTo>
                  <a:lnTo>
                    <a:pt x="2305254" y="0"/>
                  </a:lnTo>
                  <a:lnTo>
                    <a:pt x="2305254" y="3025990"/>
                  </a:lnTo>
                  <a:lnTo>
                    <a:pt x="0" y="3025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55187" y="0"/>
              <a:ext cx="1224038" cy="983821"/>
            </a:xfrm>
            <a:custGeom>
              <a:avLst/>
              <a:gdLst/>
              <a:ahLst/>
              <a:cxnLst/>
              <a:rect r="r" b="b" t="t" l="l"/>
              <a:pathLst>
                <a:path h="983821" w="1224038">
                  <a:moveTo>
                    <a:pt x="0" y="0"/>
                  </a:moveTo>
                  <a:lnTo>
                    <a:pt x="1224038" y="0"/>
                  </a:lnTo>
                  <a:lnTo>
                    <a:pt x="1224038" y="983821"/>
                  </a:lnTo>
                  <a:lnTo>
                    <a:pt x="0" y="983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3617788"/>
              <a:ext cx="3304694" cy="918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99"/>
                </a:lnSpc>
              </a:pPr>
              <a:r>
                <a:rPr lang="en-US" sz="3999" spc="-219">
                  <a:solidFill>
                    <a:srgbClr val="01111D"/>
                  </a:solidFill>
                  <a:latin typeface="Poppins"/>
                  <a:ea typeface="Poppins"/>
                  <a:cs typeface="Poppins"/>
                  <a:sym typeface="Poppins"/>
                </a:rPr>
                <a:t>Atributo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7822" y="3687191"/>
            <a:ext cx="4902131" cy="4596394"/>
            <a:chOff x="0" y="0"/>
            <a:chExt cx="6536175" cy="6128525"/>
          </a:xfrm>
        </p:grpSpPr>
        <p:sp>
          <p:nvSpPr>
            <p:cNvPr name="Freeform 9" id="9"/>
            <p:cNvSpPr/>
            <p:nvPr/>
          </p:nvSpPr>
          <p:spPr>
            <a:xfrm flipH="false" flipV="false" rot="1127284">
              <a:off x="417345" y="823958"/>
              <a:ext cx="5701484" cy="3534920"/>
            </a:xfrm>
            <a:custGeom>
              <a:avLst/>
              <a:gdLst/>
              <a:ahLst/>
              <a:cxnLst/>
              <a:rect r="r" b="b" t="t" l="l"/>
              <a:pathLst>
                <a:path h="3534920" w="5701484">
                  <a:moveTo>
                    <a:pt x="0" y="0"/>
                  </a:moveTo>
                  <a:lnTo>
                    <a:pt x="5701484" y="0"/>
                  </a:lnTo>
                  <a:lnTo>
                    <a:pt x="5701484" y="3534920"/>
                  </a:lnTo>
                  <a:lnTo>
                    <a:pt x="0" y="3534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615740" y="5049486"/>
              <a:ext cx="3304694" cy="10790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581"/>
                </a:lnSpc>
              </a:pPr>
              <a:r>
                <a:rPr lang="en-US" sz="4701" spc="-258">
                  <a:solidFill>
                    <a:srgbClr val="01111D"/>
                  </a:solidFill>
                  <a:latin typeface="Poppins"/>
                  <a:ea typeface="Poppins"/>
                  <a:cs typeface="Poppins"/>
                  <a:sym typeface="Poppins"/>
                </a:rPr>
                <a:t>Universal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116134" y="2286844"/>
            <a:ext cx="2920549" cy="3366414"/>
            <a:chOff x="0" y="0"/>
            <a:chExt cx="3894066" cy="44885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60334" cy="3517900"/>
            </a:xfrm>
            <a:custGeom>
              <a:avLst/>
              <a:gdLst/>
              <a:ahLst/>
              <a:cxnLst/>
              <a:rect r="r" b="b" t="t" l="l"/>
              <a:pathLst>
                <a:path h="3517900" w="3460334">
                  <a:moveTo>
                    <a:pt x="0" y="0"/>
                  </a:moveTo>
                  <a:lnTo>
                    <a:pt x="3460334" y="0"/>
                  </a:lnTo>
                  <a:lnTo>
                    <a:pt x="3460334" y="3517900"/>
                  </a:lnTo>
                  <a:lnTo>
                    <a:pt x="0" y="351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47281" y="3613945"/>
              <a:ext cx="3646785" cy="874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319"/>
                </a:lnSpc>
              </a:pPr>
              <a:r>
                <a:rPr lang="en-US" sz="3799" spc="-208">
                  <a:solidFill>
                    <a:srgbClr val="01111D"/>
                  </a:solidFill>
                  <a:latin typeface="Poppins"/>
                  <a:ea typeface="Poppins"/>
                  <a:cs typeface="Poppins"/>
                  <a:sym typeface="Poppins"/>
                </a:rPr>
                <a:t>Elemento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464920" y="2659522"/>
            <a:ext cx="2638425" cy="3063255"/>
            <a:chOff x="0" y="0"/>
            <a:chExt cx="3517900" cy="40843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17900" cy="2524093"/>
            </a:xfrm>
            <a:custGeom>
              <a:avLst/>
              <a:gdLst/>
              <a:ahLst/>
              <a:cxnLst/>
              <a:rect r="r" b="b" t="t" l="l"/>
              <a:pathLst>
                <a:path h="2524093" w="3517900">
                  <a:moveTo>
                    <a:pt x="0" y="0"/>
                  </a:moveTo>
                  <a:lnTo>
                    <a:pt x="3517900" y="0"/>
                  </a:lnTo>
                  <a:lnTo>
                    <a:pt x="3517900" y="2524093"/>
                  </a:lnTo>
                  <a:lnTo>
                    <a:pt x="0" y="2524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06603" y="3005301"/>
              <a:ext cx="3304694" cy="10790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581"/>
                </a:lnSpc>
              </a:pPr>
              <a:r>
                <a:rPr lang="en-US" sz="4701" spc="-258">
                  <a:solidFill>
                    <a:srgbClr val="01111D"/>
                  </a:solidFill>
                  <a:latin typeface="Poppins"/>
                  <a:ea typeface="Poppins"/>
                  <a:cs typeface="Poppins"/>
                  <a:sym typeface="Poppins"/>
                </a:rPr>
                <a:t>ID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501791" y="2332417"/>
            <a:ext cx="2638425" cy="3337351"/>
            <a:chOff x="0" y="0"/>
            <a:chExt cx="3517900" cy="44498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17900" cy="3396373"/>
            </a:xfrm>
            <a:custGeom>
              <a:avLst/>
              <a:gdLst/>
              <a:ahLst/>
              <a:cxnLst/>
              <a:rect r="r" b="b" t="t" l="l"/>
              <a:pathLst>
                <a:path h="3396373" w="3517900">
                  <a:moveTo>
                    <a:pt x="0" y="0"/>
                  </a:moveTo>
                  <a:lnTo>
                    <a:pt x="3517900" y="0"/>
                  </a:lnTo>
                  <a:lnTo>
                    <a:pt x="3517900" y="3396373"/>
                  </a:lnTo>
                  <a:lnTo>
                    <a:pt x="0" y="3396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06603" y="3531168"/>
              <a:ext cx="3304694" cy="918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99"/>
                </a:lnSpc>
              </a:pPr>
              <a:r>
                <a:rPr lang="en-US" sz="3999" spc="-219">
                  <a:solidFill>
                    <a:srgbClr val="01111D"/>
                  </a:solidFill>
                  <a:latin typeface="Poppins"/>
                  <a:ea typeface="Poppins"/>
                  <a:cs typeface="Poppins"/>
                  <a:sym typeface="Poppins"/>
                </a:rPr>
                <a:t>Classe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816192" y="6282914"/>
            <a:ext cx="4009623" cy="3348458"/>
            <a:chOff x="0" y="0"/>
            <a:chExt cx="5346164" cy="44646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97199" y="0"/>
              <a:ext cx="2751766" cy="3418343"/>
            </a:xfrm>
            <a:custGeom>
              <a:avLst/>
              <a:gdLst/>
              <a:ahLst/>
              <a:cxnLst/>
              <a:rect r="r" b="b" t="t" l="l"/>
              <a:pathLst>
                <a:path h="3418343" w="2751766">
                  <a:moveTo>
                    <a:pt x="0" y="0"/>
                  </a:moveTo>
                  <a:lnTo>
                    <a:pt x="2751766" y="0"/>
                  </a:lnTo>
                  <a:lnTo>
                    <a:pt x="2751766" y="3418343"/>
                  </a:lnTo>
                  <a:lnTo>
                    <a:pt x="0" y="3418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0" y="3590042"/>
              <a:ext cx="5346164" cy="8745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321"/>
                </a:lnSpc>
              </a:pPr>
              <a:r>
                <a:rPr lang="en-US" sz="3801" spc="-209">
                  <a:solidFill>
                    <a:srgbClr val="01111D"/>
                  </a:solidFill>
                  <a:latin typeface="Poppins"/>
                  <a:ea typeface="Poppins"/>
                  <a:cs typeface="Poppins"/>
                  <a:sym typeface="Poppins"/>
                </a:rPr>
                <a:t>Pseudo-elemento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53528" y="6245581"/>
            <a:ext cx="4217534" cy="3410557"/>
            <a:chOff x="0" y="0"/>
            <a:chExt cx="5623379" cy="45474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582623" y="0"/>
              <a:ext cx="2458133" cy="3517900"/>
            </a:xfrm>
            <a:custGeom>
              <a:avLst/>
              <a:gdLst/>
              <a:ahLst/>
              <a:cxnLst/>
              <a:rect r="r" b="b" t="t" l="l"/>
              <a:pathLst>
                <a:path h="3517900" w="2458133">
                  <a:moveTo>
                    <a:pt x="0" y="0"/>
                  </a:moveTo>
                  <a:lnTo>
                    <a:pt x="2458133" y="0"/>
                  </a:lnTo>
                  <a:lnTo>
                    <a:pt x="2458133" y="3517900"/>
                  </a:lnTo>
                  <a:lnTo>
                    <a:pt x="0" y="351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0" y="3606800"/>
              <a:ext cx="5623379" cy="9406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741"/>
                </a:lnSpc>
              </a:pPr>
              <a:r>
                <a:rPr lang="en-US" sz="4101" spc="-225">
                  <a:solidFill>
                    <a:srgbClr val="01111D"/>
                  </a:solidFill>
                  <a:latin typeface="Poppins"/>
                  <a:ea typeface="Poppins"/>
                  <a:cs typeface="Poppins"/>
                  <a:sym typeface="Poppins"/>
                </a:rPr>
                <a:t>Pseudo-Classe</a:t>
              </a:r>
            </a:p>
          </p:txBody>
        </p:sp>
      </p:grpSp>
    </p:spTree>
  </p:cSld>
  <p:clrMapOvr>
    <a:masterClrMapping/>
  </p:clrMapOvr>
  <p:transition spd="med">
    <p:cover dir="d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91876" y="4271095"/>
            <a:ext cx="8757980" cy="4068296"/>
            <a:chOff x="0" y="0"/>
            <a:chExt cx="2306629" cy="10714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06629" cy="1071485"/>
            </a:xfrm>
            <a:custGeom>
              <a:avLst/>
              <a:gdLst/>
              <a:ahLst/>
              <a:cxnLst/>
              <a:rect r="r" b="b" t="t" l="l"/>
              <a:pathLst>
                <a:path h="1071485" w="2306629">
                  <a:moveTo>
                    <a:pt x="27404" y="0"/>
                  </a:moveTo>
                  <a:lnTo>
                    <a:pt x="2279225" y="0"/>
                  </a:lnTo>
                  <a:cubicBezTo>
                    <a:pt x="2294360" y="0"/>
                    <a:pt x="2306629" y="12269"/>
                    <a:pt x="2306629" y="27404"/>
                  </a:cubicBezTo>
                  <a:lnTo>
                    <a:pt x="2306629" y="1044082"/>
                  </a:lnTo>
                  <a:cubicBezTo>
                    <a:pt x="2306629" y="1059216"/>
                    <a:pt x="2294360" y="1071485"/>
                    <a:pt x="2279225" y="1071485"/>
                  </a:cubicBezTo>
                  <a:lnTo>
                    <a:pt x="27404" y="1071485"/>
                  </a:lnTo>
                  <a:cubicBezTo>
                    <a:pt x="12269" y="1071485"/>
                    <a:pt x="0" y="1059216"/>
                    <a:pt x="0" y="1044082"/>
                  </a:cubicBezTo>
                  <a:lnTo>
                    <a:pt x="0" y="27404"/>
                  </a:lnTo>
                  <a:cubicBezTo>
                    <a:pt x="0" y="12269"/>
                    <a:pt x="12269" y="0"/>
                    <a:pt x="27404" y="0"/>
                  </a:cubicBezTo>
                  <a:close/>
                </a:path>
              </a:pathLst>
            </a:custGeom>
            <a:solidFill>
              <a:srgbClr val="20242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06629" cy="1109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291876" y="3987100"/>
            <a:ext cx="1683025" cy="885140"/>
            <a:chOff x="0" y="0"/>
            <a:chExt cx="2244033" cy="118018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244033" cy="1180187"/>
              <a:chOff x="0" y="0"/>
              <a:chExt cx="443266" cy="2331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43266" cy="233123"/>
              </a:xfrm>
              <a:custGeom>
                <a:avLst/>
                <a:gdLst/>
                <a:ahLst/>
                <a:cxnLst/>
                <a:rect r="r" b="b" t="t" l="l"/>
                <a:pathLst>
                  <a:path h="233123" w="443266">
                    <a:moveTo>
                      <a:pt x="64400" y="0"/>
                    </a:moveTo>
                    <a:lnTo>
                      <a:pt x="378866" y="0"/>
                    </a:lnTo>
                    <a:cubicBezTo>
                      <a:pt x="414433" y="0"/>
                      <a:pt x="443266" y="28833"/>
                      <a:pt x="443266" y="64400"/>
                    </a:cubicBezTo>
                    <a:lnTo>
                      <a:pt x="443266" y="168723"/>
                    </a:lnTo>
                    <a:cubicBezTo>
                      <a:pt x="443266" y="185803"/>
                      <a:pt x="436481" y="202184"/>
                      <a:pt x="424403" y="214261"/>
                    </a:cubicBezTo>
                    <a:cubicBezTo>
                      <a:pt x="412326" y="226338"/>
                      <a:pt x="395946" y="233123"/>
                      <a:pt x="378866" y="233123"/>
                    </a:cubicBezTo>
                    <a:lnTo>
                      <a:pt x="64400" y="233123"/>
                    </a:lnTo>
                    <a:cubicBezTo>
                      <a:pt x="47320" y="233123"/>
                      <a:pt x="30940" y="226338"/>
                      <a:pt x="18862" y="214261"/>
                    </a:cubicBezTo>
                    <a:cubicBezTo>
                      <a:pt x="6785" y="202184"/>
                      <a:pt x="0" y="185803"/>
                      <a:pt x="0" y="168723"/>
                    </a:cubicBezTo>
                    <a:lnTo>
                      <a:pt x="0" y="64400"/>
                    </a:lnTo>
                    <a:cubicBezTo>
                      <a:pt x="0" y="47320"/>
                      <a:pt x="6785" y="30940"/>
                      <a:pt x="18862" y="18862"/>
                    </a:cubicBezTo>
                    <a:cubicBezTo>
                      <a:pt x="30940" y="6785"/>
                      <a:pt x="47320" y="0"/>
                      <a:pt x="64400" y="0"/>
                    </a:cubicBez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443266" cy="2712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312276"/>
              <a:ext cx="2244033" cy="867911"/>
              <a:chOff x="0" y="0"/>
              <a:chExt cx="443266" cy="17143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43266" cy="171439"/>
              </a:xfrm>
              <a:custGeom>
                <a:avLst/>
                <a:gdLst/>
                <a:ahLst/>
                <a:cxnLst/>
                <a:rect r="r" b="b" t="t" l="l"/>
                <a:pathLst>
                  <a:path h="171439" w="443266">
                    <a:moveTo>
                      <a:pt x="0" y="0"/>
                    </a:moveTo>
                    <a:lnTo>
                      <a:pt x="443266" y="0"/>
                    </a:lnTo>
                    <a:lnTo>
                      <a:pt x="443266" y="171439"/>
                    </a:lnTo>
                    <a:lnTo>
                      <a:pt x="0" y="171439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443266" cy="2095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10615525" y="8678539"/>
            <a:ext cx="4651775" cy="798173"/>
            <a:chOff x="0" y="0"/>
            <a:chExt cx="1225159" cy="2102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25159" cy="210218"/>
            </a:xfrm>
            <a:custGeom>
              <a:avLst/>
              <a:gdLst/>
              <a:ahLst/>
              <a:cxnLst/>
              <a:rect r="r" b="b" t="t" l="l"/>
              <a:pathLst>
                <a:path h="210218" w="1225159">
                  <a:moveTo>
                    <a:pt x="51593" y="0"/>
                  </a:moveTo>
                  <a:lnTo>
                    <a:pt x="1173566" y="0"/>
                  </a:lnTo>
                  <a:cubicBezTo>
                    <a:pt x="1202060" y="0"/>
                    <a:pt x="1225159" y="23099"/>
                    <a:pt x="1225159" y="51593"/>
                  </a:cubicBezTo>
                  <a:lnTo>
                    <a:pt x="1225159" y="158625"/>
                  </a:lnTo>
                  <a:cubicBezTo>
                    <a:pt x="1225159" y="172309"/>
                    <a:pt x="1219723" y="185432"/>
                    <a:pt x="1210047" y="195107"/>
                  </a:cubicBezTo>
                  <a:cubicBezTo>
                    <a:pt x="1200372" y="204783"/>
                    <a:pt x="1187249" y="210218"/>
                    <a:pt x="1173566" y="210218"/>
                  </a:cubicBezTo>
                  <a:lnTo>
                    <a:pt x="51593" y="210218"/>
                  </a:lnTo>
                  <a:cubicBezTo>
                    <a:pt x="37910" y="210218"/>
                    <a:pt x="24787" y="204783"/>
                    <a:pt x="15111" y="195107"/>
                  </a:cubicBezTo>
                  <a:cubicBezTo>
                    <a:pt x="5436" y="185432"/>
                    <a:pt x="0" y="172309"/>
                    <a:pt x="0" y="158625"/>
                  </a:cubicBezTo>
                  <a:lnTo>
                    <a:pt x="0" y="51593"/>
                  </a:lnTo>
                  <a:cubicBezTo>
                    <a:pt x="0" y="37910"/>
                    <a:pt x="5436" y="24787"/>
                    <a:pt x="15111" y="15111"/>
                  </a:cubicBezTo>
                  <a:cubicBezTo>
                    <a:pt x="24787" y="5436"/>
                    <a:pt x="37910" y="0"/>
                    <a:pt x="51593" y="0"/>
                  </a:cubicBezTo>
                  <a:close/>
                </a:path>
              </a:pathLst>
            </a:custGeom>
            <a:solidFill>
              <a:srgbClr val="BFECA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225159" cy="248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401669" y="8632242"/>
            <a:ext cx="892999" cy="890766"/>
          </a:xfrm>
          <a:custGeom>
            <a:avLst/>
            <a:gdLst/>
            <a:ahLst/>
            <a:cxnLst/>
            <a:rect r="r" b="b" t="t" l="l"/>
            <a:pathLst>
              <a:path h="890766" w="892999">
                <a:moveTo>
                  <a:pt x="0" y="0"/>
                </a:moveTo>
                <a:lnTo>
                  <a:pt x="892999" y="0"/>
                </a:lnTo>
                <a:lnTo>
                  <a:pt x="892999" y="890766"/>
                </a:lnTo>
                <a:lnTo>
                  <a:pt x="0" y="8907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1127284">
            <a:off x="758621" y="3771289"/>
            <a:ext cx="6880143" cy="4265689"/>
          </a:xfrm>
          <a:custGeom>
            <a:avLst/>
            <a:gdLst/>
            <a:ahLst/>
            <a:cxnLst/>
            <a:rect r="r" b="b" t="t" l="l"/>
            <a:pathLst>
              <a:path h="4265689" w="6880143">
                <a:moveTo>
                  <a:pt x="0" y="0"/>
                </a:moveTo>
                <a:lnTo>
                  <a:pt x="6880143" y="0"/>
                </a:lnTo>
                <a:lnTo>
                  <a:pt x="6880143" y="4265689"/>
                </a:lnTo>
                <a:lnTo>
                  <a:pt x="0" y="42656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72176" y="1152525"/>
            <a:ext cx="7461213" cy="129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81"/>
              </a:lnSpc>
              <a:spcBef>
                <a:spcPct val="0"/>
              </a:spcBef>
            </a:pPr>
            <a:r>
              <a:rPr lang="en-US" sz="9322" spc="-512">
                <a:solidFill>
                  <a:srgbClr val="4B9BB3"/>
                </a:solidFill>
                <a:latin typeface="Poetsen"/>
                <a:ea typeface="Poetsen"/>
                <a:cs typeface="Poetsen"/>
                <a:sym typeface="Poetsen"/>
              </a:rPr>
              <a:t>Universal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91876" y="2004803"/>
            <a:ext cx="8757980" cy="167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81"/>
              </a:lnSpc>
            </a:pPr>
            <a:r>
              <a:rPr lang="en-US" sz="4701" spc="-258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Seleciona todos os elementos da página.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80006" y="4051548"/>
            <a:ext cx="1306767" cy="65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2"/>
              </a:lnSpc>
            </a:pPr>
            <a:r>
              <a:rPr lang="en-US" sz="3601" spc="298">
                <a:solidFill>
                  <a:srgbClr val="F5FFF9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93288" y="5146252"/>
            <a:ext cx="7096247" cy="2537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2"/>
              </a:lnSpc>
            </a:pPr>
            <a:r>
              <a:rPr lang="en-US" sz="3601" spc="298">
                <a:solidFill>
                  <a:srgbClr val="FEA002"/>
                </a:solidFill>
                <a:latin typeface="Roboto"/>
                <a:ea typeface="Roboto"/>
                <a:cs typeface="Roboto"/>
                <a:sym typeface="Roboto"/>
              </a:rPr>
              <a:t>* </a:t>
            </a:r>
            <a:r>
              <a:rPr lang="en-US" sz="3601" spc="298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{</a:t>
            </a:r>
          </a:p>
          <a:p>
            <a:pPr algn="l">
              <a:lnSpc>
                <a:spcPts val="5042"/>
              </a:lnSpc>
            </a:pPr>
            <a:r>
              <a:rPr lang="en-US" sz="3601" spc="298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lang="en-US" sz="3601" spc="298">
                <a:solidFill>
                  <a:srgbClr val="74BDCE"/>
                </a:solidFill>
                <a:latin typeface="Roboto"/>
                <a:ea typeface="Roboto"/>
                <a:cs typeface="Roboto"/>
                <a:sym typeface="Roboto"/>
              </a:rPr>
              <a:t>margin</a:t>
            </a:r>
            <a:r>
              <a:rPr lang="en-US" sz="3601" spc="298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3601" spc="298">
                <a:solidFill>
                  <a:srgbClr val="FBE25E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-US" sz="3601" spc="298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</a:p>
          <a:p>
            <a:pPr algn="l">
              <a:lnSpc>
                <a:spcPts val="5042"/>
              </a:lnSpc>
            </a:pPr>
            <a:r>
              <a:rPr lang="en-US" sz="3601" spc="298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lang="en-US" sz="3601" spc="298">
                <a:solidFill>
                  <a:srgbClr val="74BDCE"/>
                </a:solidFill>
                <a:latin typeface="Roboto"/>
                <a:ea typeface="Roboto"/>
                <a:cs typeface="Roboto"/>
                <a:sym typeface="Roboto"/>
              </a:rPr>
              <a:t>padding</a:t>
            </a:r>
            <a:r>
              <a:rPr lang="en-US" sz="3601" spc="298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3601" spc="298">
                <a:solidFill>
                  <a:srgbClr val="FBE25E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-US" sz="3601" spc="298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</a:p>
          <a:p>
            <a:pPr algn="l" marL="0" indent="0" lvl="0">
              <a:lnSpc>
                <a:spcPts val="5042"/>
              </a:lnSpc>
            </a:pPr>
            <a:r>
              <a:rPr lang="en-US" sz="3601" spc="298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716263" y="8861872"/>
            <a:ext cx="1909207" cy="374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1"/>
              </a:lnSpc>
            </a:pPr>
            <a:r>
              <a:rPr lang="en-US" b="true" sz="2136" spc="111">
                <a:solidFill>
                  <a:srgbClr val="17320B"/>
                </a:solidFill>
                <a:latin typeface="Poppins Bold"/>
                <a:ea typeface="Poppins Bold"/>
                <a:cs typeface="Poppins Bold"/>
                <a:sym typeface="Poppins Bold"/>
              </a:rPr>
              <a:t>Afeta tudo!</a:t>
            </a:r>
          </a:p>
        </p:txBody>
      </p:sp>
    </p:spTree>
  </p:cSld>
  <p:clrMapOvr>
    <a:masterClrMapping/>
  </p:clrMapOvr>
  <p:transition spd="med">
    <p:cover dir="d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91876" y="4723652"/>
            <a:ext cx="8757980" cy="3446286"/>
            <a:chOff x="0" y="0"/>
            <a:chExt cx="2306629" cy="9076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06629" cy="907664"/>
            </a:xfrm>
            <a:custGeom>
              <a:avLst/>
              <a:gdLst/>
              <a:ahLst/>
              <a:cxnLst/>
              <a:rect r="r" b="b" t="t" l="l"/>
              <a:pathLst>
                <a:path h="907664" w="2306629">
                  <a:moveTo>
                    <a:pt x="27404" y="0"/>
                  </a:moveTo>
                  <a:lnTo>
                    <a:pt x="2279225" y="0"/>
                  </a:lnTo>
                  <a:cubicBezTo>
                    <a:pt x="2294360" y="0"/>
                    <a:pt x="2306629" y="12269"/>
                    <a:pt x="2306629" y="27404"/>
                  </a:cubicBezTo>
                  <a:lnTo>
                    <a:pt x="2306629" y="880260"/>
                  </a:lnTo>
                  <a:cubicBezTo>
                    <a:pt x="2306629" y="895395"/>
                    <a:pt x="2294360" y="907664"/>
                    <a:pt x="2279225" y="907664"/>
                  </a:cubicBezTo>
                  <a:lnTo>
                    <a:pt x="27404" y="907664"/>
                  </a:lnTo>
                  <a:cubicBezTo>
                    <a:pt x="12269" y="907664"/>
                    <a:pt x="0" y="895395"/>
                    <a:pt x="0" y="880260"/>
                  </a:cubicBezTo>
                  <a:lnTo>
                    <a:pt x="0" y="27404"/>
                  </a:lnTo>
                  <a:cubicBezTo>
                    <a:pt x="0" y="12269"/>
                    <a:pt x="12269" y="0"/>
                    <a:pt x="27404" y="0"/>
                  </a:cubicBezTo>
                  <a:close/>
                </a:path>
              </a:pathLst>
            </a:custGeom>
            <a:solidFill>
              <a:srgbClr val="20242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06629" cy="945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291876" y="4439657"/>
            <a:ext cx="1683025" cy="885140"/>
            <a:chOff x="0" y="0"/>
            <a:chExt cx="2244033" cy="118018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244033" cy="1180187"/>
              <a:chOff x="0" y="0"/>
              <a:chExt cx="443266" cy="2331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43266" cy="233123"/>
              </a:xfrm>
              <a:custGeom>
                <a:avLst/>
                <a:gdLst/>
                <a:ahLst/>
                <a:cxnLst/>
                <a:rect r="r" b="b" t="t" l="l"/>
                <a:pathLst>
                  <a:path h="233123" w="443266">
                    <a:moveTo>
                      <a:pt x="64400" y="0"/>
                    </a:moveTo>
                    <a:lnTo>
                      <a:pt x="378866" y="0"/>
                    </a:lnTo>
                    <a:cubicBezTo>
                      <a:pt x="414433" y="0"/>
                      <a:pt x="443266" y="28833"/>
                      <a:pt x="443266" y="64400"/>
                    </a:cubicBezTo>
                    <a:lnTo>
                      <a:pt x="443266" y="168723"/>
                    </a:lnTo>
                    <a:cubicBezTo>
                      <a:pt x="443266" y="185803"/>
                      <a:pt x="436481" y="202184"/>
                      <a:pt x="424403" y="214261"/>
                    </a:cubicBezTo>
                    <a:cubicBezTo>
                      <a:pt x="412326" y="226338"/>
                      <a:pt x="395946" y="233123"/>
                      <a:pt x="378866" y="233123"/>
                    </a:cubicBezTo>
                    <a:lnTo>
                      <a:pt x="64400" y="233123"/>
                    </a:lnTo>
                    <a:cubicBezTo>
                      <a:pt x="47320" y="233123"/>
                      <a:pt x="30940" y="226338"/>
                      <a:pt x="18862" y="214261"/>
                    </a:cubicBezTo>
                    <a:cubicBezTo>
                      <a:pt x="6785" y="202184"/>
                      <a:pt x="0" y="185803"/>
                      <a:pt x="0" y="168723"/>
                    </a:cubicBezTo>
                    <a:lnTo>
                      <a:pt x="0" y="64400"/>
                    </a:lnTo>
                    <a:cubicBezTo>
                      <a:pt x="0" y="47320"/>
                      <a:pt x="6785" y="30940"/>
                      <a:pt x="18862" y="18862"/>
                    </a:cubicBezTo>
                    <a:cubicBezTo>
                      <a:pt x="30940" y="6785"/>
                      <a:pt x="47320" y="0"/>
                      <a:pt x="64400" y="0"/>
                    </a:cubicBez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443266" cy="2712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312276"/>
              <a:ext cx="2244033" cy="867911"/>
              <a:chOff x="0" y="0"/>
              <a:chExt cx="443266" cy="17143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43266" cy="171439"/>
              </a:xfrm>
              <a:custGeom>
                <a:avLst/>
                <a:gdLst/>
                <a:ahLst/>
                <a:cxnLst/>
                <a:rect r="r" b="b" t="t" l="l"/>
                <a:pathLst>
                  <a:path h="171439" w="443266">
                    <a:moveTo>
                      <a:pt x="0" y="0"/>
                    </a:moveTo>
                    <a:lnTo>
                      <a:pt x="443266" y="0"/>
                    </a:lnTo>
                    <a:lnTo>
                      <a:pt x="443266" y="171439"/>
                    </a:lnTo>
                    <a:lnTo>
                      <a:pt x="0" y="171439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443266" cy="2095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10615525" y="8654615"/>
            <a:ext cx="5369479" cy="798173"/>
            <a:chOff x="0" y="0"/>
            <a:chExt cx="1414184" cy="2102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14184" cy="210218"/>
            </a:xfrm>
            <a:custGeom>
              <a:avLst/>
              <a:gdLst/>
              <a:ahLst/>
              <a:cxnLst/>
              <a:rect r="r" b="b" t="t" l="l"/>
              <a:pathLst>
                <a:path h="210218" w="1414184">
                  <a:moveTo>
                    <a:pt x="44697" y="0"/>
                  </a:moveTo>
                  <a:lnTo>
                    <a:pt x="1369487" y="0"/>
                  </a:lnTo>
                  <a:cubicBezTo>
                    <a:pt x="1394172" y="0"/>
                    <a:pt x="1414184" y="20012"/>
                    <a:pt x="1414184" y="44697"/>
                  </a:cubicBezTo>
                  <a:lnTo>
                    <a:pt x="1414184" y="165521"/>
                  </a:lnTo>
                  <a:cubicBezTo>
                    <a:pt x="1414184" y="190207"/>
                    <a:pt x="1394172" y="210218"/>
                    <a:pt x="1369487" y="210218"/>
                  </a:cubicBezTo>
                  <a:lnTo>
                    <a:pt x="44697" y="210218"/>
                  </a:lnTo>
                  <a:cubicBezTo>
                    <a:pt x="20012" y="210218"/>
                    <a:pt x="0" y="190207"/>
                    <a:pt x="0" y="165521"/>
                  </a:cubicBezTo>
                  <a:lnTo>
                    <a:pt x="0" y="44697"/>
                  </a:lnTo>
                  <a:cubicBezTo>
                    <a:pt x="0" y="20012"/>
                    <a:pt x="20012" y="0"/>
                    <a:pt x="44697" y="0"/>
                  </a:cubicBezTo>
                  <a:close/>
                </a:path>
              </a:pathLst>
            </a:custGeom>
            <a:solidFill>
              <a:srgbClr val="BFECA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14184" cy="248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401669" y="8608318"/>
            <a:ext cx="892999" cy="890766"/>
          </a:xfrm>
          <a:custGeom>
            <a:avLst/>
            <a:gdLst/>
            <a:ahLst/>
            <a:cxnLst/>
            <a:rect r="r" b="b" t="t" l="l"/>
            <a:pathLst>
              <a:path h="890766" w="892999">
                <a:moveTo>
                  <a:pt x="0" y="0"/>
                </a:moveTo>
                <a:lnTo>
                  <a:pt x="892999" y="0"/>
                </a:lnTo>
                <a:lnTo>
                  <a:pt x="892999" y="890767"/>
                </a:lnTo>
                <a:lnTo>
                  <a:pt x="0" y="8907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72176" y="3229605"/>
            <a:ext cx="5261527" cy="5349057"/>
          </a:xfrm>
          <a:custGeom>
            <a:avLst/>
            <a:gdLst/>
            <a:ahLst/>
            <a:cxnLst/>
            <a:rect r="r" b="b" t="t" l="l"/>
            <a:pathLst>
              <a:path h="5349057" w="5261527">
                <a:moveTo>
                  <a:pt x="0" y="0"/>
                </a:moveTo>
                <a:lnTo>
                  <a:pt x="5261527" y="0"/>
                </a:lnTo>
                <a:lnTo>
                  <a:pt x="5261527" y="5349057"/>
                </a:lnTo>
                <a:lnTo>
                  <a:pt x="0" y="5349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1235263"/>
            <a:ext cx="7461213" cy="12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69"/>
              </a:lnSpc>
              <a:spcBef>
                <a:spcPct val="0"/>
              </a:spcBef>
            </a:pPr>
            <a:r>
              <a:rPr lang="en-US" sz="9122" spc="-501">
                <a:solidFill>
                  <a:srgbClr val="4B9BB3"/>
                </a:solidFill>
                <a:latin typeface="Poetsen"/>
                <a:ea typeface="Poetsen"/>
                <a:cs typeface="Poetsen"/>
                <a:sym typeface="Poetsen"/>
              </a:rPr>
              <a:t>Elemento (tag)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91876" y="2398546"/>
            <a:ext cx="8757980" cy="167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81"/>
              </a:lnSpc>
            </a:pPr>
            <a:r>
              <a:rPr lang="en-US" sz="4701" spc="-258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Seleciona elementos pelo nome da tag.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80006" y="4504106"/>
            <a:ext cx="1306767" cy="65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2"/>
              </a:lnSpc>
            </a:pPr>
            <a:r>
              <a:rPr lang="en-US" sz="3601" spc="298">
                <a:solidFill>
                  <a:srgbClr val="F5FFF9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16263" y="8837949"/>
            <a:ext cx="4125199" cy="374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1"/>
              </a:lnSpc>
            </a:pPr>
            <a:r>
              <a:rPr lang="en-US" b="true" sz="2136" spc="111">
                <a:solidFill>
                  <a:srgbClr val="17320B"/>
                </a:solidFill>
                <a:latin typeface="Poppins Bold"/>
                <a:ea typeface="Poppins Bold"/>
                <a:cs typeface="Poppins Bold"/>
                <a:sym typeface="Poppins Bold"/>
              </a:rPr>
              <a:t>Todos os &lt;p&gt; ficam azuis.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93288" y="5582898"/>
            <a:ext cx="7096247" cy="189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2"/>
              </a:lnSpc>
            </a:pPr>
            <a:r>
              <a:rPr lang="en-US" sz="3601" spc="298">
                <a:solidFill>
                  <a:srgbClr val="FEA002"/>
                </a:solidFill>
                <a:latin typeface="Roboto"/>
                <a:ea typeface="Roboto"/>
                <a:cs typeface="Roboto"/>
                <a:sym typeface="Roboto"/>
              </a:rPr>
              <a:t>p </a:t>
            </a:r>
            <a:r>
              <a:rPr lang="en-US" sz="3601" spc="298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{</a:t>
            </a:r>
          </a:p>
          <a:p>
            <a:pPr algn="l">
              <a:lnSpc>
                <a:spcPts val="5042"/>
              </a:lnSpc>
            </a:pPr>
            <a:r>
              <a:rPr lang="en-US" sz="3601" spc="298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lang="en-US" sz="3601" spc="298">
                <a:solidFill>
                  <a:srgbClr val="BFECAC"/>
                </a:solidFill>
                <a:latin typeface="Roboto"/>
                <a:ea typeface="Roboto"/>
                <a:cs typeface="Roboto"/>
                <a:sym typeface="Roboto"/>
              </a:rPr>
              <a:t>color</a:t>
            </a:r>
            <a:r>
              <a:rPr lang="en-US" sz="3601" spc="298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3601" spc="298">
                <a:solidFill>
                  <a:srgbClr val="74BDCE"/>
                </a:solidFill>
                <a:latin typeface="Roboto"/>
                <a:ea typeface="Roboto"/>
                <a:cs typeface="Roboto"/>
                <a:sym typeface="Roboto"/>
              </a:rPr>
              <a:t>blue</a:t>
            </a:r>
            <a:r>
              <a:rPr lang="en-US" sz="3601" spc="298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</a:p>
          <a:p>
            <a:pPr algn="l" marL="0" indent="0" lvl="0">
              <a:lnSpc>
                <a:spcPts val="5042"/>
              </a:lnSpc>
            </a:pPr>
            <a:r>
              <a:rPr lang="en-US" sz="3601" spc="298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</a:p>
        </p:txBody>
      </p:sp>
    </p:spTree>
  </p:cSld>
  <p:clrMapOvr>
    <a:masterClrMapping/>
  </p:clrMapOvr>
  <p:transition spd="med">
    <p:cover dir="d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91876" y="3916930"/>
            <a:ext cx="8757980" cy="3446286"/>
            <a:chOff x="0" y="0"/>
            <a:chExt cx="2306629" cy="9076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06629" cy="907664"/>
            </a:xfrm>
            <a:custGeom>
              <a:avLst/>
              <a:gdLst/>
              <a:ahLst/>
              <a:cxnLst/>
              <a:rect r="r" b="b" t="t" l="l"/>
              <a:pathLst>
                <a:path h="907664" w="2306629">
                  <a:moveTo>
                    <a:pt x="27404" y="0"/>
                  </a:moveTo>
                  <a:lnTo>
                    <a:pt x="2279225" y="0"/>
                  </a:lnTo>
                  <a:cubicBezTo>
                    <a:pt x="2294360" y="0"/>
                    <a:pt x="2306629" y="12269"/>
                    <a:pt x="2306629" y="27404"/>
                  </a:cubicBezTo>
                  <a:lnTo>
                    <a:pt x="2306629" y="880260"/>
                  </a:lnTo>
                  <a:cubicBezTo>
                    <a:pt x="2306629" y="895395"/>
                    <a:pt x="2294360" y="907664"/>
                    <a:pt x="2279225" y="907664"/>
                  </a:cubicBezTo>
                  <a:lnTo>
                    <a:pt x="27404" y="907664"/>
                  </a:lnTo>
                  <a:cubicBezTo>
                    <a:pt x="12269" y="907664"/>
                    <a:pt x="0" y="895395"/>
                    <a:pt x="0" y="880260"/>
                  </a:cubicBezTo>
                  <a:lnTo>
                    <a:pt x="0" y="27404"/>
                  </a:lnTo>
                  <a:cubicBezTo>
                    <a:pt x="0" y="12269"/>
                    <a:pt x="12269" y="0"/>
                    <a:pt x="27404" y="0"/>
                  </a:cubicBezTo>
                  <a:close/>
                </a:path>
              </a:pathLst>
            </a:custGeom>
            <a:solidFill>
              <a:srgbClr val="20242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06629" cy="945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291876" y="3632935"/>
            <a:ext cx="1683025" cy="885140"/>
            <a:chOff x="0" y="0"/>
            <a:chExt cx="2244033" cy="118018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244033" cy="1180187"/>
              <a:chOff x="0" y="0"/>
              <a:chExt cx="443266" cy="2331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43266" cy="233123"/>
              </a:xfrm>
              <a:custGeom>
                <a:avLst/>
                <a:gdLst/>
                <a:ahLst/>
                <a:cxnLst/>
                <a:rect r="r" b="b" t="t" l="l"/>
                <a:pathLst>
                  <a:path h="233123" w="443266">
                    <a:moveTo>
                      <a:pt x="64400" y="0"/>
                    </a:moveTo>
                    <a:lnTo>
                      <a:pt x="378866" y="0"/>
                    </a:lnTo>
                    <a:cubicBezTo>
                      <a:pt x="414433" y="0"/>
                      <a:pt x="443266" y="28833"/>
                      <a:pt x="443266" y="64400"/>
                    </a:cubicBezTo>
                    <a:lnTo>
                      <a:pt x="443266" y="168723"/>
                    </a:lnTo>
                    <a:cubicBezTo>
                      <a:pt x="443266" y="185803"/>
                      <a:pt x="436481" y="202184"/>
                      <a:pt x="424403" y="214261"/>
                    </a:cubicBezTo>
                    <a:cubicBezTo>
                      <a:pt x="412326" y="226338"/>
                      <a:pt x="395946" y="233123"/>
                      <a:pt x="378866" y="233123"/>
                    </a:cubicBezTo>
                    <a:lnTo>
                      <a:pt x="64400" y="233123"/>
                    </a:lnTo>
                    <a:cubicBezTo>
                      <a:pt x="47320" y="233123"/>
                      <a:pt x="30940" y="226338"/>
                      <a:pt x="18862" y="214261"/>
                    </a:cubicBezTo>
                    <a:cubicBezTo>
                      <a:pt x="6785" y="202184"/>
                      <a:pt x="0" y="185803"/>
                      <a:pt x="0" y="168723"/>
                    </a:cubicBezTo>
                    <a:lnTo>
                      <a:pt x="0" y="64400"/>
                    </a:lnTo>
                    <a:cubicBezTo>
                      <a:pt x="0" y="47320"/>
                      <a:pt x="6785" y="30940"/>
                      <a:pt x="18862" y="18862"/>
                    </a:cubicBezTo>
                    <a:cubicBezTo>
                      <a:pt x="30940" y="6785"/>
                      <a:pt x="47320" y="0"/>
                      <a:pt x="64400" y="0"/>
                    </a:cubicBez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443266" cy="2712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312276"/>
              <a:ext cx="2244033" cy="867911"/>
              <a:chOff x="0" y="0"/>
              <a:chExt cx="443266" cy="17143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43266" cy="171439"/>
              </a:xfrm>
              <a:custGeom>
                <a:avLst/>
                <a:gdLst/>
                <a:ahLst/>
                <a:cxnLst/>
                <a:rect r="r" b="b" t="t" l="l"/>
                <a:pathLst>
                  <a:path h="171439" w="443266">
                    <a:moveTo>
                      <a:pt x="0" y="0"/>
                    </a:moveTo>
                    <a:lnTo>
                      <a:pt x="443266" y="0"/>
                    </a:lnTo>
                    <a:lnTo>
                      <a:pt x="443266" y="171439"/>
                    </a:lnTo>
                    <a:lnTo>
                      <a:pt x="0" y="171439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443266" cy="2095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1411476" y="2958455"/>
            <a:ext cx="5899978" cy="5696161"/>
          </a:xfrm>
          <a:custGeom>
            <a:avLst/>
            <a:gdLst/>
            <a:ahLst/>
            <a:cxnLst/>
            <a:rect r="r" b="b" t="t" l="l"/>
            <a:pathLst>
              <a:path h="5696161" w="5899978">
                <a:moveTo>
                  <a:pt x="0" y="0"/>
                </a:moveTo>
                <a:lnTo>
                  <a:pt x="5899978" y="0"/>
                </a:lnTo>
                <a:lnTo>
                  <a:pt x="5899978" y="5696160"/>
                </a:lnTo>
                <a:lnTo>
                  <a:pt x="0" y="56961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1235263"/>
            <a:ext cx="7461213" cy="12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69"/>
              </a:lnSpc>
              <a:spcBef>
                <a:spcPct val="0"/>
              </a:spcBef>
            </a:pPr>
            <a:r>
              <a:rPr lang="en-US" sz="9122" spc="-501">
                <a:solidFill>
                  <a:srgbClr val="4B9BB3"/>
                </a:solidFill>
                <a:latin typeface="Poetsen"/>
                <a:ea typeface="Poetsen"/>
                <a:cs typeface="Poetsen"/>
                <a:sym typeface="Poetsen"/>
              </a:rPr>
              <a:t>Classe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12450" y="2004855"/>
            <a:ext cx="9116832" cy="84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81"/>
              </a:lnSpc>
            </a:pPr>
            <a:r>
              <a:rPr lang="en-US" sz="4701" spc="-258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Seleciona elementos pela classe.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80006" y="3697383"/>
            <a:ext cx="1306767" cy="65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2"/>
              </a:lnSpc>
            </a:pPr>
            <a:r>
              <a:rPr lang="en-US" sz="3601" spc="298">
                <a:solidFill>
                  <a:srgbClr val="F5FFF9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93288" y="4776176"/>
            <a:ext cx="7096247" cy="189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2"/>
              </a:lnSpc>
            </a:pPr>
            <a:r>
              <a:rPr lang="en-US" sz="3601" spc="298">
                <a:solidFill>
                  <a:srgbClr val="FEA002"/>
                </a:solidFill>
                <a:latin typeface="Roboto"/>
                <a:ea typeface="Roboto"/>
                <a:cs typeface="Roboto"/>
                <a:sym typeface="Roboto"/>
              </a:rPr>
              <a:t>.nome </a:t>
            </a:r>
            <a:r>
              <a:rPr lang="en-US" sz="3601" spc="298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{</a:t>
            </a:r>
          </a:p>
          <a:p>
            <a:pPr algn="l">
              <a:lnSpc>
                <a:spcPts val="5042"/>
              </a:lnSpc>
            </a:pPr>
            <a:r>
              <a:rPr lang="en-US" sz="3601" spc="298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lang="en-US" sz="3601" spc="298">
                <a:solidFill>
                  <a:srgbClr val="BFECAC"/>
                </a:solidFill>
                <a:latin typeface="Roboto"/>
                <a:ea typeface="Roboto"/>
                <a:cs typeface="Roboto"/>
                <a:sym typeface="Roboto"/>
              </a:rPr>
              <a:t>color</a:t>
            </a:r>
            <a:r>
              <a:rPr lang="en-US" sz="3601" spc="298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3601" spc="298">
                <a:solidFill>
                  <a:srgbClr val="74BDCE"/>
                </a:solidFill>
                <a:latin typeface="Roboto"/>
                <a:ea typeface="Roboto"/>
                <a:cs typeface="Roboto"/>
                <a:sym typeface="Roboto"/>
              </a:rPr>
              <a:t>green</a:t>
            </a:r>
            <a:r>
              <a:rPr lang="en-US" sz="3601" spc="298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</a:p>
          <a:p>
            <a:pPr algn="l" marL="0" indent="0" lvl="0">
              <a:lnSpc>
                <a:spcPts val="5042"/>
              </a:lnSpc>
            </a:pPr>
            <a:r>
              <a:rPr lang="en-US" sz="3601" spc="298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38532" y="8503313"/>
            <a:ext cx="8264670" cy="1213945"/>
            <a:chOff x="0" y="0"/>
            <a:chExt cx="11019559" cy="1618594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655987" y="277182"/>
              <a:ext cx="10363572" cy="1064231"/>
              <a:chOff x="0" y="0"/>
              <a:chExt cx="2047125" cy="21021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047125" cy="210218"/>
              </a:xfrm>
              <a:custGeom>
                <a:avLst/>
                <a:gdLst/>
                <a:ahLst/>
                <a:cxnLst/>
                <a:rect r="r" b="b" t="t" l="l"/>
                <a:pathLst>
                  <a:path h="210218" w="2047125">
                    <a:moveTo>
                      <a:pt x="30877" y="0"/>
                    </a:moveTo>
                    <a:lnTo>
                      <a:pt x="2016248" y="0"/>
                    </a:lnTo>
                    <a:cubicBezTo>
                      <a:pt x="2033301" y="0"/>
                      <a:pt x="2047125" y="13824"/>
                      <a:pt x="2047125" y="30877"/>
                    </a:cubicBezTo>
                    <a:lnTo>
                      <a:pt x="2047125" y="179341"/>
                    </a:lnTo>
                    <a:cubicBezTo>
                      <a:pt x="2047125" y="187530"/>
                      <a:pt x="2043872" y="195384"/>
                      <a:pt x="2038082" y="201175"/>
                    </a:cubicBezTo>
                    <a:cubicBezTo>
                      <a:pt x="2032291" y="206965"/>
                      <a:pt x="2024437" y="210218"/>
                      <a:pt x="2016248" y="210218"/>
                    </a:cubicBezTo>
                    <a:lnTo>
                      <a:pt x="30877" y="210218"/>
                    </a:lnTo>
                    <a:cubicBezTo>
                      <a:pt x="22688" y="210218"/>
                      <a:pt x="14834" y="206965"/>
                      <a:pt x="9044" y="201175"/>
                    </a:cubicBezTo>
                    <a:cubicBezTo>
                      <a:pt x="3253" y="195384"/>
                      <a:pt x="0" y="187530"/>
                      <a:pt x="0" y="179341"/>
                    </a:cubicBezTo>
                    <a:lnTo>
                      <a:pt x="0" y="30877"/>
                    </a:lnTo>
                    <a:cubicBezTo>
                      <a:pt x="0" y="13824"/>
                      <a:pt x="13824" y="0"/>
                      <a:pt x="30877" y="0"/>
                    </a:cubicBezTo>
                    <a:close/>
                  </a:path>
                </a:pathLst>
              </a:custGeom>
              <a:solidFill>
                <a:srgbClr val="DADFC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2047125" cy="2483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2123639" y="540676"/>
              <a:ext cx="8626266" cy="480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1"/>
                </a:lnSpc>
              </a:pPr>
              <a:r>
                <a:rPr lang="en-US" b="true" sz="2136" spc="111">
                  <a:solidFill>
                    <a:srgbClr val="20242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Grupo de elementos com o mesmo estilo</a:t>
              </a:r>
            </a:p>
          </p:txBody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57897" cy="1618594"/>
            </a:xfrm>
            <a:custGeom>
              <a:avLst/>
              <a:gdLst/>
              <a:ahLst/>
              <a:cxnLst/>
              <a:rect r="r" b="b" t="t" l="l"/>
              <a:pathLst>
                <a:path h="1618594" w="1557897">
                  <a:moveTo>
                    <a:pt x="0" y="0"/>
                  </a:moveTo>
                  <a:lnTo>
                    <a:pt x="1557897" y="0"/>
                  </a:lnTo>
                  <a:lnTo>
                    <a:pt x="1557897" y="1618594"/>
                  </a:lnTo>
                  <a:lnTo>
                    <a:pt x="0" y="1618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med">
    <p:cover dir="d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91876" y="3916930"/>
            <a:ext cx="8757980" cy="3446286"/>
            <a:chOff x="0" y="0"/>
            <a:chExt cx="2306629" cy="9076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06629" cy="907664"/>
            </a:xfrm>
            <a:custGeom>
              <a:avLst/>
              <a:gdLst/>
              <a:ahLst/>
              <a:cxnLst/>
              <a:rect r="r" b="b" t="t" l="l"/>
              <a:pathLst>
                <a:path h="907664" w="2306629">
                  <a:moveTo>
                    <a:pt x="27404" y="0"/>
                  </a:moveTo>
                  <a:lnTo>
                    <a:pt x="2279225" y="0"/>
                  </a:lnTo>
                  <a:cubicBezTo>
                    <a:pt x="2294360" y="0"/>
                    <a:pt x="2306629" y="12269"/>
                    <a:pt x="2306629" y="27404"/>
                  </a:cubicBezTo>
                  <a:lnTo>
                    <a:pt x="2306629" y="880260"/>
                  </a:lnTo>
                  <a:cubicBezTo>
                    <a:pt x="2306629" y="895395"/>
                    <a:pt x="2294360" y="907664"/>
                    <a:pt x="2279225" y="907664"/>
                  </a:cubicBezTo>
                  <a:lnTo>
                    <a:pt x="27404" y="907664"/>
                  </a:lnTo>
                  <a:cubicBezTo>
                    <a:pt x="12269" y="907664"/>
                    <a:pt x="0" y="895395"/>
                    <a:pt x="0" y="880260"/>
                  </a:cubicBezTo>
                  <a:lnTo>
                    <a:pt x="0" y="27404"/>
                  </a:lnTo>
                  <a:cubicBezTo>
                    <a:pt x="0" y="12269"/>
                    <a:pt x="12269" y="0"/>
                    <a:pt x="27404" y="0"/>
                  </a:cubicBezTo>
                  <a:close/>
                </a:path>
              </a:pathLst>
            </a:custGeom>
            <a:solidFill>
              <a:srgbClr val="20242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06629" cy="945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291876" y="3632935"/>
            <a:ext cx="1683025" cy="885140"/>
            <a:chOff x="0" y="0"/>
            <a:chExt cx="2244033" cy="118018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244033" cy="1180187"/>
              <a:chOff x="0" y="0"/>
              <a:chExt cx="443266" cy="2331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43266" cy="233123"/>
              </a:xfrm>
              <a:custGeom>
                <a:avLst/>
                <a:gdLst/>
                <a:ahLst/>
                <a:cxnLst/>
                <a:rect r="r" b="b" t="t" l="l"/>
                <a:pathLst>
                  <a:path h="233123" w="443266">
                    <a:moveTo>
                      <a:pt x="64400" y="0"/>
                    </a:moveTo>
                    <a:lnTo>
                      <a:pt x="378866" y="0"/>
                    </a:lnTo>
                    <a:cubicBezTo>
                      <a:pt x="414433" y="0"/>
                      <a:pt x="443266" y="28833"/>
                      <a:pt x="443266" y="64400"/>
                    </a:cubicBezTo>
                    <a:lnTo>
                      <a:pt x="443266" y="168723"/>
                    </a:lnTo>
                    <a:cubicBezTo>
                      <a:pt x="443266" y="185803"/>
                      <a:pt x="436481" y="202184"/>
                      <a:pt x="424403" y="214261"/>
                    </a:cubicBezTo>
                    <a:cubicBezTo>
                      <a:pt x="412326" y="226338"/>
                      <a:pt x="395946" y="233123"/>
                      <a:pt x="378866" y="233123"/>
                    </a:cubicBezTo>
                    <a:lnTo>
                      <a:pt x="64400" y="233123"/>
                    </a:lnTo>
                    <a:cubicBezTo>
                      <a:pt x="47320" y="233123"/>
                      <a:pt x="30940" y="226338"/>
                      <a:pt x="18862" y="214261"/>
                    </a:cubicBezTo>
                    <a:cubicBezTo>
                      <a:pt x="6785" y="202184"/>
                      <a:pt x="0" y="185803"/>
                      <a:pt x="0" y="168723"/>
                    </a:cubicBezTo>
                    <a:lnTo>
                      <a:pt x="0" y="64400"/>
                    </a:lnTo>
                    <a:cubicBezTo>
                      <a:pt x="0" y="47320"/>
                      <a:pt x="6785" y="30940"/>
                      <a:pt x="18862" y="18862"/>
                    </a:cubicBezTo>
                    <a:cubicBezTo>
                      <a:pt x="30940" y="6785"/>
                      <a:pt x="47320" y="0"/>
                      <a:pt x="64400" y="0"/>
                    </a:cubicBez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443266" cy="2712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312276"/>
              <a:ext cx="2244033" cy="867911"/>
              <a:chOff x="0" y="0"/>
              <a:chExt cx="443266" cy="17143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43266" cy="171439"/>
              </a:xfrm>
              <a:custGeom>
                <a:avLst/>
                <a:gdLst/>
                <a:ahLst/>
                <a:cxnLst/>
                <a:rect r="r" b="b" t="t" l="l"/>
                <a:pathLst>
                  <a:path h="171439" w="443266">
                    <a:moveTo>
                      <a:pt x="0" y="0"/>
                    </a:moveTo>
                    <a:lnTo>
                      <a:pt x="443266" y="0"/>
                    </a:lnTo>
                    <a:lnTo>
                      <a:pt x="443266" y="171439"/>
                    </a:lnTo>
                    <a:lnTo>
                      <a:pt x="0" y="171439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443266" cy="2095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1028700" y="1152525"/>
            <a:ext cx="7461213" cy="12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69"/>
              </a:lnSpc>
              <a:spcBef>
                <a:spcPct val="0"/>
              </a:spcBef>
            </a:pPr>
            <a:r>
              <a:rPr lang="en-US" sz="9122" spc="-501">
                <a:solidFill>
                  <a:srgbClr val="4B9BB3"/>
                </a:solidFill>
                <a:latin typeface="Poetsen"/>
                <a:ea typeface="Poetsen"/>
                <a:cs typeface="Poetsen"/>
                <a:sym typeface="Poetsen"/>
              </a:rPr>
              <a:t>ID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12450" y="2004855"/>
            <a:ext cx="9116832" cy="84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81"/>
              </a:lnSpc>
            </a:pPr>
            <a:r>
              <a:rPr lang="en-US" sz="4701" spc="-258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Seleciona elementos pelo id.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80006" y="3697383"/>
            <a:ext cx="1306767" cy="65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2"/>
              </a:lnSpc>
            </a:pPr>
            <a:r>
              <a:rPr lang="en-US" sz="3601" spc="298">
                <a:solidFill>
                  <a:srgbClr val="F5FFF9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17607" y="4818813"/>
            <a:ext cx="7866012" cy="189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2"/>
              </a:lnSpc>
            </a:pPr>
            <a:r>
              <a:rPr lang="en-US" sz="3601" spc="298">
                <a:solidFill>
                  <a:srgbClr val="FEA002"/>
                </a:solidFill>
                <a:latin typeface="Roboto"/>
                <a:ea typeface="Roboto"/>
                <a:cs typeface="Roboto"/>
                <a:sym typeface="Roboto"/>
              </a:rPr>
              <a:t>#menu </a:t>
            </a:r>
            <a:r>
              <a:rPr lang="en-US" sz="3601" spc="298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{</a:t>
            </a:r>
          </a:p>
          <a:p>
            <a:pPr algn="l">
              <a:lnSpc>
                <a:spcPts val="5042"/>
              </a:lnSpc>
            </a:pPr>
            <a:r>
              <a:rPr lang="en-US" sz="3601" spc="298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lang="en-US" sz="3601" spc="298">
                <a:solidFill>
                  <a:srgbClr val="BFECAC"/>
                </a:solidFill>
                <a:latin typeface="Roboto"/>
                <a:ea typeface="Roboto"/>
                <a:cs typeface="Roboto"/>
                <a:sym typeface="Roboto"/>
              </a:rPr>
              <a:t>backgound-color</a:t>
            </a:r>
            <a:r>
              <a:rPr lang="en-US" sz="3601" spc="298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3601" spc="298">
                <a:solidFill>
                  <a:srgbClr val="74BDCE"/>
                </a:solidFill>
                <a:latin typeface="Roboto"/>
                <a:ea typeface="Roboto"/>
                <a:cs typeface="Roboto"/>
                <a:sym typeface="Roboto"/>
              </a:rPr>
              <a:t>lightyellow</a:t>
            </a:r>
            <a:r>
              <a:rPr lang="en-US" sz="3601" spc="298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</a:p>
          <a:p>
            <a:pPr algn="l" marL="0" indent="0" lvl="0">
              <a:lnSpc>
                <a:spcPts val="5042"/>
              </a:lnSpc>
            </a:pPr>
            <a:r>
              <a:rPr lang="en-US" sz="3601" spc="298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549874" y="8255529"/>
            <a:ext cx="3275066" cy="798173"/>
            <a:chOff x="0" y="0"/>
            <a:chExt cx="862569" cy="21021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2569" cy="210218"/>
            </a:xfrm>
            <a:custGeom>
              <a:avLst/>
              <a:gdLst/>
              <a:ahLst/>
              <a:cxnLst/>
              <a:rect r="r" b="b" t="t" l="l"/>
              <a:pathLst>
                <a:path h="210218" w="862569">
                  <a:moveTo>
                    <a:pt x="73281" y="0"/>
                  </a:moveTo>
                  <a:lnTo>
                    <a:pt x="789288" y="0"/>
                  </a:lnTo>
                  <a:cubicBezTo>
                    <a:pt x="829760" y="0"/>
                    <a:pt x="862569" y="32809"/>
                    <a:pt x="862569" y="73281"/>
                  </a:cubicBezTo>
                  <a:lnTo>
                    <a:pt x="862569" y="136938"/>
                  </a:lnTo>
                  <a:cubicBezTo>
                    <a:pt x="862569" y="156373"/>
                    <a:pt x="854848" y="175012"/>
                    <a:pt x="841106" y="188755"/>
                  </a:cubicBezTo>
                  <a:cubicBezTo>
                    <a:pt x="827363" y="202498"/>
                    <a:pt x="808723" y="210218"/>
                    <a:pt x="789288" y="210218"/>
                  </a:cubicBezTo>
                  <a:lnTo>
                    <a:pt x="73281" y="210218"/>
                  </a:lnTo>
                  <a:cubicBezTo>
                    <a:pt x="53846" y="210218"/>
                    <a:pt x="35206" y="202498"/>
                    <a:pt x="21463" y="188755"/>
                  </a:cubicBezTo>
                  <a:cubicBezTo>
                    <a:pt x="7721" y="175012"/>
                    <a:pt x="0" y="156373"/>
                    <a:pt x="0" y="136938"/>
                  </a:cubicBezTo>
                  <a:lnTo>
                    <a:pt x="0" y="73281"/>
                  </a:lnTo>
                  <a:cubicBezTo>
                    <a:pt x="0" y="53846"/>
                    <a:pt x="7721" y="35206"/>
                    <a:pt x="21463" y="21463"/>
                  </a:cubicBezTo>
                  <a:cubicBezTo>
                    <a:pt x="35206" y="7721"/>
                    <a:pt x="53846" y="0"/>
                    <a:pt x="73281" y="0"/>
                  </a:cubicBezTo>
                  <a:close/>
                </a:path>
              </a:pathLst>
            </a:custGeom>
            <a:solidFill>
              <a:srgbClr val="DADFC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62569" cy="248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650613" y="8438862"/>
            <a:ext cx="1828546" cy="374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1"/>
              </a:lnSpc>
            </a:pPr>
            <a:r>
              <a:rPr lang="en-US" b="true" sz="2136" spc="111">
                <a:solidFill>
                  <a:srgbClr val="202429"/>
                </a:solidFill>
                <a:latin typeface="Poppins Bold"/>
                <a:ea typeface="Poppins Bold"/>
                <a:cs typeface="Poppins Bold"/>
                <a:sym typeface="Poppins Bold"/>
              </a:rPr>
              <a:t>É único!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1057884" y="8047642"/>
            <a:ext cx="1168423" cy="1213945"/>
          </a:xfrm>
          <a:custGeom>
            <a:avLst/>
            <a:gdLst/>
            <a:ahLst/>
            <a:cxnLst/>
            <a:rect r="r" b="b" t="t" l="l"/>
            <a:pathLst>
              <a:path h="1213945" w="1168423">
                <a:moveTo>
                  <a:pt x="0" y="0"/>
                </a:moveTo>
                <a:lnTo>
                  <a:pt x="1168422" y="0"/>
                </a:lnTo>
                <a:lnTo>
                  <a:pt x="1168422" y="1213946"/>
                </a:lnTo>
                <a:lnTo>
                  <a:pt x="0" y="12139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28700" y="3457801"/>
            <a:ext cx="6367347" cy="4568572"/>
          </a:xfrm>
          <a:custGeom>
            <a:avLst/>
            <a:gdLst/>
            <a:ahLst/>
            <a:cxnLst/>
            <a:rect r="r" b="b" t="t" l="l"/>
            <a:pathLst>
              <a:path h="4568572" w="6367347">
                <a:moveTo>
                  <a:pt x="0" y="0"/>
                </a:moveTo>
                <a:lnTo>
                  <a:pt x="6367347" y="0"/>
                </a:lnTo>
                <a:lnTo>
                  <a:pt x="6367347" y="4568572"/>
                </a:lnTo>
                <a:lnTo>
                  <a:pt x="0" y="4568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cover dir="d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91876" y="4723652"/>
            <a:ext cx="8757980" cy="3446286"/>
            <a:chOff x="0" y="0"/>
            <a:chExt cx="2306629" cy="9076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06629" cy="907664"/>
            </a:xfrm>
            <a:custGeom>
              <a:avLst/>
              <a:gdLst/>
              <a:ahLst/>
              <a:cxnLst/>
              <a:rect r="r" b="b" t="t" l="l"/>
              <a:pathLst>
                <a:path h="907664" w="2306629">
                  <a:moveTo>
                    <a:pt x="27404" y="0"/>
                  </a:moveTo>
                  <a:lnTo>
                    <a:pt x="2279225" y="0"/>
                  </a:lnTo>
                  <a:cubicBezTo>
                    <a:pt x="2294360" y="0"/>
                    <a:pt x="2306629" y="12269"/>
                    <a:pt x="2306629" y="27404"/>
                  </a:cubicBezTo>
                  <a:lnTo>
                    <a:pt x="2306629" y="880260"/>
                  </a:lnTo>
                  <a:cubicBezTo>
                    <a:pt x="2306629" y="895395"/>
                    <a:pt x="2294360" y="907664"/>
                    <a:pt x="2279225" y="907664"/>
                  </a:cubicBezTo>
                  <a:lnTo>
                    <a:pt x="27404" y="907664"/>
                  </a:lnTo>
                  <a:cubicBezTo>
                    <a:pt x="12269" y="907664"/>
                    <a:pt x="0" y="895395"/>
                    <a:pt x="0" y="880260"/>
                  </a:cubicBezTo>
                  <a:lnTo>
                    <a:pt x="0" y="27404"/>
                  </a:lnTo>
                  <a:cubicBezTo>
                    <a:pt x="0" y="12269"/>
                    <a:pt x="12269" y="0"/>
                    <a:pt x="27404" y="0"/>
                  </a:cubicBezTo>
                  <a:close/>
                </a:path>
              </a:pathLst>
            </a:custGeom>
            <a:solidFill>
              <a:srgbClr val="20242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06629" cy="945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291876" y="4439657"/>
            <a:ext cx="1683025" cy="885140"/>
            <a:chOff x="0" y="0"/>
            <a:chExt cx="2244033" cy="118018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244033" cy="1180187"/>
              <a:chOff x="0" y="0"/>
              <a:chExt cx="443266" cy="2331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43266" cy="233123"/>
              </a:xfrm>
              <a:custGeom>
                <a:avLst/>
                <a:gdLst/>
                <a:ahLst/>
                <a:cxnLst/>
                <a:rect r="r" b="b" t="t" l="l"/>
                <a:pathLst>
                  <a:path h="233123" w="443266">
                    <a:moveTo>
                      <a:pt x="64400" y="0"/>
                    </a:moveTo>
                    <a:lnTo>
                      <a:pt x="378866" y="0"/>
                    </a:lnTo>
                    <a:cubicBezTo>
                      <a:pt x="414433" y="0"/>
                      <a:pt x="443266" y="28833"/>
                      <a:pt x="443266" y="64400"/>
                    </a:cubicBezTo>
                    <a:lnTo>
                      <a:pt x="443266" y="168723"/>
                    </a:lnTo>
                    <a:cubicBezTo>
                      <a:pt x="443266" y="185803"/>
                      <a:pt x="436481" y="202184"/>
                      <a:pt x="424403" y="214261"/>
                    </a:cubicBezTo>
                    <a:cubicBezTo>
                      <a:pt x="412326" y="226338"/>
                      <a:pt x="395946" y="233123"/>
                      <a:pt x="378866" y="233123"/>
                    </a:cubicBezTo>
                    <a:lnTo>
                      <a:pt x="64400" y="233123"/>
                    </a:lnTo>
                    <a:cubicBezTo>
                      <a:pt x="47320" y="233123"/>
                      <a:pt x="30940" y="226338"/>
                      <a:pt x="18862" y="214261"/>
                    </a:cubicBezTo>
                    <a:cubicBezTo>
                      <a:pt x="6785" y="202184"/>
                      <a:pt x="0" y="185803"/>
                      <a:pt x="0" y="168723"/>
                    </a:cubicBezTo>
                    <a:lnTo>
                      <a:pt x="0" y="64400"/>
                    </a:lnTo>
                    <a:cubicBezTo>
                      <a:pt x="0" y="47320"/>
                      <a:pt x="6785" y="30940"/>
                      <a:pt x="18862" y="18862"/>
                    </a:cubicBezTo>
                    <a:cubicBezTo>
                      <a:pt x="30940" y="6785"/>
                      <a:pt x="47320" y="0"/>
                      <a:pt x="64400" y="0"/>
                    </a:cubicBez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443266" cy="2712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312276"/>
              <a:ext cx="2244033" cy="867911"/>
              <a:chOff x="0" y="0"/>
              <a:chExt cx="443266" cy="17143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43266" cy="171439"/>
              </a:xfrm>
              <a:custGeom>
                <a:avLst/>
                <a:gdLst/>
                <a:ahLst/>
                <a:cxnLst/>
                <a:rect r="r" b="b" t="t" l="l"/>
                <a:pathLst>
                  <a:path h="171439" w="443266">
                    <a:moveTo>
                      <a:pt x="0" y="0"/>
                    </a:moveTo>
                    <a:lnTo>
                      <a:pt x="443266" y="0"/>
                    </a:lnTo>
                    <a:lnTo>
                      <a:pt x="443266" y="171439"/>
                    </a:lnTo>
                    <a:lnTo>
                      <a:pt x="0" y="171439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443266" cy="2095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2289548" y="2932943"/>
            <a:ext cx="4010888" cy="6120759"/>
            <a:chOff x="0" y="0"/>
            <a:chExt cx="5347851" cy="81610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1141160"/>
              <a:ext cx="5347851" cy="7019852"/>
            </a:xfrm>
            <a:custGeom>
              <a:avLst/>
              <a:gdLst/>
              <a:ahLst/>
              <a:cxnLst/>
              <a:rect r="r" b="b" t="t" l="l"/>
              <a:pathLst>
                <a:path h="7019852" w="5347851">
                  <a:moveTo>
                    <a:pt x="0" y="0"/>
                  </a:moveTo>
                  <a:lnTo>
                    <a:pt x="5347851" y="0"/>
                  </a:lnTo>
                  <a:lnTo>
                    <a:pt x="5347851" y="7019851"/>
                  </a:lnTo>
                  <a:lnTo>
                    <a:pt x="0" y="7019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92645" y="0"/>
              <a:ext cx="2839589" cy="2282320"/>
            </a:xfrm>
            <a:custGeom>
              <a:avLst/>
              <a:gdLst/>
              <a:ahLst/>
              <a:cxnLst/>
              <a:rect r="r" b="b" t="t" l="l"/>
              <a:pathLst>
                <a:path h="2282320" w="2839589">
                  <a:moveTo>
                    <a:pt x="0" y="0"/>
                  </a:moveTo>
                  <a:lnTo>
                    <a:pt x="2839589" y="0"/>
                  </a:lnTo>
                  <a:lnTo>
                    <a:pt x="2839589" y="2282320"/>
                  </a:lnTo>
                  <a:lnTo>
                    <a:pt x="0" y="2282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" y="1235263"/>
            <a:ext cx="7461213" cy="12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69"/>
              </a:lnSpc>
              <a:spcBef>
                <a:spcPct val="0"/>
              </a:spcBef>
            </a:pPr>
            <a:r>
              <a:rPr lang="en-US" sz="9122" spc="-501">
                <a:solidFill>
                  <a:srgbClr val="4B9BB3"/>
                </a:solidFill>
                <a:latin typeface="Poetsen"/>
                <a:ea typeface="Poetsen"/>
                <a:cs typeface="Poetsen"/>
                <a:sym typeface="Poetsen"/>
              </a:rPr>
              <a:t>Atributo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91876" y="2398546"/>
            <a:ext cx="8757980" cy="167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81"/>
              </a:lnSpc>
            </a:pPr>
            <a:r>
              <a:rPr lang="en-US" sz="4701" spc="-258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Seleciona elementos pelo atributo.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80006" y="4504106"/>
            <a:ext cx="1306767" cy="65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2"/>
              </a:lnSpc>
            </a:pPr>
            <a:r>
              <a:rPr lang="en-US" sz="3601" spc="298">
                <a:solidFill>
                  <a:srgbClr val="F5FFF9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93288" y="5582898"/>
            <a:ext cx="7096247" cy="189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2"/>
              </a:lnSpc>
            </a:pPr>
            <a:r>
              <a:rPr lang="en-US" sz="3601" spc="298">
                <a:solidFill>
                  <a:srgbClr val="74BDCE"/>
                </a:solidFill>
                <a:latin typeface="Roboto"/>
                <a:ea typeface="Roboto"/>
                <a:cs typeface="Roboto"/>
                <a:sym typeface="Roboto"/>
              </a:rPr>
              <a:t>input</a:t>
            </a:r>
            <a:r>
              <a:rPr lang="en-US" sz="3601" spc="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lang="en-US" sz="3601" spc="298">
                <a:solidFill>
                  <a:srgbClr val="74BDCE"/>
                </a:solidFill>
                <a:latin typeface="Roboto"/>
                <a:ea typeface="Roboto"/>
                <a:cs typeface="Roboto"/>
                <a:sym typeface="Roboto"/>
              </a:rPr>
              <a:t>type</a:t>
            </a:r>
            <a:r>
              <a:rPr lang="en-US" sz="3601" spc="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="</a:t>
            </a:r>
            <a:r>
              <a:rPr lang="en-US" sz="3601" spc="298">
                <a:solidFill>
                  <a:srgbClr val="74BDCE"/>
                </a:solidFill>
                <a:latin typeface="Roboto"/>
                <a:ea typeface="Roboto"/>
                <a:cs typeface="Roboto"/>
                <a:sym typeface="Roboto"/>
              </a:rPr>
              <a:t>text</a:t>
            </a:r>
            <a:r>
              <a:rPr lang="en-US" sz="3601" spc="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"]</a:t>
            </a:r>
            <a:r>
              <a:rPr lang="en-US" sz="3601" spc="298">
                <a:solidFill>
                  <a:srgbClr val="FEA00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601" spc="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{</a:t>
            </a:r>
          </a:p>
          <a:p>
            <a:pPr algn="l">
              <a:lnSpc>
                <a:spcPts val="5042"/>
              </a:lnSpc>
            </a:pPr>
            <a:r>
              <a:rPr lang="en-US" sz="3601" spc="298">
                <a:solidFill>
                  <a:srgbClr val="FEA00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601" spc="298">
                <a:solidFill>
                  <a:srgbClr val="BFECAC"/>
                </a:solidFill>
                <a:latin typeface="Roboto"/>
                <a:ea typeface="Roboto"/>
                <a:cs typeface="Roboto"/>
                <a:sym typeface="Roboto"/>
              </a:rPr>
              <a:t>border</a:t>
            </a:r>
            <a:r>
              <a:rPr lang="en-US" sz="3601" spc="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3601" spc="298">
                <a:solidFill>
                  <a:srgbClr val="DADFCF"/>
                </a:solidFill>
                <a:latin typeface="Roboto"/>
                <a:ea typeface="Roboto"/>
                <a:cs typeface="Roboto"/>
                <a:sym typeface="Roboto"/>
              </a:rPr>
              <a:t> 1px solid</a:t>
            </a:r>
            <a:r>
              <a:rPr lang="en-US" sz="3601" spc="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</a:p>
          <a:p>
            <a:pPr algn="l" marL="0" indent="0" lvl="0">
              <a:lnSpc>
                <a:spcPts val="5042"/>
              </a:lnSpc>
            </a:pPr>
            <a:r>
              <a:rPr lang="en-US" sz="3601" spc="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</a:p>
        </p:txBody>
      </p:sp>
    </p:spTree>
  </p:cSld>
  <p:clrMapOvr>
    <a:masterClrMapping/>
  </p:clrMapOvr>
  <p:transition spd="med">
    <p:cover dir="d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91876" y="4723652"/>
            <a:ext cx="8757980" cy="3446286"/>
            <a:chOff x="0" y="0"/>
            <a:chExt cx="2306629" cy="9076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06629" cy="907664"/>
            </a:xfrm>
            <a:custGeom>
              <a:avLst/>
              <a:gdLst/>
              <a:ahLst/>
              <a:cxnLst/>
              <a:rect r="r" b="b" t="t" l="l"/>
              <a:pathLst>
                <a:path h="907664" w="2306629">
                  <a:moveTo>
                    <a:pt x="27404" y="0"/>
                  </a:moveTo>
                  <a:lnTo>
                    <a:pt x="2279225" y="0"/>
                  </a:lnTo>
                  <a:cubicBezTo>
                    <a:pt x="2294360" y="0"/>
                    <a:pt x="2306629" y="12269"/>
                    <a:pt x="2306629" y="27404"/>
                  </a:cubicBezTo>
                  <a:lnTo>
                    <a:pt x="2306629" y="880260"/>
                  </a:lnTo>
                  <a:cubicBezTo>
                    <a:pt x="2306629" y="895395"/>
                    <a:pt x="2294360" y="907664"/>
                    <a:pt x="2279225" y="907664"/>
                  </a:cubicBezTo>
                  <a:lnTo>
                    <a:pt x="27404" y="907664"/>
                  </a:lnTo>
                  <a:cubicBezTo>
                    <a:pt x="12269" y="907664"/>
                    <a:pt x="0" y="895395"/>
                    <a:pt x="0" y="880260"/>
                  </a:cubicBezTo>
                  <a:lnTo>
                    <a:pt x="0" y="27404"/>
                  </a:lnTo>
                  <a:cubicBezTo>
                    <a:pt x="0" y="12269"/>
                    <a:pt x="12269" y="0"/>
                    <a:pt x="27404" y="0"/>
                  </a:cubicBezTo>
                  <a:close/>
                </a:path>
              </a:pathLst>
            </a:custGeom>
            <a:solidFill>
              <a:srgbClr val="20242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06629" cy="945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291876" y="4439657"/>
            <a:ext cx="1683025" cy="885140"/>
            <a:chOff x="0" y="0"/>
            <a:chExt cx="2244033" cy="118018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244033" cy="1180187"/>
              <a:chOff x="0" y="0"/>
              <a:chExt cx="443266" cy="2331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43266" cy="233123"/>
              </a:xfrm>
              <a:custGeom>
                <a:avLst/>
                <a:gdLst/>
                <a:ahLst/>
                <a:cxnLst/>
                <a:rect r="r" b="b" t="t" l="l"/>
                <a:pathLst>
                  <a:path h="233123" w="443266">
                    <a:moveTo>
                      <a:pt x="64400" y="0"/>
                    </a:moveTo>
                    <a:lnTo>
                      <a:pt x="378866" y="0"/>
                    </a:lnTo>
                    <a:cubicBezTo>
                      <a:pt x="414433" y="0"/>
                      <a:pt x="443266" y="28833"/>
                      <a:pt x="443266" y="64400"/>
                    </a:cubicBezTo>
                    <a:lnTo>
                      <a:pt x="443266" y="168723"/>
                    </a:lnTo>
                    <a:cubicBezTo>
                      <a:pt x="443266" y="185803"/>
                      <a:pt x="436481" y="202184"/>
                      <a:pt x="424403" y="214261"/>
                    </a:cubicBezTo>
                    <a:cubicBezTo>
                      <a:pt x="412326" y="226338"/>
                      <a:pt x="395946" y="233123"/>
                      <a:pt x="378866" y="233123"/>
                    </a:cubicBezTo>
                    <a:lnTo>
                      <a:pt x="64400" y="233123"/>
                    </a:lnTo>
                    <a:cubicBezTo>
                      <a:pt x="47320" y="233123"/>
                      <a:pt x="30940" y="226338"/>
                      <a:pt x="18862" y="214261"/>
                    </a:cubicBezTo>
                    <a:cubicBezTo>
                      <a:pt x="6785" y="202184"/>
                      <a:pt x="0" y="185803"/>
                      <a:pt x="0" y="168723"/>
                    </a:cubicBezTo>
                    <a:lnTo>
                      <a:pt x="0" y="64400"/>
                    </a:lnTo>
                    <a:cubicBezTo>
                      <a:pt x="0" y="47320"/>
                      <a:pt x="6785" y="30940"/>
                      <a:pt x="18862" y="18862"/>
                    </a:cubicBezTo>
                    <a:cubicBezTo>
                      <a:pt x="30940" y="6785"/>
                      <a:pt x="47320" y="0"/>
                      <a:pt x="64400" y="0"/>
                    </a:cubicBez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443266" cy="2712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312276"/>
              <a:ext cx="2244033" cy="867911"/>
              <a:chOff x="0" y="0"/>
              <a:chExt cx="443266" cy="17143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43266" cy="171439"/>
              </a:xfrm>
              <a:custGeom>
                <a:avLst/>
                <a:gdLst/>
                <a:ahLst/>
                <a:cxnLst/>
                <a:rect r="r" b="b" t="t" l="l"/>
                <a:pathLst>
                  <a:path h="171439" w="443266">
                    <a:moveTo>
                      <a:pt x="0" y="0"/>
                    </a:moveTo>
                    <a:lnTo>
                      <a:pt x="443266" y="0"/>
                    </a:lnTo>
                    <a:lnTo>
                      <a:pt x="443266" y="171439"/>
                    </a:lnTo>
                    <a:lnTo>
                      <a:pt x="0" y="171439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443266" cy="2095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10615525" y="8654615"/>
            <a:ext cx="5369479" cy="798173"/>
            <a:chOff x="0" y="0"/>
            <a:chExt cx="1414184" cy="2102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14184" cy="210218"/>
            </a:xfrm>
            <a:custGeom>
              <a:avLst/>
              <a:gdLst/>
              <a:ahLst/>
              <a:cxnLst/>
              <a:rect r="r" b="b" t="t" l="l"/>
              <a:pathLst>
                <a:path h="210218" w="1414184">
                  <a:moveTo>
                    <a:pt x="44697" y="0"/>
                  </a:moveTo>
                  <a:lnTo>
                    <a:pt x="1369487" y="0"/>
                  </a:lnTo>
                  <a:cubicBezTo>
                    <a:pt x="1394172" y="0"/>
                    <a:pt x="1414184" y="20012"/>
                    <a:pt x="1414184" y="44697"/>
                  </a:cubicBezTo>
                  <a:lnTo>
                    <a:pt x="1414184" y="165521"/>
                  </a:lnTo>
                  <a:cubicBezTo>
                    <a:pt x="1414184" y="190207"/>
                    <a:pt x="1394172" y="210218"/>
                    <a:pt x="1369487" y="210218"/>
                  </a:cubicBezTo>
                  <a:lnTo>
                    <a:pt x="44697" y="210218"/>
                  </a:lnTo>
                  <a:cubicBezTo>
                    <a:pt x="20012" y="210218"/>
                    <a:pt x="0" y="190207"/>
                    <a:pt x="0" y="165521"/>
                  </a:cubicBezTo>
                  <a:lnTo>
                    <a:pt x="0" y="44697"/>
                  </a:lnTo>
                  <a:cubicBezTo>
                    <a:pt x="0" y="20012"/>
                    <a:pt x="20012" y="0"/>
                    <a:pt x="44697" y="0"/>
                  </a:cubicBezTo>
                  <a:close/>
                </a:path>
              </a:pathLst>
            </a:custGeom>
            <a:solidFill>
              <a:srgbClr val="BFECA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14184" cy="248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401669" y="8608318"/>
            <a:ext cx="892999" cy="890766"/>
          </a:xfrm>
          <a:custGeom>
            <a:avLst/>
            <a:gdLst/>
            <a:ahLst/>
            <a:cxnLst/>
            <a:rect r="r" b="b" t="t" l="l"/>
            <a:pathLst>
              <a:path h="890766" w="892999">
                <a:moveTo>
                  <a:pt x="0" y="0"/>
                </a:moveTo>
                <a:lnTo>
                  <a:pt x="892999" y="0"/>
                </a:lnTo>
                <a:lnTo>
                  <a:pt x="892999" y="890767"/>
                </a:lnTo>
                <a:lnTo>
                  <a:pt x="0" y="8907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275763" y="3086100"/>
            <a:ext cx="4273038" cy="6115260"/>
          </a:xfrm>
          <a:custGeom>
            <a:avLst/>
            <a:gdLst/>
            <a:ahLst/>
            <a:cxnLst/>
            <a:rect r="r" b="b" t="t" l="l"/>
            <a:pathLst>
              <a:path h="6115260" w="4273038">
                <a:moveTo>
                  <a:pt x="0" y="0"/>
                </a:moveTo>
                <a:lnTo>
                  <a:pt x="4273038" y="0"/>
                </a:lnTo>
                <a:lnTo>
                  <a:pt x="4273038" y="6115260"/>
                </a:lnTo>
                <a:lnTo>
                  <a:pt x="0" y="6115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1235263"/>
            <a:ext cx="7461213" cy="12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69"/>
              </a:lnSpc>
              <a:spcBef>
                <a:spcPct val="0"/>
              </a:spcBef>
            </a:pPr>
            <a:r>
              <a:rPr lang="en-US" sz="9122" spc="-501">
                <a:solidFill>
                  <a:srgbClr val="4B9BB3"/>
                </a:solidFill>
                <a:latin typeface="Poetsen"/>
                <a:ea typeface="Poetsen"/>
                <a:cs typeface="Poetsen"/>
                <a:sym typeface="Poetsen"/>
              </a:rPr>
              <a:t>Pseudo-classe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91876" y="2398546"/>
            <a:ext cx="8757980" cy="167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81"/>
              </a:lnSpc>
            </a:pPr>
            <a:r>
              <a:rPr lang="en-US" sz="4701" spc="-258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Representa um estado do elemento.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80006" y="4504106"/>
            <a:ext cx="1306767" cy="65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2"/>
              </a:lnSpc>
            </a:pPr>
            <a:r>
              <a:rPr lang="en-US" sz="3601" spc="298">
                <a:solidFill>
                  <a:srgbClr val="F5FFF9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16263" y="8837949"/>
            <a:ext cx="4125199" cy="374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1"/>
              </a:lnSpc>
            </a:pPr>
            <a:r>
              <a:rPr lang="en-US" b="true" sz="2136" spc="111">
                <a:solidFill>
                  <a:srgbClr val="17320B"/>
                </a:solidFill>
                <a:latin typeface="Poppins Bold"/>
                <a:ea typeface="Poppins Bold"/>
                <a:cs typeface="Poppins Bold"/>
                <a:sym typeface="Poppins Bold"/>
              </a:rPr>
              <a:t>Reage ao usuário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93288" y="5582898"/>
            <a:ext cx="7096247" cy="189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2"/>
              </a:lnSpc>
            </a:pPr>
            <a:r>
              <a:rPr lang="en-US" sz="3601" spc="298">
                <a:solidFill>
                  <a:srgbClr val="69FB96"/>
                </a:solidFill>
                <a:latin typeface="Roboto"/>
                <a:ea typeface="Roboto"/>
                <a:cs typeface="Roboto"/>
                <a:sym typeface="Roboto"/>
              </a:rPr>
              <a:t>button:hover</a:t>
            </a:r>
            <a:r>
              <a:rPr lang="en-US" sz="3601" spc="298">
                <a:solidFill>
                  <a:srgbClr val="74BDC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601" spc="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{</a:t>
            </a:r>
          </a:p>
          <a:p>
            <a:pPr algn="l">
              <a:lnSpc>
                <a:spcPts val="5042"/>
              </a:lnSpc>
            </a:pPr>
            <a:r>
              <a:rPr lang="en-US" sz="3601" spc="298">
                <a:solidFill>
                  <a:srgbClr val="74BDC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601" spc="298">
                <a:solidFill>
                  <a:srgbClr val="BFECAC"/>
                </a:solidFill>
                <a:latin typeface="Roboto"/>
                <a:ea typeface="Roboto"/>
                <a:cs typeface="Roboto"/>
                <a:sym typeface="Roboto"/>
              </a:rPr>
              <a:t>background</a:t>
            </a:r>
            <a:r>
              <a:rPr lang="en-US" sz="3601" spc="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3601" spc="298">
                <a:solidFill>
                  <a:srgbClr val="74BDC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601" spc="298">
                <a:solidFill>
                  <a:srgbClr val="FF5757"/>
                </a:solidFill>
                <a:latin typeface="Roboto"/>
                <a:ea typeface="Roboto"/>
                <a:cs typeface="Roboto"/>
                <a:sym typeface="Roboto"/>
              </a:rPr>
              <a:t>red</a:t>
            </a:r>
            <a:r>
              <a:rPr lang="en-US" sz="3601" spc="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</a:p>
          <a:p>
            <a:pPr algn="l" marL="0" indent="0" lvl="0">
              <a:lnSpc>
                <a:spcPts val="5042"/>
              </a:lnSpc>
            </a:pPr>
            <a:r>
              <a:rPr lang="en-US" sz="3601" spc="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</a:p>
        </p:txBody>
      </p:sp>
    </p:spTree>
  </p:cSld>
  <p:clrMapOvr>
    <a:masterClrMapping/>
  </p:clrMapOvr>
  <p:transition spd="med">
    <p:cover dir="d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91876" y="4723652"/>
            <a:ext cx="8757980" cy="3446286"/>
            <a:chOff x="0" y="0"/>
            <a:chExt cx="2306629" cy="9076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06629" cy="907664"/>
            </a:xfrm>
            <a:custGeom>
              <a:avLst/>
              <a:gdLst/>
              <a:ahLst/>
              <a:cxnLst/>
              <a:rect r="r" b="b" t="t" l="l"/>
              <a:pathLst>
                <a:path h="907664" w="2306629">
                  <a:moveTo>
                    <a:pt x="27404" y="0"/>
                  </a:moveTo>
                  <a:lnTo>
                    <a:pt x="2279225" y="0"/>
                  </a:lnTo>
                  <a:cubicBezTo>
                    <a:pt x="2294360" y="0"/>
                    <a:pt x="2306629" y="12269"/>
                    <a:pt x="2306629" y="27404"/>
                  </a:cubicBezTo>
                  <a:lnTo>
                    <a:pt x="2306629" y="880260"/>
                  </a:lnTo>
                  <a:cubicBezTo>
                    <a:pt x="2306629" y="895395"/>
                    <a:pt x="2294360" y="907664"/>
                    <a:pt x="2279225" y="907664"/>
                  </a:cubicBezTo>
                  <a:lnTo>
                    <a:pt x="27404" y="907664"/>
                  </a:lnTo>
                  <a:cubicBezTo>
                    <a:pt x="12269" y="907664"/>
                    <a:pt x="0" y="895395"/>
                    <a:pt x="0" y="880260"/>
                  </a:cubicBezTo>
                  <a:lnTo>
                    <a:pt x="0" y="27404"/>
                  </a:lnTo>
                  <a:cubicBezTo>
                    <a:pt x="0" y="12269"/>
                    <a:pt x="12269" y="0"/>
                    <a:pt x="27404" y="0"/>
                  </a:cubicBezTo>
                  <a:close/>
                </a:path>
              </a:pathLst>
            </a:custGeom>
            <a:solidFill>
              <a:srgbClr val="20242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06629" cy="945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291876" y="4439657"/>
            <a:ext cx="1683025" cy="885140"/>
            <a:chOff x="0" y="0"/>
            <a:chExt cx="2244033" cy="118018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244033" cy="1180187"/>
              <a:chOff x="0" y="0"/>
              <a:chExt cx="443266" cy="2331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43266" cy="233123"/>
              </a:xfrm>
              <a:custGeom>
                <a:avLst/>
                <a:gdLst/>
                <a:ahLst/>
                <a:cxnLst/>
                <a:rect r="r" b="b" t="t" l="l"/>
                <a:pathLst>
                  <a:path h="233123" w="443266">
                    <a:moveTo>
                      <a:pt x="64400" y="0"/>
                    </a:moveTo>
                    <a:lnTo>
                      <a:pt x="378866" y="0"/>
                    </a:lnTo>
                    <a:cubicBezTo>
                      <a:pt x="414433" y="0"/>
                      <a:pt x="443266" y="28833"/>
                      <a:pt x="443266" y="64400"/>
                    </a:cubicBezTo>
                    <a:lnTo>
                      <a:pt x="443266" y="168723"/>
                    </a:lnTo>
                    <a:cubicBezTo>
                      <a:pt x="443266" y="185803"/>
                      <a:pt x="436481" y="202184"/>
                      <a:pt x="424403" y="214261"/>
                    </a:cubicBezTo>
                    <a:cubicBezTo>
                      <a:pt x="412326" y="226338"/>
                      <a:pt x="395946" y="233123"/>
                      <a:pt x="378866" y="233123"/>
                    </a:cubicBezTo>
                    <a:lnTo>
                      <a:pt x="64400" y="233123"/>
                    </a:lnTo>
                    <a:cubicBezTo>
                      <a:pt x="47320" y="233123"/>
                      <a:pt x="30940" y="226338"/>
                      <a:pt x="18862" y="214261"/>
                    </a:cubicBezTo>
                    <a:cubicBezTo>
                      <a:pt x="6785" y="202184"/>
                      <a:pt x="0" y="185803"/>
                      <a:pt x="0" y="168723"/>
                    </a:cubicBezTo>
                    <a:lnTo>
                      <a:pt x="0" y="64400"/>
                    </a:lnTo>
                    <a:cubicBezTo>
                      <a:pt x="0" y="47320"/>
                      <a:pt x="6785" y="30940"/>
                      <a:pt x="18862" y="18862"/>
                    </a:cubicBezTo>
                    <a:cubicBezTo>
                      <a:pt x="30940" y="6785"/>
                      <a:pt x="47320" y="0"/>
                      <a:pt x="64400" y="0"/>
                    </a:cubicBez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443266" cy="2712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312276"/>
              <a:ext cx="2244033" cy="867911"/>
              <a:chOff x="0" y="0"/>
              <a:chExt cx="443266" cy="17143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43266" cy="171439"/>
              </a:xfrm>
              <a:custGeom>
                <a:avLst/>
                <a:gdLst/>
                <a:ahLst/>
                <a:cxnLst/>
                <a:rect r="r" b="b" t="t" l="l"/>
                <a:pathLst>
                  <a:path h="171439" w="443266">
                    <a:moveTo>
                      <a:pt x="0" y="0"/>
                    </a:moveTo>
                    <a:lnTo>
                      <a:pt x="443266" y="0"/>
                    </a:lnTo>
                    <a:lnTo>
                      <a:pt x="443266" y="171439"/>
                    </a:lnTo>
                    <a:lnTo>
                      <a:pt x="0" y="171439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443266" cy="2095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2392093" y="3365557"/>
            <a:ext cx="4090570" cy="5081453"/>
          </a:xfrm>
          <a:custGeom>
            <a:avLst/>
            <a:gdLst/>
            <a:ahLst/>
            <a:cxnLst/>
            <a:rect r="r" b="b" t="t" l="l"/>
            <a:pathLst>
              <a:path h="5081453" w="4090570">
                <a:moveTo>
                  <a:pt x="0" y="0"/>
                </a:moveTo>
                <a:lnTo>
                  <a:pt x="4090570" y="0"/>
                </a:lnTo>
                <a:lnTo>
                  <a:pt x="4090570" y="5081453"/>
                </a:lnTo>
                <a:lnTo>
                  <a:pt x="0" y="50814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1235263"/>
            <a:ext cx="8946201" cy="12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69"/>
              </a:lnSpc>
              <a:spcBef>
                <a:spcPct val="0"/>
              </a:spcBef>
            </a:pPr>
            <a:r>
              <a:rPr lang="en-US" sz="9122" spc="-501">
                <a:solidFill>
                  <a:srgbClr val="4B9BB3"/>
                </a:solidFill>
                <a:latin typeface="Poetsen"/>
                <a:ea typeface="Poetsen"/>
                <a:cs typeface="Poetsen"/>
                <a:sym typeface="Poetsen"/>
              </a:rPr>
              <a:t>Pseudo-elemento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91876" y="2623177"/>
            <a:ext cx="8757980" cy="144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</a:pPr>
            <a:r>
              <a:rPr lang="en-US" sz="4701" spc="-258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Seleciona uma parte específica do elemento.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80006" y="4504106"/>
            <a:ext cx="1306767" cy="65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2"/>
              </a:lnSpc>
            </a:pPr>
            <a:r>
              <a:rPr lang="en-US" sz="3601" spc="298">
                <a:solidFill>
                  <a:srgbClr val="F5FFF9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93288" y="5582898"/>
            <a:ext cx="7096247" cy="189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2"/>
              </a:lnSpc>
            </a:pPr>
            <a:r>
              <a:rPr lang="en-US" sz="3601" spc="298">
                <a:solidFill>
                  <a:srgbClr val="FEA002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-US" sz="3601" spc="298">
                <a:solidFill>
                  <a:srgbClr val="74BDCE"/>
                </a:solidFill>
                <a:latin typeface="Roboto"/>
                <a:ea typeface="Roboto"/>
                <a:cs typeface="Roboto"/>
                <a:sym typeface="Roboto"/>
              </a:rPr>
              <a:t>::first-letter</a:t>
            </a:r>
            <a:r>
              <a:rPr lang="en-US" sz="3601" spc="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{</a:t>
            </a:r>
          </a:p>
          <a:p>
            <a:pPr algn="l">
              <a:lnSpc>
                <a:spcPts val="5042"/>
              </a:lnSpc>
            </a:pPr>
            <a:r>
              <a:rPr lang="en-US" sz="3601" spc="298">
                <a:solidFill>
                  <a:srgbClr val="74BDC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601" spc="298">
                <a:solidFill>
                  <a:srgbClr val="69FB96"/>
                </a:solidFill>
                <a:latin typeface="Roboto"/>
                <a:ea typeface="Roboto"/>
                <a:cs typeface="Roboto"/>
                <a:sym typeface="Roboto"/>
              </a:rPr>
              <a:t>font-size</a:t>
            </a:r>
            <a:r>
              <a:rPr lang="en-US" sz="3601" spc="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3601" spc="298">
                <a:solidFill>
                  <a:srgbClr val="74BDC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601" spc="298">
                <a:solidFill>
                  <a:srgbClr val="FEEEF7"/>
                </a:solidFill>
                <a:latin typeface="Roboto"/>
                <a:ea typeface="Roboto"/>
                <a:cs typeface="Roboto"/>
                <a:sym typeface="Roboto"/>
              </a:rPr>
              <a:t>30px</a:t>
            </a:r>
            <a:r>
              <a:rPr lang="en-US" sz="3601" spc="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</a:p>
          <a:p>
            <a:pPr algn="l" marL="0" indent="0" lvl="0">
              <a:lnSpc>
                <a:spcPts val="5042"/>
              </a:lnSpc>
            </a:pPr>
            <a:r>
              <a:rPr lang="en-US" sz="3601" spc="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</a:p>
        </p:txBody>
      </p:sp>
    </p:spTree>
  </p:cSld>
  <p:clrMapOvr>
    <a:masterClrMapping/>
  </p:clrMapOvr>
  <p:transition spd="med">
    <p:cover dir="d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130595" y="3749112"/>
            <a:ext cx="8742411" cy="5882914"/>
          </a:xfrm>
          <a:custGeom>
            <a:avLst/>
            <a:gdLst/>
            <a:ahLst/>
            <a:cxnLst/>
            <a:rect r="r" b="b" t="t" l="l"/>
            <a:pathLst>
              <a:path h="5882914" w="8742411">
                <a:moveTo>
                  <a:pt x="8742411" y="0"/>
                </a:moveTo>
                <a:lnTo>
                  <a:pt x="0" y="0"/>
                </a:lnTo>
                <a:lnTo>
                  <a:pt x="0" y="5882914"/>
                </a:lnTo>
                <a:lnTo>
                  <a:pt x="8742411" y="5882914"/>
                </a:lnTo>
                <a:lnTo>
                  <a:pt x="8742411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235263"/>
            <a:ext cx="8946201" cy="12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69"/>
              </a:lnSpc>
              <a:spcBef>
                <a:spcPct val="0"/>
              </a:spcBef>
            </a:pPr>
            <a:r>
              <a:rPr lang="en-US" sz="9122" spc="-501">
                <a:solidFill>
                  <a:srgbClr val="4B9BB3"/>
                </a:solidFill>
                <a:latin typeface="Poetsen"/>
                <a:ea typeface="Poetsen"/>
                <a:cs typeface="Poetsen"/>
                <a:sym typeface="Poetsen"/>
              </a:rPr>
              <a:t>Combinadores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486312" y="2790120"/>
            <a:ext cx="8400711" cy="1626964"/>
            <a:chOff x="0" y="0"/>
            <a:chExt cx="2212533" cy="4285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533" cy="428501"/>
            </a:xfrm>
            <a:custGeom>
              <a:avLst/>
              <a:gdLst/>
              <a:ahLst/>
              <a:cxnLst/>
              <a:rect r="r" b="b" t="t" l="l"/>
              <a:pathLst>
                <a:path h="428501" w="2212533">
                  <a:moveTo>
                    <a:pt x="58981" y="0"/>
                  </a:moveTo>
                  <a:lnTo>
                    <a:pt x="2153552" y="0"/>
                  </a:lnTo>
                  <a:cubicBezTo>
                    <a:pt x="2186126" y="0"/>
                    <a:pt x="2212533" y="26407"/>
                    <a:pt x="2212533" y="58981"/>
                  </a:cubicBezTo>
                  <a:lnTo>
                    <a:pt x="2212533" y="369520"/>
                  </a:lnTo>
                  <a:cubicBezTo>
                    <a:pt x="2212533" y="385163"/>
                    <a:pt x="2206319" y="400165"/>
                    <a:pt x="2195258" y="411226"/>
                  </a:cubicBezTo>
                  <a:cubicBezTo>
                    <a:pt x="2184197" y="422287"/>
                    <a:pt x="2169195" y="428501"/>
                    <a:pt x="2153552" y="428501"/>
                  </a:cubicBezTo>
                  <a:lnTo>
                    <a:pt x="58981" y="428501"/>
                  </a:lnTo>
                  <a:cubicBezTo>
                    <a:pt x="26407" y="428501"/>
                    <a:pt x="0" y="402094"/>
                    <a:pt x="0" y="369520"/>
                  </a:cubicBezTo>
                  <a:lnTo>
                    <a:pt x="0" y="58981"/>
                  </a:lnTo>
                  <a:cubicBezTo>
                    <a:pt x="0" y="26407"/>
                    <a:pt x="26407" y="0"/>
                    <a:pt x="58981" y="0"/>
                  </a:cubicBezTo>
                  <a:close/>
                </a:path>
              </a:pathLst>
            </a:custGeom>
            <a:solidFill>
              <a:srgbClr val="F5E38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12533" cy="466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628014" y="2790120"/>
            <a:ext cx="1716595" cy="1917984"/>
          </a:xfrm>
          <a:custGeom>
            <a:avLst/>
            <a:gdLst/>
            <a:ahLst/>
            <a:cxnLst/>
            <a:rect r="r" b="b" t="t" l="l"/>
            <a:pathLst>
              <a:path h="1917984" w="1716595">
                <a:moveTo>
                  <a:pt x="0" y="0"/>
                </a:moveTo>
                <a:lnTo>
                  <a:pt x="1716595" y="0"/>
                </a:lnTo>
                <a:lnTo>
                  <a:pt x="1716595" y="1917984"/>
                </a:lnTo>
                <a:lnTo>
                  <a:pt x="0" y="19179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344609" y="3074830"/>
            <a:ext cx="7237542" cy="952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64"/>
              </a:lnSpc>
            </a:pPr>
            <a:r>
              <a:rPr lang="en-US" b="true" sz="5621">
                <a:solidFill>
                  <a:srgbClr val="5A2312"/>
                </a:solidFill>
                <a:latin typeface="Poppins Bold"/>
                <a:ea typeface="Poppins Bold"/>
                <a:cs typeface="Poppins Bold"/>
                <a:sym typeface="Poppins Bold"/>
              </a:rPr>
              <a:t>NÃO são seletores!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73006" y="5105400"/>
            <a:ext cx="7020182" cy="283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</a:pPr>
            <a:r>
              <a:rPr lang="en-US" sz="4701" spc="-258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Eles apenas combinam seletores para mostrar a relação entre os elementos.</a:t>
            </a:r>
          </a:p>
        </p:txBody>
      </p:sp>
    </p:spTree>
  </p:cSld>
  <p:clrMapOvr>
    <a:masterClrMapping/>
  </p:clrMapOvr>
  <p:transition spd="med">
    <p:cover dir="d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772794" y="3079255"/>
            <a:ext cx="8742411" cy="5882914"/>
          </a:xfrm>
          <a:custGeom>
            <a:avLst/>
            <a:gdLst/>
            <a:ahLst/>
            <a:cxnLst/>
            <a:rect r="r" b="b" t="t" l="l"/>
            <a:pathLst>
              <a:path h="5882914" w="8742411">
                <a:moveTo>
                  <a:pt x="8742412" y="0"/>
                </a:moveTo>
                <a:lnTo>
                  <a:pt x="0" y="0"/>
                </a:lnTo>
                <a:lnTo>
                  <a:pt x="0" y="5882914"/>
                </a:lnTo>
                <a:lnTo>
                  <a:pt x="8742412" y="5882914"/>
                </a:lnTo>
                <a:lnTo>
                  <a:pt x="8742412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70899" y="1152525"/>
            <a:ext cx="8946201" cy="138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17"/>
              </a:lnSpc>
              <a:spcBef>
                <a:spcPct val="0"/>
              </a:spcBef>
            </a:pPr>
            <a:r>
              <a:rPr lang="en-US" sz="9922" spc="-545">
                <a:solidFill>
                  <a:srgbClr val="4B9BB3"/>
                </a:solidFill>
                <a:latin typeface="Poetsen"/>
                <a:ea typeface="Poetsen"/>
                <a:cs typeface="Poetsen"/>
                <a:sym typeface="Poetsen"/>
              </a:rPr>
              <a:t>Combinadores</a:t>
            </a:r>
          </a:p>
        </p:txBody>
      </p:sp>
    </p:spTree>
  </p:cSld>
  <p:clrMapOvr>
    <a:masterClrMapping/>
  </p:clrMapOvr>
  <p:transition spd="med">
    <p:cover dir="d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41710" y="1047989"/>
            <a:ext cx="13204580" cy="12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69"/>
              </a:lnSpc>
              <a:spcBef>
                <a:spcPct val="0"/>
              </a:spcBef>
            </a:pPr>
            <a:r>
              <a:rPr lang="en-US" sz="9122" spc="-501">
                <a:solidFill>
                  <a:srgbClr val="4B9BB3"/>
                </a:solidFill>
                <a:latin typeface="Poetsen"/>
                <a:ea typeface="Poetsen"/>
                <a:cs typeface="Poetsen"/>
                <a:sym typeface="Poetsen"/>
              </a:rPr>
              <a:t>Tipos  de  Combinadores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34704" y="2958608"/>
            <a:ext cx="3619500" cy="6290119"/>
            <a:chOff x="0" y="0"/>
            <a:chExt cx="4826000" cy="838682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826000" cy="8386825"/>
              <a:chOff x="0" y="0"/>
              <a:chExt cx="932895" cy="162122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32895" cy="1621223"/>
              </a:xfrm>
              <a:custGeom>
                <a:avLst/>
                <a:gdLst/>
                <a:ahLst/>
                <a:cxnLst/>
                <a:rect r="r" b="b" t="t" l="l"/>
                <a:pathLst>
                  <a:path h="1621223" w="932895">
                    <a:moveTo>
                      <a:pt x="109086" y="0"/>
                    </a:moveTo>
                    <a:lnTo>
                      <a:pt x="823808" y="0"/>
                    </a:lnTo>
                    <a:cubicBezTo>
                      <a:pt x="852740" y="0"/>
                      <a:pt x="880486" y="11493"/>
                      <a:pt x="900944" y="31951"/>
                    </a:cubicBezTo>
                    <a:cubicBezTo>
                      <a:pt x="921402" y="52408"/>
                      <a:pt x="932895" y="80155"/>
                      <a:pt x="932895" y="109086"/>
                    </a:cubicBezTo>
                    <a:lnTo>
                      <a:pt x="932895" y="1512137"/>
                    </a:lnTo>
                    <a:cubicBezTo>
                      <a:pt x="932895" y="1541068"/>
                      <a:pt x="921402" y="1568815"/>
                      <a:pt x="900944" y="1589272"/>
                    </a:cubicBezTo>
                    <a:cubicBezTo>
                      <a:pt x="880486" y="1609730"/>
                      <a:pt x="852740" y="1621223"/>
                      <a:pt x="823808" y="1621223"/>
                    </a:cubicBezTo>
                    <a:lnTo>
                      <a:pt x="109086" y="1621223"/>
                    </a:lnTo>
                    <a:cubicBezTo>
                      <a:pt x="80155" y="1621223"/>
                      <a:pt x="52408" y="1609730"/>
                      <a:pt x="31951" y="1589272"/>
                    </a:cubicBezTo>
                    <a:cubicBezTo>
                      <a:pt x="11493" y="1568815"/>
                      <a:pt x="0" y="1541068"/>
                      <a:pt x="0" y="1512137"/>
                    </a:cubicBezTo>
                    <a:lnTo>
                      <a:pt x="0" y="109086"/>
                    </a:lnTo>
                    <a:cubicBezTo>
                      <a:pt x="0" y="80155"/>
                      <a:pt x="11493" y="52408"/>
                      <a:pt x="31951" y="31951"/>
                    </a:cubicBezTo>
                    <a:cubicBezTo>
                      <a:pt x="52408" y="11493"/>
                      <a:pt x="80155" y="0"/>
                      <a:pt x="109086" y="0"/>
                    </a:cubicBezTo>
                    <a:close/>
                  </a:path>
                </a:pathLst>
              </a:custGeom>
              <a:ln w="76200" cap="rnd">
                <a:solidFill>
                  <a:srgbClr val="7C3AED"/>
                </a:solidFill>
                <a:prstDash val="dash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932895" cy="16593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1122022" y="586166"/>
              <a:ext cx="2581957" cy="2540000"/>
            </a:xfrm>
            <a:custGeom>
              <a:avLst/>
              <a:gdLst/>
              <a:ahLst/>
              <a:cxnLst/>
              <a:rect r="r" b="b" t="t" l="l"/>
              <a:pathLst>
                <a:path h="2540000" w="2581957">
                  <a:moveTo>
                    <a:pt x="0" y="0"/>
                  </a:moveTo>
                  <a:lnTo>
                    <a:pt x="2581956" y="0"/>
                  </a:lnTo>
                  <a:lnTo>
                    <a:pt x="2581956" y="2540000"/>
                  </a:lnTo>
                  <a:lnTo>
                    <a:pt x="0" y="254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571500" y="6029392"/>
              <a:ext cx="3683000" cy="1202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09"/>
                </a:lnSpc>
              </a:pPr>
              <a:r>
                <a:rPr lang="en-US" sz="2999" spc="-164">
                  <a:solidFill>
                    <a:srgbClr val="01111D"/>
                  </a:solidFill>
                  <a:latin typeface="Poppins"/>
                  <a:ea typeface="Poppins"/>
                  <a:cs typeface="Poppins"/>
                  <a:sym typeface="Poppins"/>
                </a:rPr>
                <a:t>Elemento dentro de outro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63500" y="3595243"/>
              <a:ext cx="4699000" cy="66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3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5A231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Descendente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976265" y="4419049"/>
              <a:ext cx="2873469" cy="66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3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5A231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(espaço)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236403" y="2958559"/>
            <a:ext cx="3619500" cy="6290216"/>
            <a:chOff x="0" y="0"/>
            <a:chExt cx="4826000" cy="8386955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826000" cy="8386955"/>
              <a:chOff x="0" y="0"/>
              <a:chExt cx="953284" cy="165668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53284" cy="1656682"/>
              </a:xfrm>
              <a:custGeom>
                <a:avLst/>
                <a:gdLst/>
                <a:ahLst/>
                <a:cxnLst/>
                <a:rect r="r" b="b" t="t" l="l"/>
                <a:pathLst>
                  <a:path h="1656682" w="953284">
                    <a:moveTo>
                      <a:pt x="109086" y="0"/>
                    </a:moveTo>
                    <a:lnTo>
                      <a:pt x="844198" y="0"/>
                    </a:lnTo>
                    <a:cubicBezTo>
                      <a:pt x="873129" y="0"/>
                      <a:pt x="900876" y="11493"/>
                      <a:pt x="921333" y="31951"/>
                    </a:cubicBezTo>
                    <a:cubicBezTo>
                      <a:pt x="941791" y="52408"/>
                      <a:pt x="953284" y="80155"/>
                      <a:pt x="953284" y="109086"/>
                    </a:cubicBezTo>
                    <a:lnTo>
                      <a:pt x="953284" y="1547596"/>
                    </a:lnTo>
                    <a:cubicBezTo>
                      <a:pt x="953284" y="1576528"/>
                      <a:pt x="941791" y="1604274"/>
                      <a:pt x="921333" y="1624732"/>
                    </a:cubicBezTo>
                    <a:cubicBezTo>
                      <a:pt x="900876" y="1645190"/>
                      <a:pt x="873129" y="1656682"/>
                      <a:pt x="844198" y="1656682"/>
                    </a:cubicBezTo>
                    <a:lnTo>
                      <a:pt x="109086" y="1656682"/>
                    </a:lnTo>
                    <a:cubicBezTo>
                      <a:pt x="80155" y="1656682"/>
                      <a:pt x="52408" y="1645190"/>
                      <a:pt x="31951" y="1624732"/>
                    </a:cubicBezTo>
                    <a:cubicBezTo>
                      <a:pt x="11493" y="1604274"/>
                      <a:pt x="0" y="1576528"/>
                      <a:pt x="0" y="1547596"/>
                    </a:cubicBezTo>
                    <a:lnTo>
                      <a:pt x="0" y="109086"/>
                    </a:lnTo>
                    <a:cubicBezTo>
                      <a:pt x="0" y="80155"/>
                      <a:pt x="11493" y="52408"/>
                      <a:pt x="31951" y="31951"/>
                    </a:cubicBezTo>
                    <a:cubicBezTo>
                      <a:pt x="52408" y="11493"/>
                      <a:pt x="80155" y="0"/>
                      <a:pt x="109086" y="0"/>
                    </a:cubicBezTo>
                    <a:close/>
                  </a:path>
                </a:pathLst>
              </a:custGeom>
              <a:ln w="76200" cap="rnd">
                <a:solidFill>
                  <a:srgbClr val="BD3F97"/>
                </a:solidFill>
                <a:prstDash val="dash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953284" cy="16947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83086" y="6321557"/>
              <a:ext cx="3683000" cy="618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09"/>
                </a:lnSpc>
              </a:pPr>
              <a:r>
                <a:rPr lang="en-US" sz="2999" spc="-164">
                  <a:solidFill>
                    <a:srgbClr val="01111D"/>
                  </a:solidFill>
                  <a:latin typeface="Poppins"/>
                  <a:ea typeface="Poppins"/>
                  <a:cs typeface="Poppins"/>
                  <a:sym typeface="Poppins"/>
                </a:rPr>
                <a:t>Filho imediato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2978" y="3595308"/>
              <a:ext cx="4699000" cy="66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3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5A231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Filho direto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552124" y="4419114"/>
              <a:ext cx="1720709" cy="66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3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5A231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( &gt; )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1354611" y="586231"/>
              <a:ext cx="2139950" cy="2540000"/>
            </a:xfrm>
            <a:custGeom>
              <a:avLst/>
              <a:gdLst/>
              <a:ahLst/>
              <a:cxnLst/>
              <a:rect r="r" b="b" t="t" l="l"/>
              <a:pathLst>
                <a:path h="2540000" w="2139950">
                  <a:moveTo>
                    <a:pt x="0" y="0"/>
                  </a:moveTo>
                  <a:lnTo>
                    <a:pt x="2139950" y="0"/>
                  </a:lnTo>
                  <a:lnTo>
                    <a:pt x="2139950" y="2540000"/>
                  </a:lnTo>
                  <a:lnTo>
                    <a:pt x="0" y="254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438101" y="2958559"/>
            <a:ext cx="3619500" cy="6290216"/>
            <a:chOff x="0" y="0"/>
            <a:chExt cx="4826000" cy="8386955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4826000" cy="8386955"/>
              <a:chOff x="0" y="0"/>
              <a:chExt cx="953284" cy="165668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53284" cy="1656682"/>
              </a:xfrm>
              <a:custGeom>
                <a:avLst/>
                <a:gdLst/>
                <a:ahLst/>
                <a:cxnLst/>
                <a:rect r="r" b="b" t="t" l="l"/>
                <a:pathLst>
                  <a:path h="1656682" w="953284">
                    <a:moveTo>
                      <a:pt x="109086" y="0"/>
                    </a:moveTo>
                    <a:lnTo>
                      <a:pt x="844198" y="0"/>
                    </a:lnTo>
                    <a:cubicBezTo>
                      <a:pt x="873129" y="0"/>
                      <a:pt x="900876" y="11493"/>
                      <a:pt x="921333" y="31951"/>
                    </a:cubicBezTo>
                    <a:cubicBezTo>
                      <a:pt x="941791" y="52408"/>
                      <a:pt x="953284" y="80155"/>
                      <a:pt x="953284" y="109086"/>
                    </a:cubicBezTo>
                    <a:lnTo>
                      <a:pt x="953284" y="1547596"/>
                    </a:lnTo>
                    <a:cubicBezTo>
                      <a:pt x="953284" y="1576528"/>
                      <a:pt x="941791" y="1604274"/>
                      <a:pt x="921333" y="1624732"/>
                    </a:cubicBezTo>
                    <a:cubicBezTo>
                      <a:pt x="900876" y="1645190"/>
                      <a:pt x="873129" y="1656682"/>
                      <a:pt x="844198" y="1656682"/>
                    </a:cubicBezTo>
                    <a:lnTo>
                      <a:pt x="109086" y="1656682"/>
                    </a:lnTo>
                    <a:cubicBezTo>
                      <a:pt x="80155" y="1656682"/>
                      <a:pt x="52408" y="1645190"/>
                      <a:pt x="31951" y="1624732"/>
                    </a:cubicBezTo>
                    <a:cubicBezTo>
                      <a:pt x="11493" y="1604274"/>
                      <a:pt x="0" y="1576528"/>
                      <a:pt x="0" y="1547596"/>
                    </a:cubicBezTo>
                    <a:lnTo>
                      <a:pt x="0" y="109086"/>
                    </a:lnTo>
                    <a:cubicBezTo>
                      <a:pt x="0" y="80155"/>
                      <a:pt x="11493" y="52408"/>
                      <a:pt x="31951" y="31951"/>
                    </a:cubicBezTo>
                    <a:cubicBezTo>
                      <a:pt x="52408" y="11493"/>
                      <a:pt x="80155" y="0"/>
                      <a:pt x="109086" y="0"/>
                    </a:cubicBezTo>
                    <a:close/>
                  </a:path>
                </a:pathLst>
              </a:custGeom>
              <a:ln w="76200" cap="rnd">
                <a:solidFill>
                  <a:srgbClr val="FEA002"/>
                </a:solidFill>
                <a:prstDash val="dash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953284" cy="16947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594673" y="5737357"/>
              <a:ext cx="3683000" cy="1786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09"/>
                </a:lnSpc>
              </a:pPr>
              <a:r>
                <a:rPr lang="en-US" sz="2999" spc="-164" strike="noStrike" u="none">
                  <a:solidFill>
                    <a:srgbClr val="01111D"/>
                  </a:solidFill>
                  <a:latin typeface="Poppins"/>
                  <a:ea typeface="Poppins"/>
                  <a:cs typeface="Poppins"/>
                  <a:sym typeface="Poppins"/>
                </a:rPr>
                <a:t>Próximo elemento do mesmo nível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62457" y="3595308"/>
              <a:ext cx="4699000" cy="66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3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5A231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Irmão Adjacente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785257" y="4419114"/>
              <a:ext cx="1253400" cy="66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3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5A231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( + )</a:t>
              </a:r>
            </a:p>
          </p:txBody>
        </p:sp>
        <p:sp>
          <p:nvSpPr>
            <p:cNvPr name="Freeform 27" id="27"/>
            <p:cNvSpPr/>
            <p:nvPr/>
          </p:nvSpPr>
          <p:spPr>
            <a:xfrm flipH="false" flipV="false" rot="0">
              <a:off x="1114976" y="586231"/>
              <a:ext cx="2642393" cy="2540000"/>
            </a:xfrm>
            <a:custGeom>
              <a:avLst/>
              <a:gdLst/>
              <a:ahLst/>
              <a:cxnLst/>
              <a:rect r="r" b="b" t="t" l="l"/>
              <a:pathLst>
                <a:path h="2540000" w="2642393">
                  <a:moveTo>
                    <a:pt x="0" y="0"/>
                  </a:moveTo>
                  <a:lnTo>
                    <a:pt x="2642393" y="0"/>
                  </a:lnTo>
                  <a:lnTo>
                    <a:pt x="2642393" y="2540000"/>
                  </a:lnTo>
                  <a:lnTo>
                    <a:pt x="0" y="254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639800" y="2958559"/>
            <a:ext cx="3619500" cy="6290216"/>
            <a:chOff x="0" y="0"/>
            <a:chExt cx="4826000" cy="8386955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4826000" cy="8386955"/>
              <a:chOff x="0" y="0"/>
              <a:chExt cx="953284" cy="165668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953284" cy="1656682"/>
              </a:xfrm>
              <a:custGeom>
                <a:avLst/>
                <a:gdLst/>
                <a:ahLst/>
                <a:cxnLst/>
                <a:rect r="r" b="b" t="t" l="l"/>
                <a:pathLst>
                  <a:path h="1656682" w="953284">
                    <a:moveTo>
                      <a:pt x="109086" y="0"/>
                    </a:moveTo>
                    <a:lnTo>
                      <a:pt x="844198" y="0"/>
                    </a:lnTo>
                    <a:cubicBezTo>
                      <a:pt x="873129" y="0"/>
                      <a:pt x="900876" y="11493"/>
                      <a:pt x="921333" y="31951"/>
                    </a:cubicBezTo>
                    <a:cubicBezTo>
                      <a:pt x="941791" y="52408"/>
                      <a:pt x="953284" y="80155"/>
                      <a:pt x="953284" y="109086"/>
                    </a:cubicBezTo>
                    <a:lnTo>
                      <a:pt x="953284" y="1547596"/>
                    </a:lnTo>
                    <a:cubicBezTo>
                      <a:pt x="953284" y="1576528"/>
                      <a:pt x="941791" y="1604274"/>
                      <a:pt x="921333" y="1624732"/>
                    </a:cubicBezTo>
                    <a:cubicBezTo>
                      <a:pt x="900876" y="1645190"/>
                      <a:pt x="873129" y="1656682"/>
                      <a:pt x="844198" y="1656682"/>
                    </a:cubicBezTo>
                    <a:lnTo>
                      <a:pt x="109086" y="1656682"/>
                    </a:lnTo>
                    <a:cubicBezTo>
                      <a:pt x="80155" y="1656682"/>
                      <a:pt x="52408" y="1645190"/>
                      <a:pt x="31951" y="1624732"/>
                    </a:cubicBezTo>
                    <a:cubicBezTo>
                      <a:pt x="11493" y="1604274"/>
                      <a:pt x="0" y="1576528"/>
                      <a:pt x="0" y="1547596"/>
                    </a:cubicBezTo>
                    <a:lnTo>
                      <a:pt x="0" y="109086"/>
                    </a:lnTo>
                    <a:cubicBezTo>
                      <a:pt x="0" y="80155"/>
                      <a:pt x="11493" y="52408"/>
                      <a:pt x="31951" y="31951"/>
                    </a:cubicBezTo>
                    <a:cubicBezTo>
                      <a:pt x="52408" y="11493"/>
                      <a:pt x="80155" y="0"/>
                      <a:pt x="109086" y="0"/>
                    </a:cubicBezTo>
                    <a:close/>
                  </a:path>
                </a:pathLst>
              </a:custGeom>
              <a:ln w="76200" cap="rnd">
                <a:solidFill>
                  <a:srgbClr val="00B2FF"/>
                </a:solidFill>
                <a:prstDash val="dash"/>
                <a:round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953284" cy="16947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2" id="32"/>
            <p:cNvSpPr/>
            <p:nvPr/>
          </p:nvSpPr>
          <p:spPr>
            <a:xfrm flipH="false" flipV="false" rot="0">
              <a:off x="1143000" y="1306952"/>
              <a:ext cx="2540000" cy="1098558"/>
            </a:xfrm>
            <a:custGeom>
              <a:avLst/>
              <a:gdLst/>
              <a:ahLst/>
              <a:cxnLst/>
              <a:rect r="r" b="b" t="t" l="l"/>
              <a:pathLst>
                <a:path h="1098558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1098558"/>
                  </a:lnTo>
                  <a:lnTo>
                    <a:pt x="0" y="10985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606259" y="5737357"/>
              <a:ext cx="3683000" cy="1786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09"/>
                </a:lnSpc>
              </a:pPr>
              <a:r>
                <a:rPr lang="en-US" sz="2999" spc="-164">
                  <a:solidFill>
                    <a:srgbClr val="01111D"/>
                  </a:solidFill>
                  <a:latin typeface="Poppins"/>
                  <a:ea typeface="Poppins"/>
                  <a:cs typeface="Poppins"/>
                  <a:sym typeface="Poppins"/>
                </a:rPr>
                <a:t>Todos os irmão após o elemento.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61935" y="3595308"/>
              <a:ext cx="4699000" cy="66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3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5A231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Irmãos gerais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748191" y="4419114"/>
              <a:ext cx="1326489" cy="661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3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5A231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( ~ )</a:t>
              </a:r>
            </a:p>
          </p:txBody>
        </p:sp>
      </p:grpSp>
    </p:spTree>
  </p:cSld>
  <p:clrMapOvr>
    <a:masterClrMapping/>
  </p:clrMapOvr>
  <p:transition spd="med">
    <p:cover dir="d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9465" y="625560"/>
            <a:ext cx="1652419" cy="1625567"/>
          </a:xfrm>
          <a:custGeom>
            <a:avLst/>
            <a:gdLst/>
            <a:ahLst/>
            <a:cxnLst/>
            <a:rect r="r" b="b" t="t" l="l"/>
            <a:pathLst>
              <a:path h="1625567" w="1652419">
                <a:moveTo>
                  <a:pt x="0" y="0"/>
                </a:moveTo>
                <a:lnTo>
                  <a:pt x="1652419" y="0"/>
                </a:lnTo>
                <a:lnTo>
                  <a:pt x="1652419" y="1625567"/>
                </a:lnTo>
                <a:lnTo>
                  <a:pt x="0" y="16255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905102" y="5678846"/>
            <a:ext cx="5745077" cy="3151629"/>
            <a:chOff x="0" y="0"/>
            <a:chExt cx="7660103" cy="4202172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319921"/>
              <a:ext cx="7660103" cy="3882251"/>
              <a:chOff x="0" y="0"/>
              <a:chExt cx="1790919" cy="90766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790919" cy="907664"/>
              </a:xfrm>
              <a:custGeom>
                <a:avLst/>
                <a:gdLst/>
                <a:ahLst/>
                <a:cxnLst/>
                <a:rect r="r" b="b" t="t" l="l"/>
                <a:pathLst>
                  <a:path h="907664" w="1790919">
                    <a:moveTo>
                      <a:pt x="35295" y="0"/>
                    </a:moveTo>
                    <a:lnTo>
                      <a:pt x="1755625" y="0"/>
                    </a:lnTo>
                    <a:cubicBezTo>
                      <a:pt x="1764985" y="0"/>
                      <a:pt x="1773963" y="3719"/>
                      <a:pt x="1780582" y="10338"/>
                    </a:cubicBezTo>
                    <a:cubicBezTo>
                      <a:pt x="1787201" y="16957"/>
                      <a:pt x="1790919" y="25934"/>
                      <a:pt x="1790919" y="35295"/>
                    </a:cubicBezTo>
                    <a:lnTo>
                      <a:pt x="1790919" y="872369"/>
                    </a:lnTo>
                    <a:cubicBezTo>
                      <a:pt x="1790919" y="881730"/>
                      <a:pt x="1787201" y="890707"/>
                      <a:pt x="1780582" y="897326"/>
                    </a:cubicBezTo>
                    <a:cubicBezTo>
                      <a:pt x="1773963" y="903945"/>
                      <a:pt x="1764985" y="907664"/>
                      <a:pt x="1755625" y="907664"/>
                    </a:cubicBezTo>
                    <a:lnTo>
                      <a:pt x="35295" y="907664"/>
                    </a:lnTo>
                    <a:cubicBezTo>
                      <a:pt x="25934" y="907664"/>
                      <a:pt x="16957" y="903945"/>
                      <a:pt x="10338" y="897326"/>
                    </a:cubicBezTo>
                    <a:cubicBezTo>
                      <a:pt x="3719" y="890707"/>
                      <a:pt x="0" y="881730"/>
                      <a:pt x="0" y="872369"/>
                    </a:cubicBezTo>
                    <a:lnTo>
                      <a:pt x="0" y="35295"/>
                    </a:lnTo>
                    <a:cubicBezTo>
                      <a:pt x="0" y="25934"/>
                      <a:pt x="3719" y="16957"/>
                      <a:pt x="10338" y="10338"/>
                    </a:cubicBezTo>
                    <a:cubicBezTo>
                      <a:pt x="16957" y="3719"/>
                      <a:pt x="25934" y="0"/>
                      <a:pt x="35295" y="0"/>
                    </a:cubicBezTo>
                    <a:close/>
                  </a:path>
                </a:pathLst>
              </a:custGeom>
              <a:solidFill>
                <a:srgbClr val="202429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790919" cy="9457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1472045" cy="997113"/>
              <a:chOff x="0" y="0"/>
              <a:chExt cx="344162" cy="23312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44162" cy="233123"/>
              </a:xfrm>
              <a:custGeom>
                <a:avLst/>
                <a:gdLst/>
                <a:ahLst/>
                <a:cxnLst/>
                <a:rect r="r" b="b" t="t" l="l"/>
                <a:pathLst>
                  <a:path h="233123" w="344162">
                    <a:moveTo>
                      <a:pt x="82945" y="0"/>
                    </a:moveTo>
                    <a:lnTo>
                      <a:pt x="261217" y="0"/>
                    </a:lnTo>
                    <a:cubicBezTo>
                      <a:pt x="307026" y="0"/>
                      <a:pt x="344162" y="37136"/>
                      <a:pt x="344162" y="82945"/>
                    </a:cubicBezTo>
                    <a:lnTo>
                      <a:pt x="344162" y="150179"/>
                    </a:lnTo>
                    <a:cubicBezTo>
                      <a:pt x="344162" y="195988"/>
                      <a:pt x="307026" y="233123"/>
                      <a:pt x="261217" y="233123"/>
                    </a:cubicBezTo>
                    <a:lnTo>
                      <a:pt x="82945" y="233123"/>
                    </a:lnTo>
                    <a:cubicBezTo>
                      <a:pt x="37136" y="233123"/>
                      <a:pt x="0" y="195988"/>
                      <a:pt x="0" y="150179"/>
                    </a:cubicBezTo>
                    <a:lnTo>
                      <a:pt x="0" y="82945"/>
                    </a:lnTo>
                    <a:cubicBezTo>
                      <a:pt x="0" y="37136"/>
                      <a:pt x="37136" y="0"/>
                      <a:pt x="82945" y="0"/>
                    </a:cubicBez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344162" cy="2712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263835"/>
              <a:ext cx="1472045" cy="733278"/>
              <a:chOff x="0" y="0"/>
              <a:chExt cx="344162" cy="17143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44162" cy="171439"/>
              </a:xfrm>
              <a:custGeom>
                <a:avLst/>
                <a:gdLst/>
                <a:ahLst/>
                <a:cxnLst/>
                <a:rect r="r" b="b" t="t" l="l"/>
                <a:pathLst>
                  <a:path h="171439" w="344162">
                    <a:moveTo>
                      <a:pt x="0" y="0"/>
                    </a:moveTo>
                    <a:lnTo>
                      <a:pt x="344162" y="0"/>
                    </a:lnTo>
                    <a:lnTo>
                      <a:pt x="344162" y="171439"/>
                    </a:lnTo>
                    <a:lnTo>
                      <a:pt x="0" y="171439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344162" cy="2095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64546" y="95380"/>
              <a:ext cx="1142954" cy="7111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F5FFF9"/>
                  </a:solidFill>
                  <a:latin typeface="Poppins"/>
                  <a:ea typeface="Poppins"/>
                  <a:cs typeface="Poppins"/>
                  <a:sym typeface="Poppins"/>
                </a:rPr>
                <a:t>CSS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963342" y="1307028"/>
              <a:ext cx="6206680" cy="2120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60"/>
                </a:lnSpc>
              </a:pPr>
              <a:r>
                <a:rPr lang="en-US" sz="3042" spc="252">
                  <a:solidFill>
                    <a:srgbClr val="FEA002"/>
                  </a:solidFill>
                  <a:latin typeface="Roboto"/>
                  <a:ea typeface="Roboto"/>
                  <a:cs typeface="Roboto"/>
                  <a:sym typeface="Roboto"/>
                </a:rPr>
                <a:t>div p 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{</a:t>
              </a:r>
            </a:p>
            <a:p>
              <a:pPr algn="l">
                <a:lnSpc>
                  <a:spcPts val="4260"/>
                </a:lnSpc>
              </a:pP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     </a:t>
              </a:r>
              <a:r>
                <a:rPr lang="en-US" sz="3042" spc="252">
                  <a:solidFill>
                    <a:srgbClr val="BFECAC"/>
                  </a:solidFill>
                  <a:latin typeface="Roboto"/>
                  <a:ea typeface="Roboto"/>
                  <a:cs typeface="Roboto"/>
                  <a:sym typeface="Roboto"/>
                </a:rPr>
                <a:t>color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: </a:t>
              </a:r>
              <a:r>
                <a:rPr lang="en-US" sz="3042" spc="252">
                  <a:solidFill>
                    <a:srgbClr val="74BDCE"/>
                  </a:solidFill>
                  <a:latin typeface="Roboto"/>
                  <a:ea typeface="Roboto"/>
                  <a:cs typeface="Roboto"/>
                  <a:sym typeface="Roboto"/>
                </a:rPr>
                <a:t>blue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;</a:t>
              </a:r>
            </a:p>
            <a:p>
              <a:pPr algn="l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}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905102" y="211429"/>
            <a:ext cx="6009185" cy="5467416"/>
          </a:xfrm>
          <a:custGeom>
            <a:avLst/>
            <a:gdLst/>
            <a:ahLst/>
            <a:cxnLst/>
            <a:rect r="r" b="b" t="t" l="l"/>
            <a:pathLst>
              <a:path h="5467416" w="6009185">
                <a:moveTo>
                  <a:pt x="0" y="0"/>
                </a:moveTo>
                <a:lnTo>
                  <a:pt x="6009185" y="0"/>
                </a:lnTo>
                <a:lnTo>
                  <a:pt x="6009185" y="5467417"/>
                </a:lnTo>
                <a:lnTo>
                  <a:pt x="0" y="54674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5047" t="-5149" r="-22504" b="-98093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741157" y="520785"/>
            <a:ext cx="5690664" cy="95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64"/>
              </a:lnSpc>
            </a:pPr>
            <a:r>
              <a:rPr lang="en-US" b="true" sz="5621">
                <a:solidFill>
                  <a:srgbClr val="5A2312"/>
                </a:solidFill>
                <a:latin typeface="Poppins Bold"/>
                <a:ea typeface="Poppins Bold"/>
                <a:cs typeface="Poppins Bold"/>
                <a:sym typeface="Poppins Bold"/>
              </a:rPr>
              <a:t>De</a:t>
            </a:r>
            <a:r>
              <a:rPr lang="en-US" b="true" sz="5621">
                <a:solidFill>
                  <a:srgbClr val="5A2312"/>
                </a:solidFill>
                <a:latin typeface="Poppins Bold"/>
                <a:ea typeface="Poppins Bold"/>
                <a:cs typeface="Poppins Bold"/>
                <a:sym typeface="Poppins Bold"/>
              </a:rPr>
              <a:t>scendente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32863" y="1624344"/>
            <a:ext cx="6311137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95"/>
              </a:lnSpc>
            </a:pPr>
            <a:r>
              <a:rPr lang="en-US" sz="3500" spc="-192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Seleciona o elemento que está dentro de outro elemento.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496570" y="9019065"/>
            <a:ext cx="7815676" cy="890766"/>
            <a:chOff x="0" y="0"/>
            <a:chExt cx="10420901" cy="1187689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285141" y="61729"/>
              <a:ext cx="10135760" cy="1064231"/>
              <a:chOff x="0" y="0"/>
              <a:chExt cx="2002125" cy="210218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002125" cy="210218"/>
              </a:xfrm>
              <a:custGeom>
                <a:avLst/>
                <a:gdLst/>
                <a:ahLst/>
                <a:cxnLst/>
                <a:rect r="r" b="b" t="t" l="l"/>
                <a:pathLst>
                  <a:path h="210218" w="2002125">
                    <a:moveTo>
                      <a:pt x="31571" y="0"/>
                    </a:moveTo>
                    <a:lnTo>
                      <a:pt x="1970554" y="0"/>
                    </a:lnTo>
                    <a:cubicBezTo>
                      <a:pt x="1987990" y="0"/>
                      <a:pt x="2002125" y="14135"/>
                      <a:pt x="2002125" y="31571"/>
                    </a:cubicBezTo>
                    <a:lnTo>
                      <a:pt x="2002125" y="178647"/>
                    </a:lnTo>
                    <a:cubicBezTo>
                      <a:pt x="2002125" y="196083"/>
                      <a:pt x="1987990" y="210218"/>
                      <a:pt x="1970554" y="210218"/>
                    </a:cubicBezTo>
                    <a:lnTo>
                      <a:pt x="31571" y="210218"/>
                    </a:lnTo>
                    <a:cubicBezTo>
                      <a:pt x="14135" y="210218"/>
                      <a:pt x="0" y="196083"/>
                      <a:pt x="0" y="178647"/>
                    </a:cubicBezTo>
                    <a:lnTo>
                      <a:pt x="0" y="31571"/>
                    </a:lnTo>
                    <a:cubicBezTo>
                      <a:pt x="0" y="14135"/>
                      <a:pt x="14135" y="0"/>
                      <a:pt x="31571" y="0"/>
                    </a:cubicBezTo>
                    <a:close/>
                  </a:path>
                </a:pathLst>
              </a:custGeom>
              <a:solidFill>
                <a:srgbClr val="BFECAC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2002125" cy="2483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90665" cy="1187689"/>
            </a:xfrm>
            <a:custGeom>
              <a:avLst/>
              <a:gdLst/>
              <a:ahLst/>
              <a:cxnLst/>
              <a:rect r="r" b="b" t="t" l="l"/>
              <a:pathLst>
                <a:path h="1187689" w="1190665">
                  <a:moveTo>
                    <a:pt x="0" y="0"/>
                  </a:moveTo>
                  <a:lnTo>
                    <a:pt x="1190665" y="0"/>
                  </a:lnTo>
                  <a:lnTo>
                    <a:pt x="1190665" y="1187689"/>
                  </a:lnTo>
                  <a:lnTo>
                    <a:pt x="0" y="1187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1752793" y="325224"/>
              <a:ext cx="8243491" cy="480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1"/>
                </a:lnSpc>
              </a:pPr>
              <a:r>
                <a:rPr lang="en-US" b="true" sz="2136" spc="111">
                  <a:solidFill>
                    <a:srgbClr val="17320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Seleciona todos os &lt;p&gt; dentro de &lt;div&gt;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785212" y="711602"/>
            <a:ext cx="5156200" cy="61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44"/>
              </a:lnSpc>
            </a:pPr>
            <a:r>
              <a:rPr lang="en-US" b="true" sz="3621">
                <a:solidFill>
                  <a:srgbClr val="5A2312"/>
                </a:solidFill>
                <a:latin typeface="Poppins Bold"/>
                <a:ea typeface="Poppins Bold"/>
                <a:cs typeface="Poppins Bold"/>
                <a:sym typeface="Poppins Bold"/>
              </a:rPr>
              <a:t>(espaço)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89465" y="3264023"/>
            <a:ext cx="7971759" cy="6439660"/>
            <a:chOff x="0" y="0"/>
            <a:chExt cx="10629012" cy="8586214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376805"/>
              <a:ext cx="10629012" cy="8209409"/>
              <a:chOff x="0" y="0"/>
              <a:chExt cx="2137363" cy="165081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137363" cy="1650811"/>
              </a:xfrm>
              <a:custGeom>
                <a:avLst/>
                <a:gdLst/>
                <a:ahLst/>
                <a:cxnLst/>
                <a:rect r="r" b="b" t="t" l="l"/>
                <a:pathLst>
                  <a:path h="1650811" w="2137363">
                    <a:moveTo>
                      <a:pt x="31482" y="0"/>
                    </a:moveTo>
                    <a:lnTo>
                      <a:pt x="2105881" y="0"/>
                    </a:lnTo>
                    <a:cubicBezTo>
                      <a:pt x="2114231" y="0"/>
                      <a:pt x="2122238" y="3317"/>
                      <a:pt x="2128142" y="9221"/>
                    </a:cubicBezTo>
                    <a:cubicBezTo>
                      <a:pt x="2134046" y="15125"/>
                      <a:pt x="2137363" y="23132"/>
                      <a:pt x="2137363" y="31482"/>
                    </a:cubicBezTo>
                    <a:lnTo>
                      <a:pt x="2137363" y="1619329"/>
                    </a:lnTo>
                    <a:cubicBezTo>
                      <a:pt x="2137363" y="1636716"/>
                      <a:pt x="2123268" y="1650811"/>
                      <a:pt x="2105881" y="1650811"/>
                    </a:cubicBezTo>
                    <a:lnTo>
                      <a:pt x="31482" y="1650811"/>
                    </a:lnTo>
                    <a:cubicBezTo>
                      <a:pt x="23132" y="1650811"/>
                      <a:pt x="15125" y="1647494"/>
                      <a:pt x="9221" y="1641590"/>
                    </a:cubicBezTo>
                    <a:cubicBezTo>
                      <a:pt x="3317" y="1635686"/>
                      <a:pt x="0" y="1627678"/>
                      <a:pt x="0" y="1619329"/>
                    </a:cubicBezTo>
                    <a:lnTo>
                      <a:pt x="0" y="31482"/>
                    </a:lnTo>
                    <a:cubicBezTo>
                      <a:pt x="0" y="14095"/>
                      <a:pt x="14095" y="0"/>
                      <a:pt x="31482" y="0"/>
                    </a:cubicBezTo>
                    <a:close/>
                  </a:path>
                </a:pathLst>
              </a:custGeom>
              <a:ln w="38100" cap="rnd">
                <a:solidFill>
                  <a:srgbClr val="4E259A"/>
                </a:solidFill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2137363" cy="1688911"/>
              </a:xfrm>
              <a:prstGeom prst="rect">
                <a:avLst/>
              </a:prstGeom>
            </p:spPr>
            <p:txBody>
              <a:bodyPr anchor="ctr" rtlCol="false" tIns="51715" lIns="51715" bIns="51715" rIns="51715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112349" y="1521995"/>
              <a:ext cx="8404315" cy="4449358"/>
              <a:chOff x="0" y="0"/>
              <a:chExt cx="1690004" cy="894711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690004" cy="894711"/>
              </a:xfrm>
              <a:custGeom>
                <a:avLst/>
                <a:gdLst/>
                <a:ahLst/>
                <a:cxnLst/>
                <a:rect r="r" b="b" t="t" l="l"/>
                <a:pathLst>
                  <a:path h="894711" w="1690004">
                    <a:moveTo>
                      <a:pt x="39815" y="0"/>
                    </a:moveTo>
                    <a:lnTo>
                      <a:pt x="1650189" y="0"/>
                    </a:lnTo>
                    <a:cubicBezTo>
                      <a:pt x="1672178" y="0"/>
                      <a:pt x="1690004" y="17826"/>
                      <a:pt x="1690004" y="39815"/>
                    </a:cubicBezTo>
                    <a:lnTo>
                      <a:pt x="1690004" y="854896"/>
                    </a:lnTo>
                    <a:cubicBezTo>
                      <a:pt x="1690004" y="876885"/>
                      <a:pt x="1672178" y="894711"/>
                      <a:pt x="1650189" y="894711"/>
                    </a:cubicBezTo>
                    <a:lnTo>
                      <a:pt x="39815" y="894711"/>
                    </a:lnTo>
                    <a:cubicBezTo>
                      <a:pt x="17826" y="894711"/>
                      <a:pt x="0" y="876885"/>
                      <a:pt x="0" y="854896"/>
                    </a:cubicBezTo>
                    <a:lnTo>
                      <a:pt x="0" y="39815"/>
                    </a:lnTo>
                    <a:cubicBezTo>
                      <a:pt x="0" y="17826"/>
                      <a:pt x="17826" y="0"/>
                      <a:pt x="39815" y="0"/>
                    </a:cubicBezTo>
                    <a:close/>
                  </a:path>
                </a:pathLst>
              </a:custGeom>
              <a:ln w="38100" cap="rnd">
                <a:solidFill>
                  <a:srgbClr val="006AFF"/>
                </a:solidFill>
                <a:prstDash val="solid"/>
                <a:round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1690004" cy="932811"/>
              </a:xfrm>
              <a:prstGeom prst="rect">
                <a:avLst/>
              </a:prstGeom>
            </p:spPr>
            <p:txBody>
              <a:bodyPr anchor="ctr" rtlCol="false" tIns="51715" lIns="51715" bIns="51715" rIns="51715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4318842" y="0"/>
              <a:ext cx="2120812" cy="873276"/>
              <a:chOff x="0" y="0"/>
              <a:chExt cx="426469" cy="175605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426469" cy="175605"/>
              </a:xfrm>
              <a:custGeom>
                <a:avLst/>
                <a:gdLst/>
                <a:ahLst/>
                <a:cxnLst/>
                <a:rect r="r" b="b" t="t" l="l"/>
                <a:pathLst>
                  <a:path h="175605" w="426469">
                    <a:moveTo>
                      <a:pt x="87802" y="0"/>
                    </a:moveTo>
                    <a:lnTo>
                      <a:pt x="338667" y="0"/>
                    </a:lnTo>
                    <a:cubicBezTo>
                      <a:pt x="387159" y="0"/>
                      <a:pt x="426469" y="39311"/>
                      <a:pt x="426469" y="87802"/>
                    </a:cubicBezTo>
                    <a:lnTo>
                      <a:pt x="426469" y="87802"/>
                    </a:lnTo>
                    <a:cubicBezTo>
                      <a:pt x="426469" y="111089"/>
                      <a:pt x="417219" y="133422"/>
                      <a:pt x="400752" y="149888"/>
                    </a:cubicBezTo>
                    <a:cubicBezTo>
                      <a:pt x="384286" y="166354"/>
                      <a:pt x="361953" y="175605"/>
                      <a:pt x="338667" y="175605"/>
                    </a:cubicBezTo>
                    <a:lnTo>
                      <a:pt x="87802" y="175605"/>
                    </a:lnTo>
                    <a:cubicBezTo>
                      <a:pt x="39311" y="175605"/>
                      <a:pt x="0" y="136294"/>
                      <a:pt x="0" y="87802"/>
                    </a:cubicBezTo>
                    <a:lnTo>
                      <a:pt x="0" y="87802"/>
                    </a:lnTo>
                    <a:cubicBezTo>
                      <a:pt x="0" y="39311"/>
                      <a:pt x="39311" y="0"/>
                      <a:pt x="87802" y="0"/>
                    </a:cubicBezTo>
                    <a:close/>
                  </a:path>
                </a:pathLst>
              </a:custGeom>
              <a:solidFill>
                <a:srgbClr val="761989"/>
              </a:solidFill>
              <a:ln cap="sq">
                <a:noFill/>
                <a:prstDash val="dash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66675"/>
                <a:ext cx="426469" cy="242280"/>
              </a:xfrm>
              <a:prstGeom prst="rect">
                <a:avLst/>
              </a:prstGeom>
            </p:spPr>
            <p:txBody>
              <a:bodyPr anchor="ctr" rtlCol="false" tIns="51715" lIns="51715" bIns="51715" rIns="51715"/>
              <a:lstStyle/>
              <a:p>
                <a:pPr algn="ctr">
                  <a:lnSpc>
                    <a:spcPts val="4199"/>
                  </a:lnSpc>
                </a:pPr>
                <a:r>
                  <a:rPr lang="en-US" sz="29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div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3914370" y="1265293"/>
              <a:ext cx="2120812" cy="873276"/>
              <a:chOff x="0" y="0"/>
              <a:chExt cx="426469" cy="175605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426469" cy="175605"/>
              </a:xfrm>
              <a:custGeom>
                <a:avLst/>
                <a:gdLst/>
                <a:ahLst/>
                <a:cxnLst/>
                <a:rect r="r" b="b" t="t" l="l"/>
                <a:pathLst>
                  <a:path h="175605" w="426469">
                    <a:moveTo>
                      <a:pt x="87802" y="0"/>
                    </a:moveTo>
                    <a:lnTo>
                      <a:pt x="338667" y="0"/>
                    </a:lnTo>
                    <a:cubicBezTo>
                      <a:pt x="387159" y="0"/>
                      <a:pt x="426469" y="39311"/>
                      <a:pt x="426469" y="87802"/>
                    </a:cubicBezTo>
                    <a:lnTo>
                      <a:pt x="426469" y="87802"/>
                    </a:lnTo>
                    <a:cubicBezTo>
                      <a:pt x="426469" y="111089"/>
                      <a:pt x="417219" y="133422"/>
                      <a:pt x="400752" y="149888"/>
                    </a:cubicBezTo>
                    <a:cubicBezTo>
                      <a:pt x="384286" y="166354"/>
                      <a:pt x="361953" y="175605"/>
                      <a:pt x="338667" y="175605"/>
                    </a:cubicBezTo>
                    <a:lnTo>
                      <a:pt x="87802" y="175605"/>
                    </a:lnTo>
                    <a:cubicBezTo>
                      <a:pt x="39311" y="175605"/>
                      <a:pt x="0" y="136294"/>
                      <a:pt x="0" y="87802"/>
                    </a:cubicBezTo>
                    <a:lnTo>
                      <a:pt x="0" y="87802"/>
                    </a:lnTo>
                    <a:cubicBezTo>
                      <a:pt x="0" y="39311"/>
                      <a:pt x="39311" y="0"/>
                      <a:pt x="87802" y="0"/>
                    </a:cubicBezTo>
                    <a:close/>
                  </a:path>
                </a:pathLst>
              </a:custGeom>
              <a:solidFill>
                <a:srgbClr val="4E79DE"/>
              </a:solidFill>
              <a:ln cap="sq">
                <a:noFill/>
                <a:prstDash val="dash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57150"/>
                <a:ext cx="426469" cy="232755"/>
              </a:xfrm>
              <a:prstGeom prst="rect">
                <a:avLst/>
              </a:prstGeom>
            </p:spPr>
            <p:txBody>
              <a:bodyPr anchor="ctr" rtlCol="false" tIns="51715" lIns="51715" bIns="51715" rIns="51715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  <a:r>
                  <a:rPr lang="en-US" sz="2599" strike="noStrike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section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4974777" y="3141027"/>
              <a:ext cx="3999454" cy="2608174"/>
              <a:chOff x="0" y="0"/>
              <a:chExt cx="804241" cy="524472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04241" cy="524472"/>
              </a:xfrm>
              <a:custGeom>
                <a:avLst/>
                <a:gdLst/>
                <a:ahLst/>
                <a:cxnLst/>
                <a:rect r="r" b="b" t="t" l="l"/>
                <a:pathLst>
                  <a:path h="524472" w="804241">
                    <a:moveTo>
                      <a:pt x="83666" y="0"/>
                    </a:moveTo>
                    <a:lnTo>
                      <a:pt x="720575" y="0"/>
                    </a:lnTo>
                    <a:cubicBezTo>
                      <a:pt x="742764" y="0"/>
                      <a:pt x="764045" y="8815"/>
                      <a:pt x="779735" y="24505"/>
                    </a:cubicBezTo>
                    <a:cubicBezTo>
                      <a:pt x="795426" y="40196"/>
                      <a:pt x="804241" y="61477"/>
                      <a:pt x="804241" y="83666"/>
                    </a:cubicBezTo>
                    <a:lnTo>
                      <a:pt x="804241" y="440805"/>
                    </a:lnTo>
                    <a:cubicBezTo>
                      <a:pt x="804241" y="487013"/>
                      <a:pt x="766782" y="524472"/>
                      <a:pt x="720575" y="524472"/>
                    </a:cubicBezTo>
                    <a:lnTo>
                      <a:pt x="83666" y="524472"/>
                    </a:lnTo>
                    <a:cubicBezTo>
                      <a:pt x="61477" y="524472"/>
                      <a:pt x="40196" y="515657"/>
                      <a:pt x="24505" y="499966"/>
                    </a:cubicBezTo>
                    <a:cubicBezTo>
                      <a:pt x="8815" y="484276"/>
                      <a:pt x="0" y="462995"/>
                      <a:pt x="0" y="440805"/>
                    </a:cubicBezTo>
                    <a:lnTo>
                      <a:pt x="0" y="83666"/>
                    </a:lnTo>
                    <a:cubicBezTo>
                      <a:pt x="0" y="61477"/>
                      <a:pt x="8815" y="40196"/>
                      <a:pt x="24505" y="24505"/>
                    </a:cubicBezTo>
                    <a:cubicBezTo>
                      <a:pt x="40196" y="8815"/>
                      <a:pt x="61477" y="0"/>
                      <a:pt x="83666" y="0"/>
                    </a:cubicBezTo>
                    <a:close/>
                  </a:path>
                </a:pathLst>
              </a:custGeom>
              <a:ln w="38100" cap="rnd">
                <a:solidFill>
                  <a:srgbClr val="F661A1"/>
                </a:solidFill>
                <a:prstDash val="solid"/>
                <a:round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804241" cy="562572"/>
              </a:xfrm>
              <a:prstGeom prst="rect">
                <a:avLst/>
              </a:prstGeom>
            </p:spPr>
            <p:txBody>
              <a:bodyPr anchor="ctr" rtlCol="false" tIns="51715" lIns="51715" bIns="51715" rIns="51715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5914097" y="2522084"/>
              <a:ext cx="2120812" cy="873276"/>
              <a:chOff x="0" y="0"/>
              <a:chExt cx="426469" cy="175605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426469" cy="175605"/>
              </a:xfrm>
              <a:custGeom>
                <a:avLst/>
                <a:gdLst/>
                <a:ahLst/>
                <a:cxnLst/>
                <a:rect r="r" b="b" t="t" l="l"/>
                <a:pathLst>
                  <a:path h="175605" w="426469">
                    <a:moveTo>
                      <a:pt x="87802" y="0"/>
                    </a:moveTo>
                    <a:lnTo>
                      <a:pt x="338667" y="0"/>
                    </a:lnTo>
                    <a:cubicBezTo>
                      <a:pt x="387159" y="0"/>
                      <a:pt x="426469" y="39311"/>
                      <a:pt x="426469" y="87802"/>
                    </a:cubicBezTo>
                    <a:lnTo>
                      <a:pt x="426469" y="87802"/>
                    </a:lnTo>
                    <a:cubicBezTo>
                      <a:pt x="426469" y="111089"/>
                      <a:pt x="417219" y="133422"/>
                      <a:pt x="400752" y="149888"/>
                    </a:cubicBezTo>
                    <a:cubicBezTo>
                      <a:pt x="384286" y="166354"/>
                      <a:pt x="361953" y="175605"/>
                      <a:pt x="338667" y="175605"/>
                    </a:cubicBezTo>
                    <a:lnTo>
                      <a:pt x="87802" y="175605"/>
                    </a:lnTo>
                    <a:cubicBezTo>
                      <a:pt x="39311" y="175605"/>
                      <a:pt x="0" y="136294"/>
                      <a:pt x="0" y="87802"/>
                    </a:cubicBezTo>
                    <a:lnTo>
                      <a:pt x="0" y="87802"/>
                    </a:lnTo>
                    <a:cubicBezTo>
                      <a:pt x="0" y="39311"/>
                      <a:pt x="39311" y="0"/>
                      <a:pt x="87802" y="0"/>
                    </a:cubicBezTo>
                    <a:close/>
                  </a:path>
                </a:pathLst>
              </a:custGeom>
              <a:solidFill>
                <a:srgbClr val="F661A1"/>
              </a:solidFill>
              <a:ln cap="sq">
                <a:noFill/>
                <a:prstDash val="dash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57150"/>
                <a:ext cx="426469" cy="232755"/>
              </a:xfrm>
              <a:prstGeom prst="rect">
                <a:avLst/>
              </a:prstGeom>
            </p:spPr>
            <p:txBody>
              <a:bodyPr anchor="ctr" rtlCol="false" tIns="51715" lIns="51715" bIns="51715" rIns="51715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  <a:r>
                  <a:rPr lang="en-US" sz="2599" strike="noStrike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article</a:t>
                </a: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1931477" y="3141027"/>
              <a:ext cx="2653918" cy="1593017"/>
              <a:chOff x="0" y="0"/>
              <a:chExt cx="1690004" cy="1014427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690004" cy="1014427"/>
              </a:xfrm>
              <a:custGeom>
                <a:avLst/>
                <a:gdLst/>
                <a:ahLst/>
                <a:cxnLst/>
                <a:rect r="r" b="b" t="t" l="l"/>
                <a:pathLst>
                  <a:path h="1014427" w="1690004">
                    <a:moveTo>
                      <a:pt x="126085" y="0"/>
                    </a:moveTo>
                    <a:lnTo>
                      <a:pt x="1563919" y="0"/>
                    </a:lnTo>
                    <a:cubicBezTo>
                      <a:pt x="1633554" y="0"/>
                      <a:pt x="1690004" y="56450"/>
                      <a:pt x="1690004" y="126085"/>
                    </a:cubicBezTo>
                    <a:lnTo>
                      <a:pt x="1690004" y="888342"/>
                    </a:lnTo>
                    <a:cubicBezTo>
                      <a:pt x="1690004" y="957976"/>
                      <a:pt x="1633554" y="1014427"/>
                      <a:pt x="1563919" y="1014427"/>
                    </a:cubicBezTo>
                    <a:lnTo>
                      <a:pt x="126085" y="1014427"/>
                    </a:lnTo>
                    <a:cubicBezTo>
                      <a:pt x="92645" y="1014427"/>
                      <a:pt x="60575" y="1001143"/>
                      <a:pt x="36929" y="977497"/>
                    </a:cubicBezTo>
                    <a:cubicBezTo>
                      <a:pt x="13284" y="953852"/>
                      <a:pt x="0" y="921781"/>
                      <a:pt x="0" y="888342"/>
                    </a:cubicBezTo>
                    <a:lnTo>
                      <a:pt x="0" y="126085"/>
                    </a:lnTo>
                    <a:cubicBezTo>
                      <a:pt x="0" y="56450"/>
                      <a:pt x="56450" y="0"/>
                      <a:pt x="126085" y="0"/>
                    </a:cubicBezTo>
                    <a:close/>
                  </a:path>
                </a:pathLst>
              </a:custGeom>
              <a:ln w="38100" cap="rnd">
                <a:solidFill>
                  <a:srgbClr val="006AFF"/>
                </a:solidFill>
                <a:prstDash val="solid"/>
                <a:round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47625"/>
                <a:ext cx="1690004" cy="10620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Poetsen"/>
                    <a:ea typeface="Poetsen"/>
                    <a:cs typeface="Poetsen"/>
                    <a:sym typeface="Poetsen"/>
                  </a:rPr>
                  <a:t>Texto 1 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2634668" y="2522084"/>
              <a:ext cx="1247537" cy="873276"/>
              <a:chOff x="0" y="0"/>
              <a:chExt cx="250864" cy="175605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50864" cy="175605"/>
              </a:xfrm>
              <a:custGeom>
                <a:avLst/>
                <a:gdLst/>
                <a:ahLst/>
                <a:cxnLst/>
                <a:rect r="r" b="b" t="t" l="l"/>
                <a:pathLst>
                  <a:path h="175605" w="250864">
                    <a:moveTo>
                      <a:pt x="87802" y="0"/>
                    </a:moveTo>
                    <a:lnTo>
                      <a:pt x="163062" y="0"/>
                    </a:lnTo>
                    <a:cubicBezTo>
                      <a:pt x="211554" y="0"/>
                      <a:pt x="250864" y="39311"/>
                      <a:pt x="250864" y="87802"/>
                    </a:cubicBezTo>
                    <a:lnTo>
                      <a:pt x="250864" y="87802"/>
                    </a:lnTo>
                    <a:cubicBezTo>
                      <a:pt x="250864" y="111089"/>
                      <a:pt x="241614" y="133422"/>
                      <a:pt x="225147" y="149888"/>
                    </a:cubicBezTo>
                    <a:cubicBezTo>
                      <a:pt x="208681" y="166354"/>
                      <a:pt x="186348" y="175605"/>
                      <a:pt x="163062" y="175605"/>
                    </a:cubicBezTo>
                    <a:lnTo>
                      <a:pt x="87802" y="175605"/>
                    </a:lnTo>
                    <a:cubicBezTo>
                      <a:pt x="39311" y="175605"/>
                      <a:pt x="0" y="136294"/>
                      <a:pt x="0" y="87802"/>
                    </a:cubicBezTo>
                    <a:lnTo>
                      <a:pt x="0" y="87802"/>
                    </a:lnTo>
                    <a:cubicBezTo>
                      <a:pt x="0" y="39311"/>
                      <a:pt x="39311" y="0"/>
                      <a:pt x="87802" y="0"/>
                    </a:cubicBezTo>
                    <a:close/>
                  </a:path>
                </a:pathLst>
              </a:custGeom>
              <a:solidFill>
                <a:srgbClr val="4C78DF"/>
              </a:solidFill>
              <a:ln cap="sq">
                <a:noFill/>
                <a:prstDash val="dash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57150"/>
                <a:ext cx="250864" cy="23275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  <a:r>
                  <a:rPr lang="en-US" sz="2599" strike="noStrike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</a:t>
                </a: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5647545" y="4176482"/>
              <a:ext cx="2653918" cy="1137411"/>
              <a:chOff x="0" y="0"/>
              <a:chExt cx="1690004" cy="724299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90004" cy="724299"/>
              </a:xfrm>
              <a:custGeom>
                <a:avLst/>
                <a:gdLst/>
                <a:ahLst/>
                <a:cxnLst/>
                <a:rect r="r" b="b" t="t" l="l"/>
                <a:pathLst>
                  <a:path h="724299" w="1690004">
                    <a:moveTo>
                      <a:pt x="76415" y="0"/>
                    </a:moveTo>
                    <a:lnTo>
                      <a:pt x="1613589" y="0"/>
                    </a:lnTo>
                    <a:cubicBezTo>
                      <a:pt x="1655792" y="0"/>
                      <a:pt x="1690004" y="34212"/>
                      <a:pt x="1690004" y="76415"/>
                    </a:cubicBezTo>
                    <a:lnTo>
                      <a:pt x="1690004" y="647884"/>
                    </a:lnTo>
                    <a:cubicBezTo>
                      <a:pt x="1690004" y="690086"/>
                      <a:pt x="1655792" y="724299"/>
                      <a:pt x="1613589" y="724299"/>
                    </a:cubicBezTo>
                    <a:lnTo>
                      <a:pt x="76415" y="724299"/>
                    </a:lnTo>
                    <a:cubicBezTo>
                      <a:pt x="56149" y="724299"/>
                      <a:pt x="36712" y="716248"/>
                      <a:pt x="22381" y="701917"/>
                    </a:cubicBezTo>
                    <a:cubicBezTo>
                      <a:pt x="8051" y="687587"/>
                      <a:pt x="0" y="668150"/>
                      <a:pt x="0" y="647884"/>
                    </a:cubicBezTo>
                    <a:lnTo>
                      <a:pt x="0" y="76415"/>
                    </a:lnTo>
                    <a:cubicBezTo>
                      <a:pt x="0" y="56149"/>
                      <a:pt x="8051" y="36712"/>
                      <a:pt x="22381" y="22381"/>
                    </a:cubicBezTo>
                    <a:cubicBezTo>
                      <a:pt x="36712" y="8051"/>
                      <a:pt x="56149" y="0"/>
                      <a:pt x="76415" y="0"/>
                    </a:cubicBezTo>
                    <a:close/>
                  </a:path>
                </a:pathLst>
              </a:custGeom>
              <a:ln w="38100" cap="sq">
                <a:solidFill>
                  <a:srgbClr val="006AFF"/>
                </a:solidFill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38100"/>
                <a:ext cx="1690004" cy="762399"/>
              </a:xfrm>
              <a:prstGeom prst="rect">
                <a:avLst/>
              </a:prstGeom>
            </p:spPr>
            <p:txBody>
              <a:bodyPr anchor="ctr" rtlCol="false" tIns="51715" lIns="51715" bIns="51715" rIns="51715"/>
              <a:lstStyle/>
              <a:p>
                <a:pPr algn="ctr">
                  <a:lnSpc>
                    <a:spcPts val="2660"/>
                  </a:lnSpc>
                </a:pPr>
                <a:r>
                  <a:rPr lang="en-US" sz="1900">
                    <a:solidFill>
                      <a:srgbClr val="000000"/>
                    </a:solidFill>
                    <a:latin typeface="Poetsen"/>
                    <a:ea typeface="Poetsen"/>
                    <a:cs typeface="Poetsen"/>
                    <a:sym typeface="Poetsen"/>
                  </a:rPr>
                  <a:t>Texto 2</a:t>
                </a: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6350735" y="3557539"/>
              <a:ext cx="1247537" cy="873276"/>
              <a:chOff x="0" y="0"/>
              <a:chExt cx="250864" cy="175605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250864" cy="175605"/>
              </a:xfrm>
              <a:custGeom>
                <a:avLst/>
                <a:gdLst/>
                <a:ahLst/>
                <a:cxnLst/>
                <a:rect r="r" b="b" t="t" l="l"/>
                <a:pathLst>
                  <a:path h="175605" w="250864">
                    <a:moveTo>
                      <a:pt x="87802" y="0"/>
                    </a:moveTo>
                    <a:lnTo>
                      <a:pt x="163062" y="0"/>
                    </a:lnTo>
                    <a:cubicBezTo>
                      <a:pt x="211554" y="0"/>
                      <a:pt x="250864" y="39311"/>
                      <a:pt x="250864" y="87802"/>
                    </a:cubicBezTo>
                    <a:lnTo>
                      <a:pt x="250864" y="87802"/>
                    </a:lnTo>
                    <a:cubicBezTo>
                      <a:pt x="250864" y="111089"/>
                      <a:pt x="241614" y="133422"/>
                      <a:pt x="225147" y="149888"/>
                    </a:cubicBezTo>
                    <a:cubicBezTo>
                      <a:pt x="208681" y="166354"/>
                      <a:pt x="186348" y="175605"/>
                      <a:pt x="163062" y="175605"/>
                    </a:cubicBezTo>
                    <a:lnTo>
                      <a:pt x="87802" y="175605"/>
                    </a:lnTo>
                    <a:cubicBezTo>
                      <a:pt x="39311" y="175605"/>
                      <a:pt x="0" y="136294"/>
                      <a:pt x="0" y="87802"/>
                    </a:cubicBezTo>
                    <a:lnTo>
                      <a:pt x="0" y="87802"/>
                    </a:lnTo>
                    <a:cubicBezTo>
                      <a:pt x="0" y="39311"/>
                      <a:pt x="39311" y="0"/>
                      <a:pt x="87802" y="0"/>
                    </a:cubicBezTo>
                    <a:close/>
                  </a:path>
                </a:pathLst>
              </a:custGeom>
              <a:solidFill>
                <a:srgbClr val="4C78DF"/>
              </a:solidFill>
              <a:ln cap="sq">
                <a:noFill/>
                <a:prstDash val="dash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57150"/>
                <a:ext cx="250864" cy="23275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  <a:r>
                  <a:rPr lang="en-US" sz="2599" strike="noStrike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</a:t>
                </a: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322536" y="6942804"/>
              <a:ext cx="2653918" cy="1217406"/>
              <a:chOff x="0" y="0"/>
              <a:chExt cx="1690004" cy="775239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1690004" cy="775239"/>
              </a:xfrm>
              <a:custGeom>
                <a:avLst/>
                <a:gdLst/>
                <a:ahLst/>
                <a:cxnLst/>
                <a:rect r="r" b="b" t="t" l="l"/>
                <a:pathLst>
                  <a:path h="775239" w="1690004">
                    <a:moveTo>
                      <a:pt x="99340" y="0"/>
                    </a:moveTo>
                    <a:lnTo>
                      <a:pt x="1590664" y="0"/>
                    </a:lnTo>
                    <a:cubicBezTo>
                      <a:pt x="1645528" y="0"/>
                      <a:pt x="1690004" y="44476"/>
                      <a:pt x="1690004" y="99340"/>
                    </a:cubicBezTo>
                    <a:lnTo>
                      <a:pt x="1690004" y="675900"/>
                    </a:lnTo>
                    <a:cubicBezTo>
                      <a:pt x="1690004" y="730764"/>
                      <a:pt x="1645528" y="775239"/>
                      <a:pt x="1590664" y="775239"/>
                    </a:cubicBezTo>
                    <a:lnTo>
                      <a:pt x="99340" y="775239"/>
                    </a:lnTo>
                    <a:cubicBezTo>
                      <a:pt x="44476" y="775239"/>
                      <a:pt x="0" y="730764"/>
                      <a:pt x="0" y="675900"/>
                    </a:cubicBezTo>
                    <a:lnTo>
                      <a:pt x="0" y="99340"/>
                    </a:lnTo>
                    <a:cubicBezTo>
                      <a:pt x="0" y="44476"/>
                      <a:pt x="44476" y="0"/>
                      <a:pt x="99340" y="0"/>
                    </a:cubicBezTo>
                    <a:close/>
                  </a:path>
                </a:pathLst>
              </a:custGeom>
              <a:ln w="38100" cap="rnd">
                <a:solidFill>
                  <a:srgbClr val="006AFF"/>
                </a:solidFill>
                <a:prstDash val="solid"/>
                <a:round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47625"/>
                <a:ext cx="1690004" cy="8228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Poetsen"/>
                    <a:ea typeface="Poetsen"/>
                    <a:cs typeface="Poetsen"/>
                    <a:sym typeface="Poetsen"/>
                  </a:rPr>
                  <a:t>Texto 3 </a:t>
                </a: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2025726" y="6323861"/>
              <a:ext cx="1247537" cy="873276"/>
              <a:chOff x="0" y="0"/>
              <a:chExt cx="250864" cy="175605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250864" cy="175605"/>
              </a:xfrm>
              <a:custGeom>
                <a:avLst/>
                <a:gdLst/>
                <a:ahLst/>
                <a:cxnLst/>
                <a:rect r="r" b="b" t="t" l="l"/>
                <a:pathLst>
                  <a:path h="175605" w="250864">
                    <a:moveTo>
                      <a:pt x="87802" y="0"/>
                    </a:moveTo>
                    <a:lnTo>
                      <a:pt x="163062" y="0"/>
                    </a:lnTo>
                    <a:cubicBezTo>
                      <a:pt x="211554" y="0"/>
                      <a:pt x="250864" y="39311"/>
                      <a:pt x="250864" y="87802"/>
                    </a:cubicBezTo>
                    <a:lnTo>
                      <a:pt x="250864" y="87802"/>
                    </a:lnTo>
                    <a:cubicBezTo>
                      <a:pt x="250864" y="111089"/>
                      <a:pt x="241614" y="133422"/>
                      <a:pt x="225147" y="149888"/>
                    </a:cubicBezTo>
                    <a:cubicBezTo>
                      <a:pt x="208681" y="166354"/>
                      <a:pt x="186348" y="175605"/>
                      <a:pt x="163062" y="175605"/>
                    </a:cubicBezTo>
                    <a:lnTo>
                      <a:pt x="87802" y="175605"/>
                    </a:lnTo>
                    <a:cubicBezTo>
                      <a:pt x="39311" y="175605"/>
                      <a:pt x="0" y="136294"/>
                      <a:pt x="0" y="87802"/>
                    </a:cubicBezTo>
                    <a:lnTo>
                      <a:pt x="0" y="87802"/>
                    </a:lnTo>
                    <a:cubicBezTo>
                      <a:pt x="0" y="39311"/>
                      <a:pt x="39311" y="0"/>
                      <a:pt x="87802" y="0"/>
                    </a:cubicBezTo>
                    <a:close/>
                  </a:path>
                </a:pathLst>
              </a:custGeom>
              <a:solidFill>
                <a:srgbClr val="4C78DF"/>
              </a:solidFill>
              <a:ln cap="sq">
                <a:noFill/>
                <a:prstDash val="dash"/>
                <a:miter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57150"/>
                <a:ext cx="250864" cy="23275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  <a:r>
                  <a:rPr lang="en-US" sz="2599" strike="noStrike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</a:t>
                </a:r>
              </a:p>
            </p:txBody>
          </p:sp>
        </p:grpSp>
      </p:grpSp>
    </p:spTree>
  </p:cSld>
  <p:clrMapOvr>
    <a:masterClrMapping/>
  </p:clrMapOvr>
  <p:transition spd="med">
    <p:cover dir="d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749460" y="6166667"/>
            <a:ext cx="5745077" cy="3151629"/>
            <a:chOff x="0" y="0"/>
            <a:chExt cx="7660103" cy="420217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319921"/>
              <a:ext cx="7660103" cy="3882251"/>
              <a:chOff x="0" y="0"/>
              <a:chExt cx="1790919" cy="907664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790919" cy="907664"/>
              </a:xfrm>
              <a:custGeom>
                <a:avLst/>
                <a:gdLst/>
                <a:ahLst/>
                <a:cxnLst/>
                <a:rect r="r" b="b" t="t" l="l"/>
                <a:pathLst>
                  <a:path h="907664" w="1790919">
                    <a:moveTo>
                      <a:pt x="35295" y="0"/>
                    </a:moveTo>
                    <a:lnTo>
                      <a:pt x="1755625" y="0"/>
                    </a:lnTo>
                    <a:cubicBezTo>
                      <a:pt x="1764985" y="0"/>
                      <a:pt x="1773963" y="3719"/>
                      <a:pt x="1780582" y="10338"/>
                    </a:cubicBezTo>
                    <a:cubicBezTo>
                      <a:pt x="1787201" y="16957"/>
                      <a:pt x="1790919" y="25934"/>
                      <a:pt x="1790919" y="35295"/>
                    </a:cubicBezTo>
                    <a:lnTo>
                      <a:pt x="1790919" y="872369"/>
                    </a:lnTo>
                    <a:cubicBezTo>
                      <a:pt x="1790919" y="881730"/>
                      <a:pt x="1787201" y="890707"/>
                      <a:pt x="1780582" y="897326"/>
                    </a:cubicBezTo>
                    <a:cubicBezTo>
                      <a:pt x="1773963" y="903945"/>
                      <a:pt x="1764985" y="907664"/>
                      <a:pt x="1755625" y="907664"/>
                    </a:cubicBezTo>
                    <a:lnTo>
                      <a:pt x="35295" y="907664"/>
                    </a:lnTo>
                    <a:cubicBezTo>
                      <a:pt x="25934" y="907664"/>
                      <a:pt x="16957" y="903945"/>
                      <a:pt x="10338" y="897326"/>
                    </a:cubicBezTo>
                    <a:cubicBezTo>
                      <a:pt x="3719" y="890707"/>
                      <a:pt x="0" y="881730"/>
                      <a:pt x="0" y="872369"/>
                    </a:cubicBezTo>
                    <a:lnTo>
                      <a:pt x="0" y="35295"/>
                    </a:lnTo>
                    <a:cubicBezTo>
                      <a:pt x="0" y="25934"/>
                      <a:pt x="3719" y="16957"/>
                      <a:pt x="10338" y="10338"/>
                    </a:cubicBezTo>
                    <a:cubicBezTo>
                      <a:pt x="16957" y="3719"/>
                      <a:pt x="25934" y="0"/>
                      <a:pt x="35295" y="0"/>
                    </a:cubicBezTo>
                    <a:close/>
                  </a:path>
                </a:pathLst>
              </a:custGeom>
              <a:solidFill>
                <a:srgbClr val="202429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790919" cy="9457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1472045" cy="997113"/>
              <a:chOff x="0" y="0"/>
              <a:chExt cx="344162" cy="2331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44162" cy="233123"/>
              </a:xfrm>
              <a:custGeom>
                <a:avLst/>
                <a:gdLst/>
                <a:ahLst/>
                <a:cxnLst/>
                <a:rect r="r" b="b" t="t" l="l"/>
                <a:pathLst>
                  <a:path h="233123" w="344162">
                    <a:moveTo>
                      <a:pt x="82945" y="0"/>
                    </a:moveTo>
                    <a:lnTo>
                      <a:pt x="261217" y="0"/>
                    </a:lnTo>
                    <a:cubicBezTo>
                      <a:pt x="307026" y="0"/>
                      <a:pt x="344162" y="37136"/>
                      <a:pt x="344162" y="82945"/>
                    </a:cubicBezTo>
                    <a:lnTo>
                      <a:pt x="344162" y="150179"/>
                    </a:lnTo>
                    <a:cubicBezTo>
                      <a:pt x="344162" y="195988"/>
                      <a:pt x="307026" y="233123"/>
                      <a:pt x="261217" y="233123"/>
                    </a:cubicBezTo>
                    <a:lnTo>
                      <a:pt x="82945" y="233123"/>
                    </a:lnTo>
                    <a:cubicBezTo>
                      <a:pt x="37136" y="233123"/>
                      <a:pt x="0" y="195988"/>
                      <a:pt x="0" y="150179"/>
                    </a:cubicBezTo>
                    <a:lnTo>
                      <a:pt x="0" y="82945"/>
                    </a:lnTo>
                    <a:cubicBezTo>
                      <a:pt x="0" y="37136"/>
                      <a:pt x="37136" y="0"/>
                      <a:pt x="82945" y="0"/>
                    </a:cubicBez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344162" cy="2712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263835"/>
              <a:ext cx="1472045" cy="733278"/>
              <a:chOff x="0" y="0"/>
              <a:chExt cx="344162" cy="17143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44162" cy="171439"/>
              </a:xfrm>
              <a:custGeom>
                <a:avLst/>
                <a:gdLst/>
                <a:ahLst/>
                <a:cxnLst/>
                <a:rect r="r" b="b" t="t" l="l"/>
                <a:pathLst>
                  <a:path h="171439" w="344162">
                    <a:moveTo>
                      <a:pt x="0" y="0"/>
                    </a:moveTo>
                    <a:lnTo>
                      <a:pt x="344162" y="0"/>
                    </a:lnTo>
                    <a:lnTo>
                      <a:pt x="344162" y="171439"/>
                    </a:lnTo>
                    <a:lnTo>
                      <a:pt x="0" y="171439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344162" cy="2095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64546" y="95380"/>
              <a:ext cx="1142954" cy="7111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F5FFF9"/>
                  </a:solidFill>
                  <a:latin typeface="Poppins"/>
                  <a:ea typeface="Poppins"/>
                  <a:cs typeface="Poppins"/>
                  <a:sym typeface="Poppins"/>
                </a:rPr>
                <a:t>CSS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963342" y="1330146"/>
              <a:ext cx="6206680" cy="20972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60"/>
                </a:lnSpc>
              </a:pPr>
              <a:r>
                <a:rPr lang="en-US" sz="3042" spc="252">
                  <a:solidFill>
                    <a:srgbClr val="FEA002"/>
                  </a:solidFill>
                  <a:latin typeface="Roboto"/>
                  <a:ea typeface="Roboto"/>
                  <a:cs typeface="Roboto"/>
                  <a:sym typeface="Roboto"/>
                </a:rPr>
                <a:t>div </a:t>
              </a:r>
              <a:r>
                <a:rPr lang="en-US" sz="3042" spc="252">
                  <a:solidFill>
                    <a:srgbClr val="F661A1"/>
                  </a:solidFill>
                  <a:latin typeface="Roboto"/>
                  <a:ea typeface="Roboto"/>
                  <a:cs typeface="Roboto"/>
                  <a:sym typeface="Roboto"/>
                </a:rPr>
                <a:t>&gt; </a:t>
              </a:r>
              <a:r>
                <a:rPr lang="en-US" sz="3042" spc="252">
                  <a:solidFill>
                    <a:srgbClr val="FEA002"/>
                  </a:solidFill>
                  <a:latin typeface="Roboto"/>
                  <a:ea typeface="Roboto"/>
                  <a:cs typeface="Roboto"/>
                  <a:sym typeface="Roboto"/>
                </a:rPr>
                <a:t>p 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{</a:t>
              </a:r>
            </a:p>
            <a:p>
              <a:pPr algn="l">
                <a:lnSpc>
                  <a:spcPts val="4260"/>
                </a:lnSpc>
              </a:pP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     </a:t>
              </a:r>
              <a:r>
                <a:rPr lang="en-US" sz="3042" spc="252">
                  <a:solidFill>
                    <a:srgbClr val="BFECAC"/>
                  </a:solidFill>
                  <a:latin typeface="Roboto"/>
                  <a:ea typeface="Roboto"/>
                  <a:cs typeface="Roboto"/>
                  <a:sym typeface="Roboto"/>
                </a:rPr>
                <a:t>color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: </a:t>
              </a:r>
              <a:r>
                <a:rPr lang="en-US" sz="3042" spc="252">
                  <a:solidFill>
                    <a:srgbClr val="74BDCE"/>
                  </a:solidFill>
                  <a:latin typeface="Roboto"/>
                  <a:ea typeface="Roboto"/>
                  <a:cs typeface="Roboto"/>
                  <a:sym typeface="Roboto"/>
                </a:rPr>
                <a:t>green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;</a:t>
              </a:r>
            </a:p>
            <a:p>
              <a:pPr algn="l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}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741157" y="520785"/>
            <a:ext cx="5690664" cy="95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64"/>
              </a:lnSpc>
            </a:pPr>
            <a:r>
              <a:rPr lang="en-US" b="true" sz="5621">
                <a:solidFill>
                  <a:srgbClr val="5A2312"/>
                </a:solidFill>
                <a:latin typeface="Poppins Bold"/>
                <a:ea typeface="Poppins Bold"/>
                <a:cs typeface="Poppins Bold"/>
                <a:sym typeface="Poppins Bold"/>
              </a:rPr>
              <a:t>Filho </a:t>
            </a:r>
            <a:r>
              <a:rPr lang="en-US" b="true" sz="5621">
                <a:solidFill>
                  <a:srgbClr val="5A2312"/>
                </a:solidFill>
                <a:latin typeface="Poppins Bold"/>
                <a:ea typeface="Poppins Bold"/>
                <a:cs typeface="Poppins Bold"/>
                <a:sym typeface="Poppins Bold"/>
              </a:rPr>
              <a:t>direto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32863" y="1624344"/>
            <a:ext cx="6311137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95"/>
              </a:lnSpc>
            </a:pPr>
            <a:r>
              <a:rPr lang="en-US" sz="3500" spc="-192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Seleciona apenas o elemento que é filho direto.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85474" y="8385091"/>
            <a:ext cx="7815676" cy="890766"/>
            <a:chOff x="0" y="0"/>
            <a:chExt cx="10420901" cy="1187689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285141" y="61729"/>
              <a:ext cx="10135760" cy="1064231"/>
              <a:chOff x="0" y="0"/>
              <a:chExt cx="2002125" cy="21021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002125" cy="210218"/>
              </a:xfrm>
              <a:custGeom>
                <a:avLst/>
                <a:gdLst/>
                <a:ahLst/>
                <a:cxnLst/>
                <a:rect r="r" b="b" t="t" l="l"/>
                <a:pathLst>
                  <a:path h="210218" w="2002125">
                    <a:moveTo>
                      <a:pt x="31571" y="0"/>
                    </a:moveTo>
                    <a:lnTo>
                      <a:pt x="1970554" y="0"/>
                    </a:lnTo>
                    <a:cubicBezTo>
                      <a:pt x="1987990" y="0"/>
                      <a:pt x="2002125" y="14135"/>
                      <a:pt x="2002125" y="31571"/>
                    </a:cubicBezTo>
                    <a:lnTo>
                      <a:pt x="2002125" y="178647"/>
                    </a:lnTo>
                    <a:cubicBezTo>
                      <a:pt x="2002125" y="196083"/>
                      <a:pt x="1987990" y="210218"/>
                      <a:pt x="1970554" y="210218"/>
                    </a:cubicBezTo>
                    <a:lnTo>
                      <a:pt x="31571" y="210218"/>
                    </a:lnTo>
                    <a:cubicBezTo>
                      <a:pt x="14135" y="210218"/>
                      <a:pt x="0" y="196083"/>
                      <a:pt x="0" y="178647"/>
                    </a:cubicBezTo>
                    <a:lnTo>
                      <a:pt x="0" y="31571"/>
                    </a:lnTo>
                    <a:cubicBezTo>
                      <a:pt x="0" y="14135"/>
                      <a:pt x="14135" y="0"/>
                      <a:pt x="31571" y="0"/>
                    </a:cubicBezTo>
                    <a:close/>
                  </a:path>
                </a:pathLst>
              </a:custGeom>
              <a:solidFill>
                <a:srgbClr val="BFECAC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002125" cy="2483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90665" cy="1187689"/>
            </a:xfrm>
            <a:custGeom>
              <a:avLst/>
              <a:gdLst/>
              <a:ahLst/>
              <a:cxnLst/>
              <a:rect r="r" b="b" t="t" l="l"/>
              <a:pathLst>
                <a:path h="1187689" w="1190665">
                  <a:moveTo>
                    <a:pt x="0" y="0"/>
                  </a:moveTo>
                  <a:lnTo>
                    <a:pt x="1190665" y="0"/>
                  </a:lnTo>
                  <a:lnTo>
                    <a:pt x="1190665" y="1187689"/>
                  </a:lnTo>
                  <a:lnTo>
                    <a:pt x="0" y="1187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646798" y="77574"/>
              <a:ext cx="8243491" cy="975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1"/>
                </a:lnSpc>
              </a:pPr>
              <a:r>
                <a:rPr lang="en-US" b="true" sz="2136" spc="111">
                  <a:solidFill>
                    <a:srgbClr val="17320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Seleciona somente os &lt;p&gt; que são filhos imediatos de &lt;div&gt;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947045" y="711602"/>
            <a:ext cx="5156200" cy="61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44"/>
              </a:lnSpc>
            </a:pPr>
            <a:r>
              <a:rPr lang="en-US" b="true" sz="3621">
                <a:solidFill>
                  <a:srgbClr val="5A2312"/>
                </a:solidFill>
                <a:latin typeface="Poppins Bold"/>
                <a:ea typeface="Poppins Bold"/>
                <a:cs typeface="Poppins Bold"/>
                <a:sym typeface="Poppins Bold"/>
              </a:rPr>
              <a:t>(&gt;)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33566" y="518136"/>
            <a:ext cx="1364218" cy="1619250"/>
          </a:xfrm>
          <a:custGeom>
            <a:avLst/>
            <a:gdLst/>
            <a:ahLst/>
            <a:cxnLst/>
            <a:rect r="r" b="b" t="t" l="l"/>
            <a:pathLst>
              <a:path h="1619250" w="1364218">
                <a:moveTo>
                  <a:pt x="0" y="0"/>
                </a:moveTo>
                <a:lnTo>
                  <a:pt x="1364218" y="0"/>
                </a:lnTo>
                <a:lnTo>
                  <a:pt x="1364218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697827" y="968705"/>
            <a:ext cx="5848344" cy="4870574"/>
          </a:xfrm>
          <a:custGeom>
            <a:avLst/>
            <a:gdLst/>
            <a:ahLst/>
            <a:cxnLst/>
            <a:rect r="r" b="b" t="t" l="l"/>
            <a:pathLst>
              <a:path h="4870574" w="5848344">
                <a:moveTo>
                  <a:pt x="0" y="0"/>
                </a:moveTo>
                <a:lnTo>
                  <a:pt x="5848344" y="0"/>
                </a:lnTo>
                <a:lnTo>
                  <a:pt x="5848344" y="4870574"/>
                </a:lnTo>
                <a:lnTo>
                  <a:pt x="0" y="48705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3935" t="-17108" r="-24497" b="-129638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146240" y="3264023"/>
            <a:ext cx="7971759" cy="4349250"/>
            <a:chOff x="0" y="0"/>
            <a:chExt cx="10629012" cy="5798999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376805"/>
              <a:ext cx="10629012" cy="5422195"/>
              <a:chOff x="0" y="0"/>
              <a:chExt cx="2137363" cy="1090336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137363" cy="1090336"/>
              </a:xfrm>
              <a:custGeom>
                <a:avLst/>
                <a:gdLst/>
                <a:ahLst/>
                <a:cxnLst/>
                <a:rect r="r" b="b" t="t" l="l"/>
                <a:pathLst>
                  <a:path h="1090336" w="2137363">
                    <a:moveTo>
                      <a:pt x="32049" y="0"/>
                    </a:moveTo>
                    <a:lnTo>
                      <a:pt x="2105314" y="0"/>
                    </a:lnTo>
                    <a:cubicBezTo>
                      <a:pt x="2113814" y="0"/>
                      <a:pt x="2121966" y="3377"/>
                      <a:pt x="2127976" y="9387"/>
                    </a:cubicBezTo>
                    <a:cubicBezTo>
                      <a:pt x="2133986" y="15397"/>
                      <a:pt x="2137363" y="23549"/>
                      <a:pt x="2137363" y="32049"/>
                    </a:cubicBezTo>
                    <a:lnTo>
                      <a:pt x="2137363" y="1058288"/>
                    </a:lnTo>
                    <a:cubicBezTo>
                      <a:pt x="2137363" y="1075988"/>
                      <a:pt x="2123014" y="1090336"/>
                      <a:pt x="2105314" y="1090336"/>
                    </a:cubicBezTo>
                    <a:lnTo>
                      <a:pt x="32049" y="1090336"/>
                    </a:lnTo>
                    <a:cubicBezTo>
                      <a:pt x="14349" y="1090336"/>
                      <a:pt x="0" y="1075988"/>
                      <a:pt x="0" y="1058288"/>
                    </a:cubicBezTo>
                    <a:lnTo>
                      <a:pt x="0" y="32049"/>
                    </a:lnTo>
                    <a:cubicBezTo>
                      <a:pt x="0" y="14349"/>
                      <a:pt x="14349" y="0"/>
                      <a:pt x="32049" y="0"/>
                    </a:cubicBezTo>
                    <a:close/>
                  </a:path>
                </a:pathLst>
              </a:custGeom>
              <a:ln w="38100" cap="rnd">
                <a:solidFill>
                  <a:srgbClr val="4E259A"/>
                </a:solidFill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2137363" cy="11284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4318842" y="0"/>
              <a:ext cx="2120812" cy="873276"/>
              <a:chOff x="0" y="0"/>
              <a:chExt cx="426469" cy="17560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26469" cy="175605"/>
              </a:xfrm>
              <a:custGeom>
                <a:avLst/>
                <a:gdLst/>
                <a:ahLst/>
                <a:cxnLst/>
                <a:rect r="r" b="b" t="t" l="l"/>
                <a:pathLst>
                  <a:path h="175605" w="426469">
                    <a:moveTo>
                      <a:pt x="87802" y="0"/>
                    </a:moveTo>
                    <a:lnTo>
                      <a:pt x="338667" y="0"/>
                    </a:lnTo>
                    <a:cubicBezTo>
                      <a:pt x="387159" y="0"/>
                      <a:pt x="426469" y="39311"/>
                      <a:pt x="426469" y="87802"/>
                    </a:cubicBezTo>
                    <a:lnTo>
                      <a:pt x="426469" y="87802"/>
                    </a:lnTo>
                    <a:cubicBezTo>
                      <a:pt x="426469" y="111089"/>
                      <a:pt x="417219" y="133422"/>
                      <a:pt x="400752" y="149888"/>
                    </a:cubicBezTo>
                    <a:cubicBezTo>
                      <a:pt x="384286" y="166354"/>
                      <a:pt x="361953" y="175605"/>
                      <a:pt x="338667" y="175605"/>
                    </a:cubicBezTo>
                    <a:lnTo>
                      <a:pt x="87802" y="175605"/>
                    </a:lnTo>
                    <a:cubicBezTo>
                      <a:pt x="39311" y="175605"/>
                      <a:pt x="0" y="136294"/>
                      <a:pt x="0" y="87802"/>
                    </a:cubicBezTo>
                    <a:lnTo>
                      <a:pt x="0" y="87802"/>
                    </a:lnTo>
                    <a:cubicBezTo>
                      <a:pt x="0" y="39311"/>
                      <a:pt x="39311" y="0"/>
                      <a:pt x="87802" y="0"/>
                    </a:cubicBezTo>
                    <a:close/>
                  </a:path>
                </a:pathLst>
              </a:custGeom>
              <a:solidFill>
                <a:srgbClr val="761989"/>
              </a:solidFill>
              <a:ln cap="sq">
                <a:noFill/>
                <a:prstDash val="dash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66675"/>
                <a:ext cx="426469" cy="242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99"/>
                  </a:lnSpc>
                </a:pPr>
                <a:r>
                  <a:rPr lang="en-US" sz="29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div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3314779" y="2382475"/>
              <a:ext cx="3999454" cy="2608174"/>
              <a:chOff x="0" y="0"/>
              <a:chExt cx="804241" cy="524472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04241" cy="524472"/>
              </a:xfrm>
              <a:custGeom>
                <a:avLst/>
                <a:gdLst/>
                <a:ahLst/>
                <a:cxnLst/>
                <a:rect r="r" b="b" t="t" l="l"/>
                <a:pathLst>
                  <a:path h="524472" w="804241">
                    <a:moveTo>
                      <a:pt x="85173" y="0"/>
                    </a:moveTo>
                    <a:lnTo>
                      <a:pt x="719068" y="0"/>
                    </a:lnTo>
                    <a:cubicBezTo>
                      <a:pt x="766108" y="0"/>
                      <a:pt x="804241" y="38133"/>
                      <a:pt x="804241" y="85173"/>
                    </a:cubicBezTo>
                    <a:lnTo>
                      <a:pt x="804241" y="439299"/>
                    </a:lnTo>
                    <a:cubicBezTo>
                      <a:pt x="804241" y="486338"/>
                      <a:pt x="766108" y="524472"/>
                      <a:pt x="719068" y="524472"/>
                    </a:cubicBezTo>
                    <a:lnTo>
                      <a:pt x="85173" y="524472"/>
                    </a:lnTo>
                    <a:cubicBezTo>
                      <a:pt x="38133" y="524472"/>
                      <a:pt x="0" y="486338"/>
                      <a:pt x="0" y="439299"/>
                    </a:cubicBezTo>
                    <a:lnTo>
                      <a:pt x="0" y="85173"/>
                    </a:lnTo>
                    <a:cubicBezTo>
                      <a:pt x="0" y="38133"/>
                      <a:pt x="38133" y="0"/>
                      <a:pt x="85173" y="0"/>
                    </a:cubicBezTo>
                    <a:close/>
                  </a:path>
                </a:pathLst>
              </a:custGeom>
              <a:ln w="38100" cap="rnd">
                <a:solidFill>
                  <a:srgbClr val="FEA002"/>
                </a:solidFill>
                <a:prstDash val="solid"/>
                <a:round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804241" cy="5625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4254100" y="1763532"/>
              <a:ext cx="2120812" cy="873276"/>
              <a:chOff x="0" y="0"/>
              <a:chExt cx="426469" cy="175605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426469" cy="175605"/>
              </a:xfrm>
              <a:custGeom>
                <a:avLst/>
                <a:gdLst/>
                <a:ahLst/>
                <a:cxnLst/>
                <a:rect r="r" b="b" t="t" l="l"/>
                <a:pathLst>
                  <a:path h="175605" w="426469">
                    <a:moveTo>
                      <a:pt x="87802" y="0"/>
                    </a:moveTo>
                    <a:lnTo>
                      <a:pt x="338667" y="0"/>
                    </a:lnTo>
                    <a:cubicBezTo>
                      <a:pt x="387159" y="0"/>
                      <a:pt x="426469" y="39311"/>
                      <a:pt x="426469" y="87802"/>
                    </a:cubicBezTo>
                    <a:lnTo>
                      <a:pt x="426469" y="87802"/>
                    </a:lnTo>
                    <a:cubicBezTo>
                      <a:pt x="426469" y="111089"/>
                      <a:pt x="417219" y="133422"/>
                      <a:pt x="400752" y="149888"/>
                    </a:cubicBezTo>
                    <a:cubicBezTo>
                      <a:pt x="384286" y="166354"/>
                      <a:pt x="361953" y="175605"/>
                      <a:pt x="338667" y="175605"/>
                    </a:cubicBezTo>
                    <a:lnTo>
                      <a:pt x="87802" y="175605"/>
                    </a:lnTo>
                    <a:cubicBezTo>
                      <a:pt x="39311" y="175605"/>
                      <a:pt x="0" y="136294"/>
                      <a:pt x="0" y="87802"/>
                    </a:cubicBezTo>
                    <a:lnTo>
                      <a:pt x="0" y="87802"/>
                    </a:lnTo>
                    <a:cubicBezTo>
                      <a:pt x="0" y="39311"/>
                      <a:pt x="39311" y="0"/>
                      <a:pt x="87802" y="0"/>
                    </a:cubicBezTo>
                    <a:close/>
                  </a:path>
                </a:pathLst>
              </a:custGeom>
              <a:solidFill>
                <a:srgbClr val="FEA002"/>
              </a:solidFill>
              <a:ln cap="sq">
                <a:noFill/>
                <a:prstDash val="dash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57150"/>
                <a:ext cx="426469" cy="2327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  <a:r>
                  <a:rPr lang="en-US" sz="25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section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3987547" y="3417931"/>
              <a:ext cx="2653918" cy="1137411"/>
              <a:chOff x="0" y="0"/>
              <a:chExt cx="1690004" cy="724299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690004" cy="724299"/>
              </a:xfrm>
              <a:custGeom>
                <a:avLst/>
                <a:gdLst/>
                <a:ahLst/>
                <a:cxnLst/>
                <a:rect r="r" b="b" t="t" l="l"/>
                <a:pathLst>
                  <a:path h="724299" w="1690004">
                    <a:moveTo>
                      <a:pt x="77791" y="0"/>
                    </a:moveTo>
                    <a:lnTo>
                      <a:pt x="1612213" y="0"/>
                    </a:lnTo>
                    <a:cubicBezTo>
                      <a:pt x="1655176" y="0"/>
                      <a:pt x="1690004" y="34828"/>
                      <a:pt x="1690004" y="77791"/>
                    </a:cubicBezTo>
                    <a:lnTo>
                      <a:pt x="1690004" y="646508"/>
                    </a:lnTo>
                    <a:cubicBezTo>
                      <a:pt x="1690004" y="689470"/>
                      <a:pt x="1655176" y="724299"/>
                      <a:pt x="1612213" y="724299"/>
                    </a:cubicBezTo>
                    <a:lnTo>
                      <a:pt x="77791" y="724299"/>
                    </a:lnTo>
                    <a:cubicBezTo>
                      <a:pt x="57160" y="724299"/>
                      <a:pt x="37373" y="716103"/>
                      <a:pt x="22784" y="701514"/>
                    </a:cubicBezTo>
                    <a:cubicBezTo>
                      <a:pt x="8196" y="686926"/>
                      <a:pt x="0" y="667139"/>
                      <a:pt x="0" y="646508"/>
                    </a:cubicBezTo>
                    <a:lnTo>
                      <a:pt x="0" y="77791"/>
                    </a:lnTo>
                    <a:cubicBezTo>
                      <a:pt x="0" y="57160"/>
                      <a:pt x="8196" y="37373"/>
                      <a:pt x="22784" y="22784"/>
                    </a:cubicBezTo>
                    <a:cubicBezTo>
                      <a:pt x="37373" y="8196"/>
                      <a:pt x="57160" y="0"/>
                      <a:pt x="77791" y="0"/>
                    </a:cubicBezTo>
                    <a:close/>
                  </a:path>
                </a:pathLst>
              </a:custGeom>
              <a:ln w="38100" cap="sq">
                <a:solidFill>
                  <a:srgbClr val="006AFF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47625"/>
                <a:ext cx="1690004" cy="7719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Poetsen"/>
                    <a:ea typeface="Poetsen"/>
                    <a:cs typeface="Poetsen"/>
                    <a:sym typeface="Poetsen"/>
                  </a:rPr>
                  <a:t>Não seleciona</a:t>
                </a: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4690738" y="2798988"/>
              <a:ext cx="1247537" cy="873276"/>
              <a:chOff x="0" y="0"/>
              <a:chExt cx="250864" cy="175605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250864" cy="175605"/>
              </a:xfrm>
              <a:custGeom>
                <a:avLst/>
                <a:gdLst/>
                <a:ahLst/>
                <a:cxnLst/>
                <a:rect r="r" b="b" t="t" l="l"/>
                <a:pathLst>
                  <a:path h="175605" w="250864">
                    <a:moveTo>
                      <a:pt x="87802" y="0"/>
                    </a:moveTo>
                    <a:lnTo>
                      <a:pt x="163062" y="0"/>
                    </a:lnTo>
                    <a:cubicBezTo>
                      <a:pt x="211554" y="0"/>
                      <a:pt x="250864" y="39311"/>
                      <a:pt x="250864" y="87802"/>
                    </a:cubicBezTo>
                    <a:lnTo>
                      <a:pt x="250864" y="87802"/>
                    </a:lnTo>
                    <a:cubicBezTo>
                      <a:pt x="250864" y="111089"/>
                      <a:pt x="241614" y="133422"/>
                      <a:pt x="225147" y="149888"/>
                    </a:cubicBezTo>
                    <a:cubicBezTo>
                      <a:pt x="208681" y="166354"/>
                      <a:pt x="186348" y="175605"/>
                      <a:pt x="163062" y="175605"/>
                    </a:cubicBezTo>
                    <a:lnTo>
                      <a:pt x="87802" y="175605"/>
                    </a:lnTo>
                    <a:cubicBezTo>
                      <a:pt x="39311" y="175605"/>
                      <a:pt x="0" y="136294"/>
                      <a:pt x="0" y="87802"/>
                    </a:cubicBezTo>
                    <a:lnTo>
                      <a:pt x="0" y="87802"/>
                    </a:lnTo>
                    <a:cubicBezTo>
                      <a:pt x="0" y="39311"/>
                      <a:pt x="39311" y="0"/>
                      <a:pt x="87802" y="0"/>
                    </a:cubicBezTo>
                    <a:close/>
                  </a:path>
                </a:pathLst>
              </a:custGeom>
              <a:solidFill>
                <a:srgbClr val="4C78DF"/>
              </a:solidFill>
              <a:ln cap="sq">
                <a:noFill/>
                <a:prstDash val="dash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57150"/>
                <a:ext cx="250864" cy="23275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  <a:r>
                  <a:rPr lang="en-US" sz="2599" strike="noStrike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</a:t>
                </a: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318980" y="2767392"/>
              <a:ext cx="2653918" cy="1217406"/>
              <a:chOff x="0" y="0"/>
              <a:chExt cx="1690004" cy="775239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690004" cy="775239"/>
              </a:xfrm>
              <a:custGeom>
                <a:avLst/>
                <a:gdLst/>
                <a:ahLst/>
                <a:cxnLst/>
                <a:rect r="r" b="b" t="t" l="l"/>
                <a:pathLst>
                  <a:path h="775239" w="1690004">
                    <a:moveTo>
                      <a:pt x="101128" y="0"/>
                    </a:moveTo>
                    <a:lnTo>
                      <a:pt x="1588875" y="0"/>
                    </a:lnTo>
                    <a:cubicBezTo>
                      <a:pt x="1644727" y="0"/>
                      <a:pt x="1690004" y="45277"/>
                      <a:pt x="1690004" y="101128"/>
                    </a:cubicBezTo>
                    <a:lnTo>
                      <a:pt x="1690004" y="674111"/>
                    </a:lnTo>
                    <a:cubicBezTo>
                      <a:pt x="1690004" y="700932"/>
                      <a:pt x="1679349" y="726654"/>
                      <a:pt x="1660384" y="745620"/>
                    </a:cubicBezTo>
                    <a:cubicBezTo>
                      <a:pt x="1641419" y="764585"/>
                      <a:pt x="1615696" y="775239"/>
                      <a:pt x="1588875" y="775239"/>
                    </a:cubicBezTo>
                    <a:lnTo>
                      <a:pt x="101128" y="775239"/>
                    </a:lnTo>
                    <a:cubicBezTo>
                      <a:pt x="74308" y="775239"/>
                      <a:pt x="48585" y="764585"/>
                      <a:pt x="29620" y="745620"/>
                    </a:cubicBezTo>
                    <a:cubicBezTo>
                      <a:pt x="10655" y="726654"/>
                      <a:pt x="0" y="700932"/>
                      <a:pt x="0" y="674111"/>
                    </a:cubicBezTo>
                    <a:lnTo>
                      <a:pt x="0" y="101128"/>
                    </a:lnTo>
                    <a:cubicBezTo>
                      <a:pt x="0" y="74308"/>
                      <a:pt x="10655" y="48585"/>
                      <a:pt x="29620" y="29620"/>
                    </a:cubicBezTo>
                    <a:cubicBezTo>
                      <a:pt x="48585" y="10655"/>
                      <a:pt x="74308" y="0"/>
                      <a:pt x="101128" y="0"/>
                    </a:cubicBezTo>
                    <a:close/>
                  </a:path>
                </a:pathLst>
              </a:custGeom>
              <a:ln w="38100" cap="rnd">
                <a:solidFill>
                  <a:srgbClr val="10B981"/>
                </a:solidFill>
                <a:prstDash val="solid"/>
                <a:round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47625"/>
                <a:ext cx="1690004" cy="822864"/>
              </a:xfrm>
              <a:prstGeom prst="rect">
                <a:avLst/>
              </a:prstGeom>
            </p:spPr>
            <p:txBody>
              <a:bodyPr anchor="ctr" rtlCol="false" tIns="49901" lIns="49901" bIns="49901" rIns="49901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Poetsen"/>
                    <a:ea typeface="Poetsen"/>
                    <a:cs typeface="Poetsen"/>
                    <a:sym typeface="Poetsen"/>
                  </a:rPr>
                  <a:t>Direto 1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1022170" y="2148449"/>
              <a:ext cx="1247537" cy="873276"/>
              <a:chOff x="0" y="0"/>
              <a:chExt cx="250864" cy="175605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50864" cy="175605"/>
              </a:xfrm>
              <a:custGeom>
                <a:avLst/>
                <a:gdLst/>
                <a:ahLst/>
                <a:cxnLst/>
                <a:rect r="r" b="b" t="t" l="l"/>
                <a:pathLst>
                  <a:path h="175605" w="250864">
                    <a:moveTo>
                      <a:pt x="87802" y="0"/>
                    </a:moveTo>
                    <a:lnTo>
                      <a:pt x="163062" y="0"/>
                    </a:lnTo>
                    <a:cubicBezTo>
                      <a:pt x="211554" y="0"/>
                      <a:pt x="250864" y="39311"/>
                      <a:pt x="250864" y="87802"/>
                    </a:cubicBezTo>
                    <a:lnTo>
                      <a:pt x="250864" y="87802"/>
                    </a:lnTo>
                    <a:cubicBezTo>
                      <a:pt x="250864" y="111089"/>
                      <a:pt x="241614" y="133422"/>
                      <a:pt x="225147" y="149888"/>
                    </a:cubicBezTo>
                    <a:cubicBezTo>
                      <a:pt x="208681" y="166354"/>
                      <a:pt x="186348" y="175605"/>
                      <a:pt x="163062" y="175605"/>
                    </a:cubicBezTo>
                    <a:lnTo>
                      <a:pt x="87802" y="175605"/>
                    </a:lnTo>
                    <a:cubicBezTo>
                      <a:pt x="39311" y="175605"/>
                      <a:pt x="0" y="136294"/>
                      <a:pt x="0" y="87802"/>
                    </a:cubicBezTo>
                    <a:lnTo>
                      <a:pt x="0" y="87802"/>
                    </a:lnTo>
                    <a:cubicBezTo>
                      <a:pt x="0" y="39311"/>
                      <a:pt x="39311" y="0"/>
                      <a:pt x="87802" y="0"/>
                    </a:cubicBezTo>
                    <a:close/>
                  </a:path>
                </a:pathLst>
              </a:custGeom>
              <a:solidFill>
                <a:srgbClr val="10B981"/>
              </a:solidFill>
              <a:ln cap="sq">
                <a:noFill/>
                <a:prstDash val="dash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57150"/>
                <a:ext cx="250864" cy="23275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  <a:r>
                  <a:rPr lang="en-US" sz="2599" strike="noStrike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</a:t>
                </a: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7647272" y="2818086"/>
              <a:ext cx="2653918" cy="1217406"/>
              <a:chOff x="0" y="0"/>
              <a:chExt cx="1690004" cy="775239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90004" cy="775239"/>
              </a:xfrm>
              <a:custGeom>
                <a:avLst/>
                <a:gdLst/>
                <a:ahLst/>
                <a:cxnLst/>
                <a:rect r="r" b="b" t="t" l="l"/>
                <a:pathLst>
                  <a:path h="775239" w="1690004">
                    <a:moveTo>
                      <a:pt x="101128" y="0"/>
                    </a:moveTo>
                    <a:lnTo>
                      <a:pt x="1588875" y="0"/>
                    </a:lnTo>
                    <a:cubicBezTo>
                      <a:pt x="1644727" y="0"/>
                      <a:pt x="1690004" y="45277"/>
                      <a:pt x="1690004" y="101128"/>
                    </a:cubicBezTo>
                    <a:lnTo>
                      <a:pt x="1690004" y="674111"/>
                    </a:lnTo>
                    <a:cubicBezTo>
                      <a:pt x="1690004" y="700932"/>
                      <a:pt x="1679349" y="726654"/>
                      <a:pt x="1660384" y="745620"/>
                    </a:cubicBezTo>
                    <a:cubicBezTo>
                      <a:pt x="1641419" y="764585"/>
                      <a:pt x="1615696" y="775239"/>
                      <a:pt x="1588875" y="775239"/>
                    </a:cubicBezTo>
                    <a:lnTo>
                      <a:pt x="101128" y="775239"/>
                    </a:lnTo>
                    <a:cubicBezTo>
                      <a:pt x="74308" y="775239"/>
                      <a:pt x="48585" y="764585"/>
                      <a:pt x="29620" y="745620"/>
                    </a:cubicBezTo>
                    <a:cubicBezTo>
                      <a:pt x="10655" y="726654"/>
                      <a:pt x="0" y="700932"/>
                      <a:pt x="0" y="674111"/>
                    </a:cubicBezTo>
                    <a:lnTo>
                      <a:pt x="0" y="101128"/>
                    </a:lnTo>
                    <a:cubicBezTo>
                      <a:pt x="0" y="74308"/>
                      <a:pt x="10655" y="48585"/>
                      <a:pt x="29620" y="29620"/>
                    </a:cubicBezTo>
                    <a:cubicBezTo>
                      <a:pt x="48585" y="10655"/>
                      <a:pt x="74308" y="0"/>
                      <a:pt x="101128" y="0"/>
                    </a:cubicBezTo>
                    <a:close/>
                  </a:path>
                </a:pathLst>
              </a:custGeom>
              <a:ln w="38100" cap="rnd">
                <a:solidFill>
                  <a:srgbClr val="10B981"/>
                </a:solidFill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90004" cy="822864"/>
              </a:xfrm>
              <a:prstGeom prst="rect">
                <a:avLst/>
              </a:prstGeom>
            </p:spPr>
            <p:txBody>
              <a:bodyPr anchor="ctr" rtlCol="false" tIns="49901" lIns="49901" bIns="49901" rIns="49901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Poetsen"/>
                    <a:ea typeface="Poetsen"/>
                    <a:cs typeface="Poetsen"/>
                    <a:sym typeface="Poetsen"/>
                  </a:rPr>
                  <a:t>Direto 2</a:t>
                </a: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8350462" y="2199143"/>
              <a:ext cx="1247537" cy="873276"/>
              <a:chOff x="0" y="0"/>
              <a:chExt cx="250864" cy="175605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250864" cy="175605"/>
              </a:xfrm>
              <a:custGeom>
                <a:avLst/>
                <a:gdLst/>
                <a:ahLst/>
                <a:cxnLst/>
                <a:rect r="r" b="b" t="t" l="l"/>
                <a:pathLst>
                  <a:path h="175605" w="250864">
                    <a:moveTo>
                      <a:pt x="87802" y="0"/>
                    </a:moveTo>
                    <a:lnTo>
                      <a:pt x="163062" y="0"/>
                    </a:lnTo>
                    <a:cubicBezTo>
                      <a:pt x="211554" y="0"/>
                      <a:pt x="250864" y="39311"/>
                      <a:pt x="250864" y="87802"/>
                    </a:cubicBezTo>
                    <a:lnTo>
                      <a:pt x="250864" y="87802"/>
                    </a:lnTo>
                    <a:cubicBezTo>
                      <a:pt x="250864" y="111089"/>
                      <a:pt x="241614" y="133422"/>
                      <a:pt x="225147" y="149888"/>
                    </a:cubicBezTo>
                    <a:cubicBezTo>
                      <a:pt x="208681" y="166354"/>
                      <a:pt x="186348" y="175605"/>
                      <a:pt x="163062" y="175605"/>
                    </a:cubicBezTo>
                    <a:lnTo>
                      <a:pt x="87802" y="175605"/>
                    </a:lnTo>
                    <a:cubicBezTo>
                      <a:pt x="39311" y="175605"/>
                      <a:pt x="0" y="136294"/>
                      <a:pt x="0" y="87802"/>
                    </a:cubicBezTo>
                    <a:lnTo>
                      <a:pt x="0" y="87802"/>
                    </a:lnTo>
                    <a:cubicBezTo>
                      <a:pt x="0" y="39311"/>
                      <a:pt x="39311" y="0"/>
                      <a:pt x="87802" y="0"/>
                    </a:cubicBezTo>
                    <a:close/>
                  </a:path>
                </a:pathLst>
              </a:custGeom>
              <a:solidFill>
                <a:srgbClr val="10B981"/>
              </a:solidFill>
              <a:ln cap="sq">
                <a:noFill/>
                <a:prstDash val="dash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57150"/>
                <a:ext cx="250864" cy="23275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  <a:r>
                  <a:rPr lang="en-US" sz="2599" strike="noStrike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</a:t>
                </a:r>
              </a:p>
            </p:txBody>
          </p:sp>
        </p:grpSp>
      </p:grpSp>
    </p:spTree>
  </p:cSld>
  <p:clrMapOvr>
    <a:masterClrMapping/>
  </p:clrMapOvr>
  <p:transition spd="med">
    <p:cover dir="d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080727" y="6106671"/>
            <a:ext cx="5745077" cy="3151629"/>
            <a:chOff x="0" y="0"/>
            <a:chExt cx="7660103" cy="420217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319921"/>
              <a:ext cx="7660103" cy="3882251"/>
              <a:chOff x="0" y="0"/>
              <a:chExt cx="1790919" cy="907664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790919" cy="907664"/>
              </a:xfrm>
              <a:custGeom>
                <a:avLst/>
                <a:gdLst/>
                <a:ahLst/>
                <a:cxnLst/>
                <a:rect r="r" b="b" t="t" l="l"/>
                <a:pathLst>
                  <a:path h="907664" w="1790919">
                    <a:moveTo>
                      <a:pt x="35295" y="0"/>
                    </a:moveTo>
                    <a:lnTo>
                      <a:pt x="1755625" y="0"/>
                    </a:lnTo>
                    <a:cubicBezTo>
                      <a:pt x="1764985" y="0"/>
                      <a:pt x="1773963" y="3719"/>
                      <a:pt x="1780582" y="10338"/>
                    </a:cubicBezTo>
                    <a:cubicBezTo>
                      <a:pt x="1787201" y="16957"/>
                      <a:pt x="1790919" y="25934"/>
                      <a:pt x="1790919" y="35295"/>
                    </a:cubicBezTo>
                    <a:lnTo>
                      <a:pt x="1790919" y="872369"/>
                    </a:lnTo>
                    <a:cubicBezTo>
                      <a:pt x="1790919" y="881730"/>
                      <a:pt x="1787201" y="890707"/>
                      <a:pt x="1780582" y="897326"/>
                    </a:cubicBezTo>
                    <a:cubicBezTo>
                      <a:pt x="1773963" y="903945"/>
                      <a:pt x="1764985" y="907664"/>
                      <a:pt x="1755625" y="907664"/>
                    </a:cubicBezTo>
                    <a:lnTo>
                      <a:pt x="35295" y="907664"/>
                    </a:lnTo>
                    <a:cubicBezTo>
                      <a:pt x="25934" y="907664"/>
                      <a:pt x="16957" y="903945"/>
                      <a:pt x="10338" y="897326"/>
                    </a:cubicBezTo>
                    <a:cubicBezTo>
                      <a:pt x="3719" y="890707"/>
                      <a:pt x="0" y="881730"/>
                      <a:pt x="0" y="872369"/>
                    </a:cubicBezTo>
                    <a:lnTo>
                      <a:pt x="0" y="35295"/>
                    </a:lnTo>
                    <a:cubicBezTo>
                      <a:pt x="0" y="25934"/>
                      <a:pt x="3719" y="16957"/>
                      <a:pt x="10338" y="10338"/>
                    </a:cubicBezTo>
                    <a:cubicBezTo>
                      <a:pt x="16957" y="3719"/>
                      <a:pt x="25934" y="0"/>
                      <a:pt x="35295" y="0"/>
                    </a:cubicBezTo>
                    <a:close/>
                  </a:path>
                </a:pathLst>
              </a:custGeom>
              <a:solidFill>
                <a:srgbClr val="202429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790919" cy="9457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1472045" cy="997113"/>
              <a:chOff x="0" y="0"/>
              <a:chExt cx="344162" cy="2331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44162" cy="233123"/>
              </a:xfrm>
              <a:custGeom>
                <a:avLst/>
                <a:gdLst/>
                <a:ahLst/>
                <a:cxnLst/>
                <a:rect r="r" b="b" t="t" l="l"/>
                <a:pathLst>
                  <a:path h="233123" w="344162">
                    <a:moveTo>
                      <a:pt x="82945" y="0"/>
                    </a:moveTo>
                    <a:lnTo>
                      <a:pt x="261217" y="0"/>
                    </a:lnTo>
                    <a:cubicBezTo>
                      <a:pt x="307026" y="0"/>
                      <a:pt x="344162" y="37136"/>
                      <a:pt x="344162" y="82945"/>
                    </a:cubicBezTo>
                    <a:lnTo>
                      <a:pt x="344162" y="150179"/>
                    </a:lnTo>
                    <a:cubicBezTo>
                      <a:pt x="344162" y="195988"/>
                      <a:pt x="307026" y="233123"/>
                      <a:pt x="261217" y="233123"/>
                    </a:cubicBezTo>
                    <a:lnTo>
                      <a:pt x="82945" y="233123"/>
                    </a:lnTo>
                    <a:cubicBezTo>
                      <a:pt x="37136" y="233123"/>
                      <a:pt x="0" y="195988"/>
                      <a:pt x="0" y="150179"/>
                    </a:cubicBezTo>
                    <a:lnTo>
                      <a:pt x="0" y="82945"/>
                    </a:lnTo>
                    <a:cubicBezTo>
                      <a:pt x="0" y="37136"/>
                      <a:pt x="37136" y="0"/>
                      <a:pt x="82945" y="0"/>
                    </a:cubicBez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344162" cy="2712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263835"/>
              <a:ext cx="1472045" cy="733278"/>
              <a:chOff x="0" y="0"/>
              <a:chExt cx="344162" cy="17143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44162" cy="171439"/>
              </a:xfrm>
              <a:custGeom>
                <a:avLst/>
                <a:gdLst/>
                <a:ahLst/>
                <a:cxnLst/>
                <a:rect r="r" b="b" t="t" l="l"/>
                <a:pathLst>
                  <a:path h="171439" w="344162">
                    <a:moveTo>
                      <a:pt x="0" y="0"/>
                    </a:moveTo>
                    <a:lnTo>
                      <a:pt x="344162" y="0"/>
                    </a:lnTo>
                    <a:lnTo>
                      <a:pt x="344162" y="171439"/>
                    </a:lnTo>
                    <a:lnTo>
                      <a:pt x="0" y="171439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344162" cy="2095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64546" y="95380"/>
              <a:ext cx="1142954" cy="7111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F5FFF9"/>
                  </a:solidFill>
                  <a:latin typeface="Poppins"/>
                  <a:ea typeface="Poppins"/>
                  <a:cs typeface="Poppins"/>
                  <a:sym typeface="Poppins"/>
                </a:rPr>
                <a:t>CSS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963342" y="1330146"/>
              <a:ext cx="6206680" cy="20972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60"/>
                </a:lnSpc>
              </a:pPr>
              <a:r>
                <a:rPr lang="en-US" sz="3042" spc="252">
                  <a:solidFill>
                    <a:srgbClr val="FEA002"/>
                  </a:solidFill>
                  <a:latin typeface="Roboto"/>
                  <a:ea typeface="Roboto"/>
                  <a:cs typeface="Roboto"/>
                  <a:sym typeface="Roboto"/>
                </a:rPr>
                <a:t>h1 </a:t>
              </a:r>
              <a:r>
                <a:rPr lang="en-US" sz="3042" spc="252">
                  <a:solidFill>
                    <a:srgbClr val="F661A1"/>
                  </a:solidFill>
                  <a:latin typeface="Roboto"/>
                  <a:ea typeface="Roboto"/>
                  <a:cs typeface="Roboto"/>
                  <a:sym typeface="Roboto"/>
                </a:rPr>
                <a:t>+ </a:t>
              </a:r>
              <a:r>
                <a:rPr lang="en-US" sz="3042" spc="252">
                  <a:solidFill>
                    <a:srgbClr val="FEA002"/>
                  </a:solidFill>
                  <a:latin typeface="Roboto"/>
                  <a:ea typeface="Roboto"/>
                  <a:cs typeface="Roboto"/>
                  <a:sym typeface="Roboto"/>
                </a:rPr>
                <a:t>p 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{</a:t>
              </a:r>
            </a:p>
            <a:p>
              <a:pPr algn="l">
                <a:lnSpc>
                  <a:spcPts val="4260"/>
                </a:lnSpc>
              </a:pP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     </a:t>
              </a:r>
              <a:r>
                <a:rPr lang="en-US" sz="3042" spc="252">
                  <a:solidFill>
                    <a:srgbClr val="BFECAC"/>
                  </a:solidFill>
                  <a:latin typeface="Roboto"/>
                  <a:ea typeface="Roboto"/>
                  <a:cs typeface="Roboto"/>
                  <a:sym typeface="Roboto"/>
                </a:rPr>
                <a:t>color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: </a:t>
              </a:r>
              <a:r>
                <a:rPr lang="en-US" sz="3042" spc="252">
                  <a:solidFill>
                    <a:srgbClr val="FEA002"/>
                  </a:solidFill>
                  <a:latin typeface="Roboto"/>
                  <a:ea typeface="Roboto"/>
                  <a:cs typeface="Roboto"/>
                  <a:sym typeface="Roboto"/>
                </a:rPr>
                <a:t>orange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;</a:t>
              </a:r>
            </a:p>
            <a:p>
              <a:pPr algn="l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}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73412" y="518136"/>
            <a:ext cx="1684525" cy="1619250"/>
          </a:xfrm>
          <a:custGeom>
            <a:avLst/>
            <a:gdLst/>
            <a:ahLst/>
            <a:cxnLst/>
            <a:rect r="r" b="b" t="t" l="l"/>
            <a:pathLst>
              <a:path h="1619250" w="1684525">
                <a:moveTo>
                  <a:pt x="0" y="0"/>
                </a:moveTo>
                <a:lnTo>
                  <a:pt x="1684525" y="0"/>
                </a:lnTo>
                <a:lnTo>
                  <a:pt x="1684525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741157" y="520785"/>
            <a:ext cx="6783988" cy="95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64"/>
              </a:lnSpc>
            </a:pPr>
            <a:r>
              <a:rPr lang="en-US" b="true" sz="5621">
                <a:solidFill>
                  <a:srgbClr val="5A2312"/>
                </a:solidFill>
                <a:latin typeface="Poppins Bold"/>
                <a:ea typeface="Poppins Bold"/>
                <a:cs typeface="Poppins Bold"/>
                <a:sym typeface="Poppins Bold"/>
              </a:rPr>
              <a:t>Irmão adjacente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85474" y="8456104"/>
            <a:ext cx="7815676" cy="890766"/>
            <a:chOff x="0" y="0"/>
            <a:chExt cx="10420901" cy="1187689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285141" y="61729"/>
              <a:ext cx="10135760" cy="1064231"/>
              <a:chOff x="0" y="0"/>
              <a:chExt cx="2002125" cy="21021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002125" cy="210218"/>
              </a:xfrm>
              <a:custGeom>
                <a:avLst/>
                <a:gdLst/>
                <a:ahLst/>
                <a:cxnLst/>
                <a:rect r="r" b="b" t="t" l="l"/>
                <a:pathLst>
                  <a:path h="210218" w="2002125">
                    <a:moveTo>
                      <a:pt x="31571" y="0"/>
                    </a:moveTo>
                    <a:lnTo>
                      <a:pt x="1970554" y="0"/>
                    </a:lnTo>
                    <a:cubicBezTo>
                      <a:pt x="1987990" y="0"/>
                      <a:pt x="2002125" y="14135"/>
                      <a:pt x="2002125" y="31571"/>
                    </a:cubicBezTo>
                    <a:lnTo>
                      <a:pt x="2002125" y="178647"/>
                    </a:lnTo>
                    <a:cubicBezTo>
                      <a:pt x="2002125" y="196083"/>
                      <a:pt x="1987990" y="210218"/>
                      <a:pt x="1970554" y="210218"/>
                    </a:cubicBezTo>
                    <a:lnTo>
                      <a:pt x="31571" y="210218"/>
                    </a:lnTo>
                    <a:cubicBezTo>
                      <a:pt x="14135" y="210218"/>
                      <a:pt x="0" y="196083"/>
                      <a:pt x="0" y="178647"/>
                    </a:cubicBezTo>
                    <a:lnTo>
                      <a:pt x="0" y="31571"/>
                    </a:lnTo>
                    <a:cubicBezTo>
                      <a:pt x="0" y="14135"/>
                      <a:pt x="14135" y="0"/>
                      <a:pt x="31571" y="0"/>
                    </a:cubicBezTo>
                    <a:close/>
                  </a:path>
                </a:pathLst>
              </a:custGeom>
              <a:solidFill>
                <a:srgbClr val="BFECAC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002125" cy="2483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90665" cy="1187689"/>
            </a:xfrm>
            <a:custGeom>
              <a:avLst/>
              <a:gdLst/>
              <a:ahLst/>
              <a:cxnLst/>
              <a:rect r="r" b="b" t="t" l="l"/>
              <a:pathLst>
                <a:path h="1187689" w="1190665">
                  <a:moveTo>
                    <a:pt x="0" y="0"/>
                  </a:moveTo>
                  <a:lnTo>
                    <a:pt x="1190665" y="0"/>
                  </a:lnTo>
                  <a:lnTo>
                    <a:pt x="1190665" y="1187689"/>
                  </a:lnTo>
                  <a:lnTo>
                    <a:pt x="0" y="1187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646798" y="77574"/>
              <a:ext cx="8243491" cy="975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1"/>
                </a:lnSpc>
              </a:pPr>
              <a:r>
                <a:rPr lang="en-US" b="true" sz="2136" spc="111">
                  <a:solidFill>
                    <a:srgbClr val="17320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Seleciona apenas o primeiro &lt;p&gt; que vem imediatamente depois do &lt;h1&gt;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022749" y="711602"/>
            <a:ext cx="5156200" cy="61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44"/>
              </a:lnSpc>
            </a:pPr>
            <a:r>
              <a:rPr lang="en-US" b="true" sz="3621">
                <a:solidFill>
                  <a:srgbClr val="5A2312"/>
                </a:solidFill>
                <a:latin typeface="Poppins Bold"/>
                <a:ea typeface="Poppins Bold"/>
                <a:cs typeface="Poppins Bold"/>
                <a:sym typeface="Poppins Bold"/>
              </a:rPr>
              <a:t>(+)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88134" y="5328501"/>
            <a:ext cx="1669804" cy="1956131"/>
            <a:chOff x="0" y="0"/>
            <a:chExt cx="447703" cy="5244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47703" cy="524472"/>
            </a:xfrm>
            <a:custGeom>
              <a:avLst/>
              <a:gdLst/>
              <a:ahLst/>
              <a:cxnLst/>
              <a:rect r="r" b="b" t="t" l="l"/>
              <a:pathLst>
                <a:path h="524472" w="447703">
                  <a:moveTo>
                    <a:pt x="153002" y="0"/>
                  </a:moveTo>
                  <a:lnTo>
                    <a:pt x="294701" y="0"/>
                  </a:lnTo>
                  <a:cubicBezTo>
                    <a:pt x="379201" y="0"/>
                    <a:pt x="447703" y="68501"/>
                    <a:pt x="447703" y="153002"/>
                  </a:cubicBezTo>
                  <a:lnTo>
                    <a:pt x="447703" y="371470"/>
                  </a:lnTo>
                  <a:cubicBezTo>
                    <a:pt x="447703" y="455970"/>
                    <a:pt x="379201" y="524472"/>
                    <a:pt x="294701" y="524472"/>
                  </a:cubicBezTo>
                  <a:lnTo>
                    <a:pt x="153002" y="524472"/>
                  </a:lnTo>
                  <a:cubicBezTo>
                    <a:pt x="68501" y="524472"/>
                    <a:pt x="0" y="455970"/>
                    <a:pt x="0" y="371470"/>
                  </a:cubicBezTo>
                  <a:lnTo>
                    <a:pt x="0" y="153002"/>
                  </a:lnTo>
                  <a:cubicBezTo>
                    <a:pt x="0" y="68501"/>
                    <a:pt x="68501" y="0"/>
                    <a:pt x="153002" y="0"/>
                  </a:cubicBezTo>
                  <a:close/>
                </a:path>
              </a:pathLst>
            </a:custGeom>
            <a:ln w="38100" cap="rnd">
              <a:solidFill>
                <a:srgbClr val="BBBDB7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47703" cy="562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Título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65194" y="4918435"/>
            <a:ext cx="1315683" cy="654957"/>
            <a:chOff x="0" y="0"/>
            <a:chExt cx="352757" cy="17560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2757" cy="175605"/>
            </a:xfrm>
            <a:custGeom>
              <a:avLst/>
              <a:gdLst/>
              <a:ahLst/>
              <a:cxnLst/>
              <a:rect r="r" b="b" t="t" l="l"/>
              <a:pathLst>
                <a:path h="175605" w="352757">
                  <a:moveTo>
                    <a:pt x="87802" y="0"/>
                  </a:moveTo>
                  <a:lnTo>
                    <a:pt x="264954" y="0"/>
                  </a:lnTo>
                  <a:cubicBezTo>
                    <a:pt x="313446" y="0"/>
                    <a:pt x="352757" y="39311"/>
                    <a:pt x="352757" y="87802"/>
                  </a:cubicBezTo>
                  <a:lnTo>
                    <a:pt x="352757" y="87802"/>
                  </a:lnTo>
                  <a:cubicBezTo>
                    <a:pt x="352757" y="136294"/>
                    <a:pt x="313446" y="175605"/>
                    <a:pt x="264954" y="175605"/>
                  </a:cubicBezTo>
                  <a:lnTo>
                    <a:pt x="87802" y="175605"/>
                  </a:lnTo>
                  <a:cubicBezTo>
                    <a:pt x="39311" y="175605"/>
                    <a:pt x="0" y="136294"/>
                    <a:pt x="0" y="87802"/>
                  </a:cubicBezTo>
                  <a:lnTo>
                    <a:pt x="0" y="87802"/>
                  </a:lnTo>
                  <a:cubicBezTo>
                    <a:pt x="0" y="39311"/>
                    <a:pt x="39311" y="0"/>
                    <a:pt x="87802" y="0"/>
                  </a:cubicBezTo>
                  <a:close/>
                </a:path>
              </a:pathLst>
            </a:custGeom>
            <a:solidFill>
              <a:srgbClr val="BBBDB7"/>
            </a:solidFill>
            <a:ln cap="sq">
              <a:noFill/>
              <a:prstDash val="dash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352757" cy="232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h1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806862" y="1575008"/>
            <a:ext cx="6311137" cy="1575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95"/>
              </a:lnSpc>
            </a:pPr>
            <a:r>
              <a:rPr lang="en-US" sz="3500" spc="-192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Seleciona o primeiro elemento que vem logo após outro elemento (mesmo nível).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2554935" y="4918435"/>
            <a:ext cx="1669804" cy="2366197"/>
            <a:chOff x="0" y="0"/>
            <a:chExt cx="2226405" cy="315493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546755"/>
              <a:ext cx="2226405" cy="2608174"/>
              <a:chOff x="0" y="0"/>
              <a:chExt cx="447703" cy="52447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47703" cy="524472"/>
              </a:xfrm>
              <a:custGeom>
                <a:avLst/>
                <a:gdLst/>
                <a:ahLst/>
                <a:cxnLst/>
                <a:rect r="r" b="b" t="t" l="l"/>
                <a:pathLst>
                  <a:path h="524472" w="447703">
                    <a:moveTo>
                      <a:pt x="153002" y="0"/>
                    </a:moveTo>
                    <a:lnTo>
                      <a:pt x="294701" y="0"/>
                    </a:lnTo>
                    <a:cubicBezTo>
                      <a:pt x="379201" y="0"/>
                      <a:pt x="447703" y="68501"/>
                      <a:pt x="447703" y="153002"/>
                    </a:cubicBezTo>
                    <a:lnTo>
                      <a:pt x="447703" y="371470"/>
                    </a:lnTo>
                    <a:cubicBezTo>
                      <a:pt x="447703" y="455970"/>
                      <a:pt x="379201" y="524472"/>
                      <a:pt x="294701" y="524472"/>
                    </a:cubicBezTo>
                    <a:lnTo>
                      <a:pt x="153002" y="524472"/>
                    </a:lnTo>
                    <a:cubicBezTo>
                      <a:pt x="68501" y="524472"/>
                      <a:pt x="0" y="455970"/>
                      <a:pt x="0" y="371470"/>
                    </a:cubicBezTo>
                    <a:lnTo>
                      <a:pt x="0" y="153002"/>
                    </a:lnTo>
                    <a:cubicBezTo>
                      <a:pt x="0" y="68501"/>
                      <a:pt x="68501" y="0"/>
                      <a:pt x="153002" y="0"/>
                    </a:cubicBezTo>
                    <a:close/>
                  </a:path>
                </a:pathLst>
              </a:custGeom>
              <a:ln w="38100" cap="rnd">
                <a:solidFill>
                  <a:srgbClr val="FEA002"/>
                </a:solidFill>
                <a:prstDash val="solid"/>
                <a:round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447703" cy="5625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Primeiro parágrafo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236081" y="0"/>
              <a:ext cx="1754244" cy="873276"/>
              <a:chOff x="0" y="0"/>
              <a:chExt cx="352757" cy="175605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352757" cy="175605"/>
              </a:xfrm>
              <a:custGeom>
                <a:avLst/>
                <a:gdLst/>
                <a:ahLst/>
                <a:cxnLst/>
                <a:rect r="r" b="b" t="t" l="l"/>
                <a:pathLst>
                  <a:path h="175605" w="352757">
                    <a:moveTo>
                      <a:pt x="87802" y="0"/>
                    </a:moveTo>
                    <a:lnTo>
                      <a:pt x="264954" y="0"/>
                    </a:lnTo>
                    <a:cubicBezTo>
                      <a:pt x="313446" y="0"/>
                      <a:pt x="352757" y="39311"/>
                      <a:pt x="352757" y="87802"/>
                    </a:cubicBezTo>
                    <a:lnTo>
                      <a:pt x="352757" y="87802"/>
                    </a:lnTo>
                    <a:cubicBezTo>
                      <a:pt x="352757" y="136294"/>
                      <a:pt x="313446" y="175605"/>
                      <a:pt x="264954" y="175605"/>
                    </a:cubicBezTo>
                    <a:lnTo>
                      <a:pt x="87802" y="175605"/>
                    </a:lnTo>
                    <a:cubicBezTo>
                      <a:pt x="39311" y="175605"/>
                      <a:pt x="0" y="136294"/>
                      <a:pt x="0" y="87802"/>
                    </a:cubicBezTo>
                    <a:lnTo>
                      <a:pt x="0" y="87802"/>
                    </a:lnTo>
                    <a:cubicBezTo>
                      <a:pt x="0" y="39311"/>
                      <a:pt x="39311" y="0"/>
                      <a:pt x="87802" y="0"/>
                    </a:cubicBezTo>
                    <a:close/>
                  </a:path>
                </a:pathLst>
              </a:custGeom>
              <a:solidFill>
                <a:srgbClr val="FEA002"/>
              </a:solidFill>
              <a:ln cap="sq">
                <a:noFill/>
                <a:prstDash val="dash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57150"/>
                <a:ext cx="352757" cy="2327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  <a:r>
                  <a:rPr lang="en-US" sz="25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</a:t>
                </a:r>
              </a:p>
            </p:txBody>
          </p:sp>
        </p:grpSp>
      </p:grpSp>
      <p:grpSp>
        <p:nvGrpSpPr>
          <p:cNvPr name="Group 38" id="38"/>
          <p:cNvGrpSpPr/>
          <p:nvPr/>
        </p:nvGrpSpPr>
        <p:grpSpPr>
          <a:xfrm rot="0">
            <a:off x="4321737" y="5328501"/>
            <a:ext cx="1669804" cy="1956131"/>
            <a:chOff x="0" y="0"/>
            <a:chExt cx="447703" cy="5244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47703" cy="524472"/>
            </a:xfrm>
            <a:custGeom>
              <a:avLst/>
              <a:gdLst/>
              <a:ahLst/>
              <a:cxnLst/>
              <a:rect r="r" b="b" t="t" l="l"/>
              <a:pathLst>
                <a:path h="524472" w="447703">
                  <a:moveTo>
                    <a:pt x="153002" y="0"/>
                  </a:moveTo>
                  <a:lnTo>
                    <a:pt x="294701" y="0"/>
                  </a:lnTo>
                  <a:cubicBezTo>
                    <a:pt x="379201" y="0"/>
                    <a:pt x="447703" y="68501"/>
                    <a:pt x="447703" y="153002"/>
                  </a:cubicBezTo>
                  <a:lnTo>
                    <a:pt x="447703" y="371470"/>
                  </a:lnTo>
                  <a:cubicBezTo>
                    <a:pt x="447703" y="455970"/>
                    <a:pt x="379201" y="524472"/>
                    <a:pt x="294701" y="524472"/>
                  </a:cubicBezTo>
                  <a:lnTo>
                    <a:pt x="153002" y="524472"/>
                  </a:lnTo>
                  <a:cubicBezTo>
                    <a:pt x="68501" y="524472"/>
                    <a:pt x="0" y="455970"/>
                    <a:pt x="0" y="371470"/>
                  </a:cubicBezTo>
                  <a:lnTo>
                    <a:pt x="0" y="153002"/>
                  </a:lnTo>
                  <a:cubicBezTo>
                    <a:pt x="0" y="68501"/>
                    <a:pt x="68501" y="0"/>
                    <a:pt x="153002" y="0"/>
                  </a:cubicBezTo>
                  <a:close/>
                </a:path>
              </a:pathLst>
            </a:custGeom>
            <a:ln w="38100" cap="rnd">
              <a:solidFill>
                <a:srgbClr val="C7C3E6"/>
              </a:solidFill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47703" cy="562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Segundo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parágrafo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498798" y="4918435"/>
            <a:ext cx="1315683" cy="654957"/>
            <a:chOff x="0" y="0"/>
            <a:chExt cx="352757" cy="17560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52757" cy="175605"/>
            </a:xfrm>
            <a:custGeom>
              <a:avLst/>
              <a:gdLst/>
              <a:ahLst/>
              <a:cxnLst/>
              <a:rect r="r" b="b" t="t" l="l"/>
              <a:pathLst>
                <a:path h="175605" w="352757">
                  <a:moveTo>
                    <a:pt x="87802" y="0"/>
                  </a:moveTo>
                  <a:lnTo>
                    <a:pt x="264954" y="0"/>
                  </a:lnTo>
                  <a:cubicBezTo>
                    <a:pt x="313446" y="0"/>
                    <a:pt x="352757" y="39311"/>
                    <a:pt x="352757" y="87802"/>
                  </a:cubicBezTo>
                  <a:lnTo>
                    <a:pt x="352757" y="87802"/>
                  </a:lnTo>
                  <a:cubicBezTo>
                    <a:pt x="352757" y="136294"/>
                    <a:pt x="313446" y="175605"/>
                    <a:pt x="264954" y="175605"/>
                  </a:cubicBezTo>
                  <a:lnTo>
                    <a:pt x="87802" y="175605"/>
                  </a:lnTo>
                  <a:cubicBezTo>
                    <a:pt x="39311" y="175605"/>
                    <a:pt x="0" y="136294"/>
                    <a:pt x="0" y="87802"/>
                  </a:cubicBezTo>
                  <a:lnTo>
                    <a:pt x="0" y="87802"/>
                  </a:lnTo>
                  <a:cubicBezTo>
                    <a:pt x="0" y="39311"/>
                    <a:pt x="39311" y="0"/>
                    <a:pt x="87802" y="0"/>
                  </a:cubicBezTo>
                  <a:close/>
                </a:path>
              </a:pathLst>
            </a:custGeom>
            <a:solidFill>
              <a:srgbClr val="BBBDB7"/>
            </a:solidFill>
            <a:ln cap="sq">
              <a:noFill/>
              <a:prstDash val="dash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352757" cy="232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088539" y="4918435"/>
            <a:ext cx="1669804" cy="2366197"/>
            <a:chOff x="0" y="0"/>
            <a:chExt cx="2226405" cy="3154930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546755"/>
              <a:ext cx="2226405" cy="2608174"/>
              <a:chOff x="0" y="0"/>
              <a:chExt cx="447703" cy="524472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447703" cy="524472"/>
              </a:xfrm>
              <a:custGeom>
                <a:avLst/>
                <a:gdLst/>
                <a:ahLst/>
                <a:cxnLst/>
                <a:rect r="r" b="b" t="t" l="l"/>
                <a:pathLst>
                  <a:path h="524472" w="447703">
                    <a:moveTo>
                      <a:pt x="153002" y="0"/>
                    </a:moveTo>
                    <a:lnTo>
                      <a:pt x="294701" y="0"/>
                    </a:lnTo>
                    <a:cubicBezTo>
                      <a:pt x="379201" y="0"/>
                      <a:pt x="447703" y="68501"/>
                      <a:pt x="447703" y="153002"/>
                    </a:cubicBezTo>
                    <a:lnTo>
                      <a:pt x="447703" y="371470"/>
                    </a:lnTo>
                    <a:cubicBezTo>
                      <a:pt x="447703" y="455970"/>
                      <a:pt x="379201" y="524472"/>
                      <a:pt x="294701" y="524472"/>
                    </a:cubicBezTo>
                    <a:lnTo>
                      <a:pt x="153002" y="524472"/>
                    </a:lnTo>
                    <a:cubicBezTo>
                      <a:pt x="68501" y="524472"/>
                      <a:pt x="0" y="455970"/>
                      <a:pt x="0" y="371470"/>
                    </a:cubicBezTo>
                    <a:lnTo>
                      <a:pt x="0" y="153002"/>
                    </a:lnTo>
                    <a:cubicBezTo>
                      <a:pt x="0" y="68501"/>
                      <a:pt x="68501" y="0"/>
                      <a:pt x="153002" y="0"/>
                    </a:cubicBezTo>
                    <a:close/>
                  </a:path>
                </a:pathLst>
              </a:custGeom>
              <a:ln w="38100" cap="rnd">
                <a:solidFill>
                  <a:srgbClr val="BBBDB7"/>
                </a:solidFill>
                <a:prstDash val="solid"/>
                <a:round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447703" cy="5625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Outro elemento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236081" y="0"/>
              <a:ext cx="1754244" cy="873276"/>
              <a:chOff x="0" y="0"/>
              <a:chExt cx="352757" cy="175605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352757" cy="175605"/>
              </a:xfrm>
              <a:custGeom>
                <a:avLst/>
                <a:gdLst/>
                <a:ahLst/>
                <a:cxnLst/>
                <a:rect r="r" b="b" t="t" l="l"/>
                <a:pathLst>
                  <a:path h="175605" w="352757">
                    <a:moveTo>
                      <a:pt x="87802" y="0"/>
                    </a:moveTo>
                    <a:lnTo>
                      <a:pt x="264954" y="0"/>
                    </a:lnTo>
                    <a:cubicBezTo>
                      <a:pt x="313446" y="0"/>
                      <a:pt x="352757" y="39311"/>
                      <a:pt x="352757" y="87802"/>
                    </a:cubicBezTo>
                    <a:lnTo>
                      <a:pt x="352757" y="87802"/>
                    </a:lnTo>
                    <a:cubicBezTo>
                      <a:pt x="352757" y="136294"/>
                      <a:pt x="313446" y="175605"/>
                      <a:pt x="264954" y="175605"/>
                    </a:cubicBezTo>
                    <a:lnTo>
                      <a:pt x="87802" y="175605"/>
                    </a:lnTo>
                    <a:cubicBezTo>
                      <a:pt x="39311" y="175605"/>
                      <a:pt x="0" y="136294"/>
                      <a:pt x="0" y="87802"/>
                    </a:cubicBezTo>
                    <a:lnTo>
                      <a:pt x="0" y="87802"/>
                    </a:lnTo>
                    <a:cubicBezTo>
                      <a:pt x="0" y="39311"/>
                      <a:pt x="39311" y="0"/>
                      <a:pt x="87802" y="0"/>
                    </a:cubicBezTo>
                    <a:close/>
                  </a:path>
                </a:pathLst>
              </a:custGeom>
              <a:solidFill>
                <a:srgbClr val="BBBDB7"/>
              </a:solidFill>
              <a:ln cap="sq">
                <a:noFill/>
                <a:prstDash val="dash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57150"/>
                <a:ext cx="352757" cy="2327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  <a:r>
                  <a:rPr lang="en-US" sz="25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span</a:t>
                </a:r>
              </a:p>
            </p:txBody>
          </p:sp>
        </p:grpSp>
      </p:grpSp>
      <p:grpSp>
        <p:nvGrpSpPr>
          <p:cNvPr name="Group 51" id="51"/>
          <p:cNvGrpSpPr/>
          <p:nvPr/>
        </p:nvGrpSpPr>
        <p:grpSpPr>
          <a:xfrm rot="0">
            <a:off x="7855341" y="4918435"/>
            <a:ext cx="1669804" cy="2366197"/>
            <a:chOff x="0" y="0"/>
            <a:chExt cx="2226405" cy="315493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546755"/>
              <a:ext cx="2226405" cy="2608174"/>
              <a:chOff x="0" y="0"/>
              <a:chExt cx="447703" cy="524472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447703" cy="524472"/>
              </a:xfrm>
              <a:custGeom>
                <a:avLst/>
                <a:gdLst/>
                <a:ahLst/>
                <a:cxnLst/>
                <a:rect r="r" b="b" t="t" l="l"/>
                <a:pathLst>
                  <a:path h="524472" w="447703">
                    <a:moveTo>
                      <a:pt x="153002" y="0"/>
                    </a:moveTo>
                    <a:lnTo>
                      <a:pt x="294701" y="0"/>
                    </a:lnTo>
                    <a:cubicBezTo>
                      <a:pt x="379201" y="0"/>
                      <a:pt x="447703" y="68501"/>
                      <a:pt x="447703" y="153002"/>
                    </a:cubicBezTo>
                    <a:lnTo>
                      <a:pt x="447703" y="371470"/>
                    </a:lnTo>
                    <a:cubicBezTo>
                      <a:pt x="447703" y="455970"/>
                      <a:pt x="379201" y="524472"/>
                      <a:pt x="294701" y="524472"/>
                    </a:cubicBezTo>
                    <a:lnTo>
                      <a:pt x="153002" y="524472"/>
                    </a:lnTo>
                    <a:cubicBezTo>
                      <a:pt x="68501" y="524472"/>
                      <a:pt x="0" y="455970"/>
                      <a:pt x="0" y="371470"/>
                    </a:cubicBezTo>
                    <a:lnTo>
                      <a:pt x="0" y="153002"/>
                    </a:lnTo>
                    <a:cubicBezTo>
                      <a:pt x="0" y="68501"/>
                      <a:pt x="68501" y="0"/>
                      <a:pt x="153002" y="0"/>
                    </a:cubicBezTo>
                    <a:close/>
                  </a:path>
                </a:pathLst>
              </a:custGeom>
              <a:ln w="38100" cap="rnd">
                <a:solidFill>
                  <a:srgbClr val="BBBDB7"/>
                </a:solidFill>
                <a:prstDash val="solid"/>
                <a:round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447703" cy="5625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Terceiro</a:t>
                </a:r>
              </a:p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parágrafo</a:t>
                </a: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236081" y="0"/>
              <a:ext cx="1754244" cy="873276"/>
              <a:chOff x="0" y="0"/>
              <a:chExt cx="352757" cy="175605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352757" cy="175605"/>
              </a:xfrm>
              <a:custGeom>
                <a:avLst/>
                <a:gdLst/>
                <a:ahLst/>
                <a:cxnLst/>
                <a:rect r="r" b="b" t="t" l="l"/>
                <a:pathLst>
                  <a:path h="175605" w="352757">
                    <a:moveTo>
                      <a:pt x="87802" y="0"/>
                    </a:moveTo>
                    <a:lnTo>
                      <a:pt x="264954" y="0"/>
                    </a:lnTo>
                    <a:cubicBezTo>
                      <a:pt x="313446" y="0"/>
                      <a:pt x="352757" y="39311"/>
                      <a:pt x="352757" y="87802"/>
                    </a:cubicBezTo>
                    <a:lnTo>
                      <a:pt x="352757" y="87802"/>
                    </a:lnTo>
                    <a:cubicBezTo>
                      <a:pt x="352757" y="136294"/>
                      <a:pt x="313446" y="175605"/>
                      <a:pt x="264954" y="175605"/>
                    </a:cubicBezTo>
                    <a:lnTo>
                      <a:pt x="87802" y="175605"/>
                    </a:lnTo>
                    <a:cubicBezTo>
                      <a:pt x="39311" y="175605"/>
                      <a:pt x="0" y="136294"/>
                      <a:pt x="0" y="87802"/>
                    </a:cubicBezTo>
                    <a:lnTo>
                      <a:pt x="0" y="87802"/>
                    </a:lnTo>
                    <a:cubicBezTo>
                      <a:pt x="0" y="39311"/>
                      <a:pt x="39311" y="0"/>
                      <a:pt x="87802" y="0"/>
                    </a:cubicBezTo>
                    <a:close/>
                  </a:path>
                </a:pathLst>
              </a:custGeom>
              <a:solidFill>
                <a:srgbClr val="BBBDB7"/>
              </a:solidFill>
              <a:ln cap="sq">
                <a:noFill/>
                <a:prstDash val="dash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57150"/>
                <a:ext cx="352757" cy="2327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  <a:r>
                  <a:rPr lang="en-US" sz="25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</a:t>
                </a:r>
              </a:p>
            </p:txBody>
          </p:sp>
        </p:grpSp>
      </p:grpSp>
      <p:sp>
        <p:nvSpPr>
          <p:cNvPr name="Freeform 58" id="58"/>
          <p:cNvSpPr/>
          <p:nvPr/>
        </p:nvSpPr>
        <p:spPr>
          <a:xfrm flipH="false" flipV="false" rot="0">
            <a:off x="10647231" y="845084"/>
            <a:ext cx="6612069" cy="4610719"/>
          </a:xfrm>
          <a:custGeom>
            <a:avLst/>
            <a:gdLst/>
            <a:ahLst/>
            <a:cxnLst/>
            <a:rect r="r" b="b" t="t" l="l"/>
            <a:pathLst>
              <a:path h="4610719" w="6612069">
                <a:moveTo>
                  <a:pt x="0" y="0"/>
                </a:moveTo>
                <a:lnTo>
                  <a:pt x="6612069" y="0"/>
                </a:lnTo>
                <a:lnTo>
                  <a:pt x="6612069" y="4610719"/>
                </a:lnTo>
                <a:lnTo>
                  <a:pt x="0" y="46107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7841" t="-25247" r="-17443" b="-128217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512918" y="4371930"/>
            <a:ext cx="9431091" cy="3419955"/>
            <a:chOff x="0" y="0"/>
            <a:chExt cx="2528634" cy="91694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528634" cy="916948"/>
            </a:xfrm>
            <a:custGeom>
              <a:avLst/>
              <a:gdLst/>
              <a:ahLst/>
              <a:cxnLst/>
              <a:rect r="r" b="b" t="t" l="l"/>
              <a:pathLst>
                <a:path h="916948" w="2528634">
                  <a:moveTo>
                    <a:pt x="27089" y="0"/>
                  </a:moveTo>
                  <a:lnTo>
                    <a:pt x="2501545" y="0"/>
                  </a:lnTo>
                  <a:cubicBezTo>
                    <a:pt x="2516506" y="0"/>
                    <a:pt x="2528634" y="12128"/>
                    <a:pt x="2528634" y="27089"/>
                  </a:cubicBezTo>
                  <a:lnTo>
                    <a:pt x="2528634" y="889858"/>
                  </a:lnTo>
                  <a:cubicBezTo>
                    <a:pt x="2528634" y="897043"/>
                    <a:pt x="2525780" y="903933"/>
                    <a:pt x="2520700" y="909013"/>
                  </a:cubicBezTo>
                  <a:cubicBezTo>
                    <a:pt x="2515620" y="914093"/>
                    <a:pt x="2508729" y="916948"/>
                    <a:pt x="2501545" y="916948"/>
                  </a:cubicBezTo>
                  <a:lnTo>
                    <a:pt x="27089" y="916948"/>
                  </a:lnTo>
                  <a:cubicBezTo>
                    <a:pt x="19905" y="916948"/>
                    <a:pt x="13015" y="914093"/>
                    <a:pt x="7934" y="909013"/>
                  </a:cubicBezTo>
                  <a:cubicBezTo>
                    <a:pt x="2854" y="903933"/>
                    <a:pt x="0" y="897043"/>
                    <a:pt x="0" y="889858"/>
                  </a:cubicBezTo>
                  <a:lnTo>
                    <a:pt x="0" y="27089"/>
                  </a:lnTo>
                  <a:cubicBezTo>
                    <a:pt x="0" y="19905"/>
                    <a:pt x="2854" y="13015"/>
                    <a:pt x="7934" y="7934"/>
                  </a:cubicBezTo>
                  <a:cubicBezTo>
                    <a:pt x="13015" y="2854"/>
                    <a:pt x="19905" y="0"/>
                    <a:pt x="27089" y="0"/>
                  </a:cubicBezTo>
                  <a:close/>
                </a:path>
              </a:pathLst>
            </a:custGeom>
            <a:ln w="38100" cap="rnd">
              <a:solidFill>
                <a:srgbClr val="4E259A"/>
              </a:solidFill>
              <a:prstDash val="solid"/>
              <a:round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2528634" cy="955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4433159" y="3930796"/>
            <a:ext cx="1590609" cy="781771"/>
            <a:chOff x="0" y="0"/>
            <a:chExt cx="426469" cy="20960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26469" cy="209606"/>
            </a:xfrm>
            <a:custGeom>
              <a:avLst/>
              <a:gdLst/>
              <a:ahLst/>
              <a:cxnLst/>
              <a:rect r="r" b="b" t="t" l="l"/>
              <a:pathLst>
                <a:path h="209606" w="426469">
                  <a:moveTo>
                    <a:pt x="92478" y="0"/>
                  </a:moveTo>
                  <a:lnTo>
                    <a:pt x="333991" y="0"/>
                  </a:lnTo>
                  <a:cubicBezTo>
                    <a:pt x="385065" y="0"/>
                    <a:pt x="426469" y="41404"/>
                    <a:pt x="426469" y="92478"/>
                  </a:cubicBezTo>
                  <a:lnTo>
                    <a:pt x="426469" y="117128"/>
                  </a:lnTo>
                  <a:cubicBezTo>
                    <a:pt x="426469" y="141655"/>
                    <a:pt x="416726" y="165177"/>
                    <a:pt x="399383" y="182520"/>
                  </a:cubicBezTo>
                  <a:cubicBezTo>
                    <a:pt x="382040" y="199863"/>
                    <a:pt x="358518" y="209606"/>
                    <a:pt x="333991" y="209606"/>
                  </a:cubicBezTo>
                  <a:lnTo>
                    <a:pt x="92478" y="209606"/>
                  </a:lnTo>
                  <a:cubicBezTo>
                    <a:pt x="41404" y="209606"/>
                    <a:pt x="0" y="168202"/>
                    <a:pt x="0" y="117128"/>
                  </a:cubicBezTo>
                  <a:lnTo>
                    <a:pt x="0" y="92478"/>
                  </a:lnTo>
                  <a:cubicBezTo>
                    <a:pt x="0" y="67951"/>
                    <a:pt x="9743" y="44429"/>
                    <a:pt x="27086" y="27086"/>
                  </a:cubicBezTo>
                  <a:cubicBezTo>
                    <a:pt x="44429" y="9743"/>
                    <a:pt x="67951" y="0"/>
                    <a:pt x="92478" y="0"/>
                  </a:cubicBezTo>
                  <a:close/>
                </a:path>
              </a:pathLst>
            </a:custGeom>
            <a:solidFill>
              <a:srgbClr val="761989"/>
            </a:solidFill>
            <a:ln cap="sq">
              <a:noFill/>
              <a:prstDash val="dash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426469" cy="276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div</a:t>
              </a:r>
            </a:p>
          </p:txBody>
        </p:sp>
      </p:grpSp>
    </p:spTree>
  </p:cSld>
  <p:clrMapOvr>
    <a:masterClrMapping/>
  </p:clrMapOvr>
  <p:transition spd="med">
    <p:cover dir="d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97475" y="6106671"/>
            <a:ext cx="5745077" cy="3151629"/>
            <a:chOff x="0" y="0"/>
            <a:chExt cx="7660103" cy="420217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319921"/>
              <a:ext cx="7660103" cy="3882251"/>
              <a:chOff x="0" y="0"/>
              <a:chExt cx="1790919" cy="907664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790919" cy="907664"/>
              </a:xfrm>
              <a:custGeom>
                <a:avLst/>
                <a:gdLst/>
                <a:ahLst/>
                <a:cxnLst/>
                <a:rect r="r" b="b" t="t" l="l"/>
                <a:pathLst>
                  <a:path h="907664" w="1790919">
                    <a:moveTo>
                      <a:pt x="35295" y="0"/>
                    </a:moveTo>
                    <a:lnTo>
                      <a:pt x="1755625" y="0"/>
                    </a:lnTo>
                    <a:cubicBezTo>
                      <a:pt x="1764985" y="0"/>
                      <a:pt x="1773963" y="3719"/>
                      <a:pt x="1780582" y="10338"/>
                    </a:cubicBezTo>
                    <a:cubicBezTo>
                      <a:pt x="1787201" y="16957"/>
                      <a:pt x="1790919" y="25934"/>
                      <a:pt x="1790919" y="35295"/>
                    </a:cubicBezTo>
                    <a:lnTo>
                      <a:pt x="1790919" y="872369"/>
                    </a:lnTo>
                    <a:cubicBezTo>
                      <a:pt x="1790919" y="881730"/>
                      <a:pt x="1787201" y="890707"/>
                      <a:pt x="1780582" y="897326"/>
                    </a:cubicBezTo>
                    <a:cubicBezTo>
                      <a:pt x="1773963" y="903945"/>
                      <a:pt x="1764985" y="907664"/>
                      <a:pt x="1755625" y="907664"/>
                    </a:cubicBezTo>
                    <a:lnTo>
                      <a:pt x="35295" y="907664"/>
                    </a:lnTo>
                    <a:cubicBezTo>
                      <a:pt x="25934" y="907664"/>
                      <a:pt x="16957" y="903945"/>
                      <a:pt x="10338" y="897326"/>
                    </a:cubicBezTo>
                    <a:cubicBezTo>
                      <a:pt x="3719" y="890707"/>
                      <a:pt x="0" y="881730"/>
                      <a:pt x="0" y="872369"/>
                    </a:cubicBezTo>
                    <a:lnTo>
                      <a:pt x="0" y="35295"/>
                    </a:lnTo>
                    <a:cubicBezTo>
                      <a:pt x="0" y="25934"/>
                      <a:pt x="3719" y="16957"/>
                      <a:pt x="10338" y="10338"/>
                    </a:cubicBezTo>
                    <a:cubicBezTo>
                      <a:pt x="16957" y="3719"/>
                      <a:pt x="25934" y="0"/>
                      <a:pt x="35295" y="0"/>
                    </a:cubicBezTo>
                    <a:close/>
                  </a:path>
                </a:pathLst>
              </a:custGeom>
              <a:solidFill>
                <a:srgbClr val="202429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790919" cy="9457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1472045" cy="997113"/>
              <a:chOff x="0" y="0"/>
              <a:chExt cx="344162" cy="2331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44162" cy="233123"/>
              </a:xfrm>
              <a:custGeom>
                <a:avLst/>
                <a:gdLst/>
                <a:ahLst/>
                <a:cxnLst/>
                <a:rect r="r" b="b" t="t" l="l"/>
                <a:pathLst>
                  <a:path h="233123" w="344162">
                    <a:moveTo>
                      <a:pt x="82945" y="0"/>
                    </a:moveTo>
                    <a:lnTo>
                      <a:pt x="261217" y="0"/>
                    </a:lnTo>
                    <a:cubicBezTo>
                      <a:pt x="307026" y="0"/>
                      <a:pt x="344162" y="37136"/>
                      <a:pt x="344162" y="82945"/>
                    </a:cubicBezTo>
                    <a:lnTo>
                      <a:pt x="344162" y="150179"/>
                    </a:lnTo>
                    <a:cubicBezTo>
                      <a:pt x="344162" y="195988"/>
                      <a:pt x="307026" y="233123"/>
                      <a:pt x="261217" y="233123"/>
                    </a:cubicBezTo>
                    <a:lnTo>
                      <a:pt x="82945" y="233123"/>
                    </a:lnTo>
                    <a:cubicBezTo>
                      <a:pt x="37136" y="233123"/>
                      <a:pt x="0" y="195988"/>
                      <a:pt x="0" y="150179"/>
                    </a:cubicBezTo>
                    <a:lnTo>
                      <a:pt x="0" y="82945"/>
                    </a:lnTo>
                    <a:cubicBezTo>
                      <a:pt x="0" y="37136"/>
                      <a:pt x="37136" y="0"/>
                      <a:pt x="82945" y="0"/>
                    </a:cubicBez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344162" cy="2712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263835"/>
              <a:ext cx="1472045" cy="733278"/>
              <a:chOff x="0" y="0"/>
              <a:chExt cx="344162" cy="17143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44162" cy="171439"/>
              </a:xfrm>
              <a:custGeom>
                <a:avLst/>
                <a:gdLst/>
                <a:ahLst/>
                <a:cxnLst/>
                <a:rect r="r" b="b" t="t" l="l"/>
                <a:pathLst>
                  <a:path h="171439" w="344162">
                    <a:moveTo>
                      <a:pt x="0" y="0"/>
                    </a:moveTo>
                    <a:lnTo>
                      <a:pt x="344162" y="0"/>
                    </a:lnTo>
                    <a:lnTo>
                      <a:pt x="344162" y="171439"/>
                    </a:lnTo>
                    <a:lnTo>
                      <a:pt x="0" y="171439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344162" cy="2095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64546" y="95380"/>
              <a:ext cx="1142954" cy="7111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F5FFF9"/>
                  </a:solidFill>
                  <a:latin typeface="Poppins"/>
                  <a:ea typeface="Poppins"/>
                  <a:cs typeface="Poppins"/>
                  <a:sym typeface="Poppins"/>
                </a:rPr>
                <a:t>CSS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963342" y="1330146"/>
              <a:ext cx="6206680" cy="20972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60"/>
                </a:lnSpc>
              </a:pPr>
              <a:r>
                <a:rPr lang="en-US" sz="3042" spc="252">
                  <a:solidFill>
                    <a:srgbClr val="FEA002"/>
                  </a:solidFill>
                  <a:latin typeface="Roboto"/>
                  <a:ea typeface="Roboto"/>
                  <a:cs typeface="Roboto"/>
                  <a:sym typeface="Roboto"/>
                </a:rPr>
                <a:t>h1 </a:t>
              </a:r>
              <a:r>
                <a:rPr lang="en-US" sz="3042" spc="252">
                  <a:solidFill>
                    <a:srgbClr val="F661A1"/>
                  </a:solidFill>
                  <a:latin typeface="Roboto"/>
                  <a:ea typeface="Roboto"/>
                  <a:cs typeface="Roboto"/>
                  <a:sym typeface="Roboto"/>
                </a:rPr>
                <a:t>~ </a:t>
              </a:r>
              <a:r>
                <a:rPr lang="en-US" sz="3042" spc="252">
                  <a:solidFill>
                    <a:srgbClr val="FEA002"/>
                  </a:solidFill>
                  <a:latin typeface="Roboto"/>
                  <a:ea typeface="Roboto"/>
                  <a:cs typeface="Roboto"/>
                  <a:sym typeface="Roboto"/>
                </a:rPr>
                <a:t>p 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{</a:t>
              </a:r>
            </a:p>
            <a:p>
              <a:pPr algn="l">
                <a:lnSpc>
                  <a:spcPts val="4260"/>
                </a:lnSpc>
              </a:pP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     </a:t>
              </a:r>
              <a:r>
                <a:rPr lang="en-US" sz="3042" spc="252">
                  <a:solidFill>
                    <a:srgbClr val="BFECAC"/>
                  </a:solidFill>
                  <a:latin typeface="Roboto"/>
                  <a:ea typeface="Roboto"/>
                  <a:cs typeface="Roboto"/>
                  <a:sym typeface="Roboto"/>
                </a:rPr>
                <a:t>color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: </a:t>
              </a:r>
              <a:r>
                <a:rPr lang="en-US" sz="3042" spc="252">
                  <a:solidFill>
                    <a:srgbClr val="FEA002"/>
                  </a:solidFill>
                  <a:latin typeface="Roboto"/>
                  <a:ea typeface="Roboto"/>
                  <a:cs typeface="Roboto"/>
                  <a:sym typeface="Roboto"/>
                </a:rPr>
                <a:t>orange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;</a:t>
              </a:r>
            </a:p>
            <a:p>
              <a:pPr algn="l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}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741157" y="520785"/>
            <a:ext cx="6783988" cy="95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64"/>
              </a:lnSpc>
            </a:pPr>
            <a:r>
              <a:rPr lang="en-US" b="true" sz="5621">
                <a:solidFill>
                  <a:srgbClr val="5A2312"/>
                </a:solidFill>
                <a:latin typeface="Poppins Bold"/>
                <a:ea typeface="Poppins Bold"/>
                <a:cs typeface="Poppins Bold"/>
                <a:sym typeface="Poppins Bold"/>
              </a:rPr>
              <a:t>Irmãos gerais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85474" y="8456104"/>
            <a:ext cx="7815676" cy="890766"/>
            <a:chOff x="0" y="0"/>
            <a:chExt cx="10420901" cy="1187689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285141" y="61729"/>
              <a:ext cx="10135760" cy="1064231"/>
              <a:chOff x="0" y="0"/>
              <a:chExt cx="2002125" cy="21021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002125" cy="210218"/>
              </a:xfrm>
              <a:custGeom>
                <a:avLst/>
                <a:gdLst/>
                <a:ahLst/>
                <a:cxnLst/>
                <a:rect r="r" b="b" t="t" l="l"/>
                <a:pathLst>
                  <a:path h="210218" w="2002125">
                    <a:moveTo>
                      <a:pt x="31571" y="0"/>
                    </a:moveTo>
                    <a:lnTo>
                      <a:pt x="1970554" y="0"/>
                    </a:lnTo>
                    <a:cubicBezTo>
                      <a:pt x="1987990" y="0"/>
                      <a:pt x="2002125" y="14135"/>
                      <a:pt x="2002125" y="31571"/>
                    </a:cubicBezTo>
                    <a:lnTo>
                      <a:pt x="2002125" y="178647"/>
                    </a:lnTo>
                    <a:cubicBezTo>
                      <a:pt x="2002125" y="196083"/>
                      <a:pt x="1987990" y="210218"/>
                      <a:pt x="1970554" y="210218"/>
                    </a:cubicBezTo>
                    <a:lnTo>
                      <a:pt x="31571" y="210218"/>
                    </a:lnTo>
                    <a:cubicBezTo>
                      <a:pt x="14135" y="210218"/>
                      <a:pt x="0" y="196083"/>
                      <a:pt x="0" y="178647"/>
                    </a:cubicBezTo>
                    <a:lnTo>
                      <a:pt x="0" y="31571"/>
                    </a:lnTo>
                    <a:cubicBezTo>
                      <a:pt x="0" y="14135"/>
                      <a:pt x="14135" y="0"/>
                      <a:pt x="31571" y="0"/>
                    </a:cubicBezTo>
                    <a:close/>
                  </a:path>
                </a:pathLst>
              </a:custGeom>
              <a:solidFill>
                <a:srgbClr val="BFECAC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002125" cy="2483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90665" cy="1187689"/>
            </a:xfrm>
            <a:custGeom>
              <a:avLst/>
              <a:gdLst/>
              <a:ahLst/>
              <a:cxnLst/>
              <a:rect r="r" b="b" t="t" l="l"/>
              <a:pathLst>
                <a:path h="1187689" w="1190665">
                  <a:moveTo>
                    <a:pt x="0" y="0"/>
                  </a:moveTo>
                  <a:lnTo>
                    <a:pt x="1190665" y="0"/>
                  </a:lnTo>
                  <a:lnTo>
                    <a:pt x="1190665" y="1187689"/>
                  </a:lnTo>
                  <a:lnTo>
                    <a:pt x="0" y="1187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646798" y="77574"/>
              <a:ext cx="8243491" cy="975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1"/>
                </a:lnSpc>
              </a:pPr>
              <a:r>
                <a:rPr lang="en-US" b="true" sz="2136" spc="111">
                  <a:solidFill>
                    <a:srgbClr val="17320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Seleciona todos os &lt;p&gt; que estão no mesmo nível e vem depois do &lt;h1&gt;.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997802" y="711602"/>
            <a:ext cx="5156200" cy="61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44"/>
              </a:lnSpc>
            </a:pPr>
            <a:r>
              <a:rPr lang="en-US" b="true" sz="3621">
                <a:solidFill>
                  <a:srgbClr val="5A2312"/>
                </a:solidFill>
                <a:latin typeface="Poppins Bold"/>
                <a:ea typeface="Poppins Bold"/>
                <a:cs typeface="Poppins Bold"/>
                <a:sym typeface="Poppins Bold"/>
              </a:rPr>
              <a:t>(~)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12918" y="4371930"/>
            <a:ext cx="10005254" cy="3419955"/>
            <a:chOff x="0" y="0"/>
            <a:chExt cx="2682577" cy="9169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82577" cy="916948"/>
            </a:xfrm>
            <a:custGeom>
              <a:avLst/>
              <a:gdLst/>
              <a:ahLst/>
              <a:cxnLst/>
              <a:rect r="r" b="b" t="t" l="l"/>
              <a:pathLst>
                <a:path h="916948" w="2682577">
                  <a:moveTo>
                    <a:pt x="25535" y="0"/>
                  </a:moveTo>
                  <a:lnTo>
                    <a:pt x="2657042" y="0"/>
                  </a:lnTo>
                  <a:cubicBezTo>
                    <a:pt x="2663815" y="0"/>
                    <a:pt x="2670310" y="2690"/>
                    <a:pt x="2675098" y="7479"/>
                  </a:cubicBezTo>
                  <a:cubicBezTo>
                    <a:pt x="2679887" y="12268"/>
                    <a:pt x="2682577" y="18763"/>
                    <a:pt x="2682577" y="25535"/>
                  </a:cubicBezTo>
                  <a:lnTo>
                    <a:pt x="2682577" y="891413"/>
                  </a:lnTo>
                  <a:cubicBezTo>
                    <a:pt x="2682577" y="898185"/>
                    <a:pt x="2679887" y="904680"/>
                    <a:pt x="2675098" y="909469"/>
                  </a:cubicBezTo>
                  <a:cubicBezTo>
                    <a:pt x="2670310" y="914257"/>
                    <a:pt x="2663815" y="916948"/>
                    <a:pt x="2657042" y="916948"/>
                  </a:cubicBezTo>
                  <a:lnTo>
                    <a:pt x="25535" y="916948"/>
                  </a:lnTo>
                  <a:cubicBezTo>
                    <a:pt x="18763" y="916948"/>
                    <a:pt x="12268" y="914257"/>
                    <a:pt x="7479" y="909469"/>
                  </a:cubicBezTo>
                  <a:cubicBezTo>
                    <a:pt x="2690" y="904680"/>
                    <a:pt x="0" y="898185"/>
                    <a:pt x="0" y="891413"/>
                  </a:cubicBezTo>
                  <a:lnTo>
                    <a:pt x="0" y="25535"/>
                  </a:lnTo>
                  <a:cubicBezTo>
                    <a:pt x="0" y="18763"/>
                    <a:pt x="2690" y="12268"/>
                    <a:pt x="7479" y="7479"/>
                  </a:cubicBezTo>
                  <a:cubicBezTo>
                    <a:pt x="12268" y="2690"/>
                    <a:pt x="18763" y="0"/>
                    <a:pt x="25535" y="0"/>
                  </a:cubicBezTo>
                  <a:close/>
                </a:path>
              </a:pathLst>
            </a:custGeom>
            <a:ln w="38100" cap="rnd">
              <a:solidFill>
                <a:srgbClr val="4E259A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682577" cy="955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88134" y="4921004"/>
            <a:ext cx="1461565" cy="2366197"/>
            <a:chOff x="0" y="0"/>
            <a:chExt cx="1948753" cy="315493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546755"/>
              <a:ext cx="1948753" cy="2608174"/>
              <a:chOff x="0" y="0"/>
              <a:chExt cx="391870" cy="524472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391870" cy="524472"/>
              </a:xfrm>
              <a:custGeom>
                <a:avLst/>
                <a:gdLst/>
                <a:ahLst/>
                <a:cxnLst/>
                <a:rect r="r" b="b" t="t" l="l"/>
                <a:pathLst>
                  <a:path h="524472" w="391870">
                    <a:moveTo>
                      <a:pt x="137722" y="0"/>
                    </a:moveTo>
                    <a:lnTo>
                      <a:pt x="254148" y="0"/>
                    </a:lnTo>
                    <a:cubicBezTo>
                      <a:pt x="290674" y="0"/>
                      <a:pt x="325704" y="14510"/>
                      <a:pt x="351532" y="40338"/>
                    </a:cubicBezTo>
                    <a:cubicBezTo>
                      <a:pt x="377360" y="66166"/>
                      <a:pt x="391870" y="101196"/>
                      <a:pt x="391870" y="137722"/>
                    </a:cubicBezTo>
                    <a:lnTo>
                      <a:pt x="391870" y="386749"/>
                    </a:lnTo>
                    <a:cubicBezTo>
                      <a:pt x="391870" y="423276"/>
                      <a:pt x="377360" y="458306"/>
                      <a:pt x="351532" y="484134"/>
                    </a:cubicBezTo>
                    <a:cubicBezTo>
                      <a:pt x="325704" y="509962"/>
                      <a:pt x="290674" y="524472"/>
                      <a:pt x="254148" y="524472"/>
                    </a:cubicBezTo>
                    <a:lnTo>
                      <a:pt x="137722" y="524472"/>
                    </a:lnTo>
                    <a:cubicBezTo>
                      <a:pt x="101196" y="524472"/>
                      <a:pt x="66166" y="509962"/>
                      <a:pt x="40338" y="484134"/>
                    </a:cubicBezTo>
                    <a:cubicBezTo>
                      <a:pt x="14510" y="458306"/>
                      <a:pt x="0" y="423276"/>
                      <a:pt x="0" y="386749"/>
                    </a:cubicBezTo>
                    <a:lnTo>
                      <a:pt x="0" y="137722"/>
                    </a:lnTo>
                    <a:cubicBezTo>
                      <a:pt x="0" y="101196"/>
                      <a:pt x="14510" y="66166"/>
                      <a:pt x="40338" y="40338"/>
                    </a:cubicBezTo>
                    <a:cubicBezTo>
                      <a:pt x="66166" y="14510"/>
                      <a:pt x="101196" y="0"/>
                      <a:pt x="137722" y="0"/>
                    </a:cubicBezTo>
                    <a:close/>
                  </a:path>
                </a:pathLst>
              </a:custGeom>
              <a:ln w="38100" cap="rnd">
                <a:solidFill>
                  <a:srgbClr val="BBBDB7"/>
                </a:solidFill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391870" cy="5625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Título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47654" y="0"/>
              <a:ext cx="1453445" cy="873276"/>
              <a:chOff x="0" y="0"/>
              <a:chExt cx="292270" cy="17560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92270" cy="175605"/>
              </a:xfrm>
              <a:custGeom>
                <a:avLst/>
                <a:gdLst/>
                <a:ahLst/>
                <a:cxnLst/>
                <a:rect r="r" b="b" t="t" l="l"/>
                <a:pathLst>
                  <a:path h="175605" w="292270">
                    <a:moveTo>
                      <a:pt x="87802" y="0"/>
                    </a:moveTo>
                    <a:lnTo>
                      <a:pt x="204467" y="0"/>
                    </a:lnTo>
                    <a:cubicBezTo>
                      <a:pt x="252959" y="0"/>
                      <a:pt x="292270" y="39311"/>
                      <a:pt x="292270" y="87802"/>
                    </a:cubicBezTo>
                    <a:lnTo>
                      <a:pt x="292270" y="87802"/>
                    </a:lnTo>
                    <a:cubicBezTo>
                      <a:pt x="292270" y="111089"/>
                      <a:pt x="283019" y="133422"/>
                      <a:pt x="266553" y="149888"/>
                    </a:cubicBezTo>
                    <a:cubicBezTo>
                      <a:pt x="250087" y="166354"/>
                      <a:pt x="227754" y="175605"/>
                      <a:pt x="204467" y="175605"/>
                    </a:cubicBezTo>
                    <a:lnTo>
                      <a:pt x="87802" y="175605"/>
                    </a:lnTo>
                    <a:cubicBezTo>
                      <a:pt x="39311" y="175605"/>
                      <a:pt x="0" y="136294"/>
                      <a:pt x="0" y="87802"/>
                    </a:cubicBezTo>
                    <a:lnTo>
                      <a:pt x="0" y="87802"/>
                    </a:lnTo>
                    <a:cubicBezTo>
                      <a:pt x="0" y="39311"/>
                      <a:pt x="39311" y="0"/>
                      <a:pt x="87802" y="0"/>
                    </a:cubicBezTo>
                    <a:close/>
                  </a:path>
                </a:pathLst>
              </a:custGeom>
              <a:solidFill>
                <a:srgbClr val="BBBDB7"/>
              </a:solidFill>
              <a:ln cap="rnd">
                <a:noFill/>
                <a:prstDash val="dash"/>
                <a:round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57150"/>
                <a:ext cx="292270" cy="2327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  <a:r>
                  <a:rPr lang="en-US" sz="25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h1</a:t>
                </a:r>
              </a:p>
            </p:txBody>
          </p:sp>
        </p:grpSp>
      </p:grpSp>
      <p:grpSp>
        <p:nvGrpSpPr>
          <p:cNvPr name="Group 33" id="33"/>
          <p:cNvGrpSpPr/>
          <p:nvPr/>
        </p:nvGrpSpPr>
        <p:grpSpPr>
          <a:xfrm rot="0">
            <a:off x="2389379" y="4921004"/>
            <a:ext cx="1461565" cy="2366197"/>
            <a:chOff x="0" y="0"/>
            <a:chExt cx="1948753" cy="315493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546755"/>
              <a:ext cx="1948753" cy="2608174"/>
              <a:chOff x="0" y="0"/>
              <a:chExt cx="391870" cy="524472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391870" cy="524472"/>
              </a:xfrm>
              <a:custGeom>
                <a:avLst/>
                <a:gdLst/>
                <a:ahLst/>
                <a:cxnLst/>
                <a:rect r="r" b="b" t="t" l="l"/>
                <a:pathLst>
                  <a:path h="524472" w="391870">
                    <a:moveTo>
                      <a:pt x="137722" y="0"/>
                    </a:moveTo>
                    <a:lnTo>
                      <a:pt x="254148" y="0"/>
                    </a:lnTo>
                    <a:cubicBezTo>
                      <a:pt x="290674" y="0"/>
                      <a:pt x="325704" y="14510"/>
                      <a:pt x="351532" y="40338"/>
                    </a:cubicBezTo>
                    <a:cubicBezTo>
                      <a:pt x="377360" y="66166"/>
                      <a:pt x="391870" y="101196"/>
                      <a:pt x="391870" y="137722"/>
                    </a:cubicBezTo>
                    <a:lnTo>
                      <a:pt x="391870" y="386749"/>
                    </a:lnTo>
                    <a:cubicBezTo>
                      <a:pt x="391870" y="423276"/>
                      <a:pt x="377360" y="458306"/>
                      <a:pt x="351532" y="484134"/>
                    </a:cubicBezTo>
                    <a:cubicBezTo>
                      <a:pt x="325704" y="509962"/>
                      <a:pt x="290674" y="524472"/>
                      <a:pt x="254148" y="524472"/>
                    </a:cubicBezTo>
                    <a:lnTo>
                      <a:pt x="137722" y="524472"/>
                    </a:lnTo>
                    <a:cubicBezTo>
                      <a:pt x="101196" y="524472"/>
                      <a:pt x="66166" y="509962"/>
                      <a:pt x="40338" y="484134"/>
                    </a:cubicBezTo>
                    <a:cubicBezTo>
                      <a:pt x="14510" y="458306"/>
                      <a:pt x="0" y="423276"/>
                      <a:pt x="0" y="386749"/>
                    </a:cubicBezTo>
                    <a:lnTo>
                      <a:pt x="0" y="137722"/>
                    </a:lnTo>
                    <a:cubicBezTo>
                      <a:pt x="0" y="101196"/>
                      <a:pt x="14510" y="66166"/>
                      <a:pt x="40338" y="40338"/>
                    </a:cubicBezTo>
                    <a:cubicBezTo>
                      <a:pt x="66166" y="14510"/>
                      <a:pt x="101196" y="0"/>
                      <a:pt x="137722" y="0"/>
                    </a:cubicBezTo>
                    <a:close/>
                  </a:path>
                </a:pathLst>
              </a:custGeom>
              <a:ln w="38100" cap="rnd">
                <a:solidFill>
                  <a:srgbClr val="FEA002"/>
                </a:solidFill>
                <a:prstDash val="solid"/>
                <a:round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391870" cy="5625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Primeiro parágrafo</a:t>
                </a: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247654" y="0"/>
              <a:ext cx="1453445" cy="873276"/>
              <a:chOff x="0" y="0"/>
              <a:chExt cx="292270" cy="175605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92270" cy="175605"/>
              </a:xfrm>
              <a:custGeom>
                <a:avLst/>
                <a:gdLst/>
                <a:ahLst/>
                <a:cxnLst/>
                <a:rect r="r" b="b" t="t" l="l"/>
                <a:pathLst>
                  <a:path h="175605" w="292270">
                    <a:moveTo>
                      <a:pt x="87802" y="0"/>
                    </a:moveTo>
                    <a:lnTo>
                      <a:pt x="204467" y="0"/>
                    </a:lnTo>
                    <a:cubicBezTo>
                      <a:pt x="252959" y="0"/>
                      <a:pt x="292270" y="39311"/>
                      <a:pt x="292270" y="87802"/>
                    </a:cubicBezTo>
                    <a:lnTo>
                      <a:pt x="292270" y="87802"/>
                    </a:lnTo>
                    <a:cubicBezTo>
                      <a:pt x="292270" y="111089"/>
                      <a:pt x="283019" y="133422"/>
                      <a:pt x="266553" y="149888"/>
                    </a:cubicBezTo>
                    <a:cubicBezTo>
                      <a:pt x="250087" y="166354"/>
                      <a:pt x="227754" y="175605"/>
                      <a:pt x="204467" y="175605"/>
                    </a:cubicBezTo>
                    <a:lnTo>
                      <a:pt x="87802" y="175605"/>
                    </a:lnTo>
                    <a:cubicBezTo>
                      <a:pt x="39311" y="175605"/>
                      <a:pt x="0" y="136294"/>
                      <a:pt x="0" y="87802"/>
                    </a:cubicBezTo>
                    <a:lnTo>
                      <a:pt x="0" y="87802"/>
                    </a:lnTo>
                    <a:cubicBezTo>
                      <a:pt x="0" y="39311"/>
                      <a:pt x="39311" y="0"/>
                      <a:pt x="87802" y="0"/>
                    </a:cubicBezTo>
                    <a:close/>
                  </a:path>
                </a:pathLst>
              </a:custGeom>
              <a:solidFill>
                <a:srgbClr val="FEA002"/>
              </a:solidFill>
              <a:ln cap="rnd">
                <a:noFill/>
                <a:prstDash val="dash"/>
                <a:round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57150"/>
                <a:ext cx="292270" cy="2327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  <a:r>
                  <a:rPr lang="en-US" sz="25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</a:t>
                </a:r>
              </a:p>
            </p:txBody>
          </p:sp>
        </p:grpSp>
      </p:grpSp>
      <p:grpSp>
        <p:nvGrpSpPr>
          <p:cNvPr name="Group 40" id="40"/>
          <p:cNvGrpSpPr/>
          <p:nvPr/>
        </p:nvGrpSpPr>
        <p:grpSpPr>
          <a:xfrm rot="0">
            <a:off x="3990625" y="4921004"/>
            <a:ext cx="1461565" cy="2366197"/>
            <a:chOff x="0" y="0"/>
            <a:chExt cx="1948753" cy="3154930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546755"/>
              <a:ext cx="1948753" cy="2608174"/>
              <a:chOff x="0" y="0"/>
              <a:chExt cx="391870" cy="524472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391870" cy="524472"/>
              </a:xfrm>
              <a:custGeom>
                <a:avLst/>
                <a:gdLst/>
                <a:ahLst/>
                <a:cxnLst/>
                <a:rect r="r" b="b" t="t" l="l"/>
                <a:pathLst>
                  <a:path h="524472" w="391870">
                    <a:moveTo>
                      <a:pt x="137722" y="0"/>
                    </a:moveTo>
                    <a:lnTo>
                      <a:pt x="254148" y="0"/>
                    </a:lnTo>
                    <a:cubicBezTo>
                      <a:pt x="290674" y="0"/>
                      <a:pt x="325704" y="14510"/>
                      <a:pt x="351532" y="40338"/>
                    </a:cubicBezTo>
                    <a:cubicBezTo>
                      <a:pt x="377360" y="66166"/>
                      <a:pt x="391870" y="101196"/>
                      <a:pt x="391870" y="137722"/>
                    </a:cubicBezTo>
                    <a:lnTo>
                      <a:pt x="391870" y="386749"/>
                    </a:lnTo>
                    <a:cubicBezTo>
                      <a:pt x="391870" y="423276"/>
                      <a:pt x="377360" y="458306"/>
                      <a:pt x="351532" y="484134"/>
                    </a:cubicBezTo>
                    <a:cubicBezTo>
                      <a:pt x="325704" y="509962"/>
                      <a:pt x="290674" y="524472"/>
                      <a:pt x="254148" y="524472"/>
                    </a:cubicBezTo>
                    <a:lnTo>
                      <a:pt x="137722" y="524472"/>
                    </a:lnTo>
                    <a:cubicBezTo>
                      <a:pt x="101196" y="524472"/>
                      <a:pt x="66166" y="509962"/>
                      <a:pt x="40338" y="484134"/>
                    </a:cubicBezTo>
                    <a:cubicBezTo>
                      <a:pt x="14510" y="458306"/>
                      <a:pt x="0" y="423276"/>
                      <a:pt x="0" y="386749"/>
                    </a:cubicBezTo>
                    <a:lnTo>
                      <a:pt x="0" y="137722"/>
                    </a:lnTo>
                    <a:cubicBezTo>
                      <a:pt x="0" y="101196"/>
                      <a:pt x="14510" y="66166"/>
                      <a:pt x="40338" y="40338"/>
                    </a:cubicBezTo>
                    <a:cubicBezTo>
                      <a:pt x="66166" y="14510"/>
                      <a:pt x="101196" y="0"/>
                      <a:pt x="137722" y="0"/>
                    </a:cubicBezTo>
                    <a:close/>
                  </a:path>
                </a:pathLst>
              </a:custGeom>
              <a:ln w="38100" cap="rnd">
                <a:solidFill>
                  <a:srgbClr val="FEA002"/>
                </a:solidFill>
                <a:prstDash val="solid"/>
                <a:round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391870" cy="5625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 strike="noStrike" u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Segundo</a:t>
                </a:r>
              </a:p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 strike="noStrike" u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parágrafo</a:t>
                </a: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247654" y="0"/>
              <a:ext cx="1453445" cy="873276"/>
              <a:chOff x="0" y="0"/>
              <a:chExt cx="292270" cy="175605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292270" cy="175605"/>
              </a:xfrm>
              <a:custGeom>
                <a:avLst/>
                <a:gdLst/>
                <a:ahLst/>
                <a:cxnLst/>
                <a:rect r="r" b="b" t="t" l="l"/>
                <a:pathLst>
                  <a:path h="175605" w="292270">
                    <a:moveTo>
                      <a:pt x="87802" y="0"/>
                    </a:moveTo>
                    <a:lnTo>
                      <a:pt x="204467" y="0"/>
                    </a:lnTo>
                    <a:cubicBezTo>
                      <a:pt x="252959" y="0"/>
                      <a:pt x="292270" y="39311"/>
                      <a:pt x="292270" y="87802"/>
                    </a:cubicBezTo>
                    <a:lnTo>
                      <a:pt x="292270" y="87802"/>
                    </a:lnTo>
                    <a:cubicBezTo>
                      <a:pt x="292270" y="111089"/>
                      <a:pt x="283019" y="133422"/>
                      <a:pt x="266553" y="149888"/>
                    </a:cubicBezTo>
                    <a:cubicBezTo>
                      <a:pt x="250087" y="166354"/>
                      <a:pt x="227754" y="175605"/>
                      <a:pt x="204467" y="175605"/>
                    </a:cubicBezTo>
                    <a:lnTo>
                      <a:pt x="87802" y="175605"/>
                    </a:lnTo>
                    <a:cubicBezTo>
                      <a:pt x="39311" y="175605"/>
                      <a:pt x="0" y="136294"/>
                      <a:pt x="0" y="87802"/>
                    </a:cubicBezTo>
                    <a:lnTo>
                      <a:pt x="0" y="87802"/>
                    </a:lnTo>
                    <a:cubicBezTo>
                      <a:pt x="0" y="39311"/>
                      <a:pt x="39311" y="0"/>
                      <a:pt x="87802" y="0"/>
                    </a:cubicBezTo>
                    <a:close/>
                  </a:path>
                </a:pathLst>
              </a:custGeom>
              <a:solidFill>
                <a:srgbClr val="FEA002"/>
              </a:solidFill>
              <a:ln cap="rnd">
                <a:noFill/>
                <a:prstDash val="dash"/>
                <a:round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57150"/>
                <a:ext cx="292270" cy="2327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  <a:r>
                  <a:rPr lang="en-US" sz="2599" strike="noStrike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</a:t>
                </a: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5591871" y="4921004"/>
            <a:ext cx="1461565" cy="2366197"/>
            <a:chOff x="0" y="0"/>
            <a:chExt cx="1948753" cy="3154930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546755"/>
              <a:ext cx="1948753" cy="2608174"/>
              <a:chOff x="0" y="0"/>
              <a:chExt cx="391870" cy="524472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391870" cy="524472"/>
              </a:xfrm>
              <a:custGeom>
                <a:avLst/>
                <a:gdLst/>
                <a:ahLst/>
                <a:cxnLst/>
                <a:rect r="r" b="b" t="t" l="l"/>
                <a:pathLst>
                  <a:path h="524472" w="391870">
                    <a:moveTo>
                      <a:pt x="137722" y="0"/>
                    </a:moveTo>
                    <a:lnTo>
                      <a:pt x="254148" y="0"/>
                    </a:lnTo>
                    <a:cubicBezTo>
                      <a:pt x="290674" y="0"/>
                      <a:pt x="325704" y="14510"/>
                      <a:pt x="351532" y="40338"/>
                    </a:cubicBezTo>
                    <a:cubicBezTo>
                      <a:pt x="377360" y="66166"/>
                      <a:pt x="391870" y="101196"/>
                      <a:pt x="391870" y="137722"/>
                    </a:cubicBezTo>
                    <a:lnTo>
                      <a:pt x="391870" y="386749"/>
                    </a:lnTo>
                    <a:cubicBezTo>
                      <a:pt x="391870" y="423276"/>
                      <a:pt x="377360" y="458306"/>
                      <a:pt x="351532" y="484134"/>
                    </a:cubicBezTo>
                    <a:cubicBezTo>
                      <a:pt x="325704" y="509962"/>
                      <a:pt x="290674" y="524472"/>
                      <a:pt x="254148" y="524472"/>
                    </a:cubicBezTo>
                    <a:lnTo>
                      <a:pt x="137722" y="524472"/>
                    </a:lnTo>
                    <a:cubicBezTo>
                      <a:pt x="101196" y="524472"/>
                      <a:pt x="66166" y="509962"/>
                      <a:pt x="40338" y="484134"/>
                    </a:cubicBezTo>
                    <a:cubicBezTo>
                      <a:pt x="14510" y="458306"/>
                      <a:pt x="0" y="423276"/>
                      <a:pt x="0" y="386749"/>
                    </a:cubicBezTo>
                    <a:lnTo>
                      <a:pt x="0" y="137722"/>
                    </a:lnTo>
                    <a:cubicBezTo>
                      <a:pt x="0" y="101196"/>
                      <a:pt x="14510" y="66166"/>
                      <a:pt x="40338" y="40338"/>
                    </a:cubicBezTo>
                    <a:cubicBezTo>
                      <a:pt x="66166" y="14510"/>
                      <a:pt x="101196" y="0"/>
                      <a:pt x="137722" y="0"/>
                    </a:cubicBezTo>
                    <a:close/>
                  </a:path>
                </a:pathLst>
              </a:custGeom>
              <a:ln w="38100" cap="rnd">
                <a:solidFill>
                  <a:srgbClr val="BBBDB7"/>
                </a:solidFill>
                <a:prstDash val="solid"/>
                <a:round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391870" cy="5625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Outro elemento</a:t>
                </a: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247654" y="0"/>
              <a:ext cx="1453445" cy="873276"/>
              <a:chOff x="0" y="0"/>
              <a:chExt cx="292270" cy="175605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292270" cy="175605"/>
              </a:xfrm>
              <a:custGeom>
                <a:avLst/>
                <a:gdLst/>
                <a:ahLst/>
                <a:cxnLst/>
                <a:rect r="r" b="b" t="t" l="l"/>
                <a:pathLst>
                  <a:path h="175605" w="292270">
                    <a:moveTo>
                      <a:pt x="87802" y="0"/>
                    </a:moveTo>
                    <a:lnTo>
                      <a:pt x="204467" y="0"/>
                    </a:lnTo>
                    <a:cubicBezTo>
                      <a:pt x="252959" y="0"/>
                      <a:pt x="292270" y="39311"/>
                      <a:pt x="292270" y="87802"/>
                    </a:cubicBezTo>
                    <a:lnTo>
                      <a:pt x="292270" y="87802"/>
                    </a:lnTo>
                    <a:cubicBezTo>
                      <a:pt x="292270" y="111089"/>
                      <a:pt x="283019" y="133422"/>
                      <a:pt x="266553" y="149888"/>
                    </a:cubicBezTo>
                    <a:cubicBezTo>
                      <a:pt x="250087" y="166354"/>
                      <a:pt x="227754" y="175605"/>
                      <a:pt x="204467" y="175605"/>
                    </a:cubicBezTo>
                    <a:lnTo>
                      <a:pt x="87802" y="175605"/>
                    </a:lnTo>
                    <a:cubicBezTo>
                      <a:pt x="39311" y="175605"/>
                      <a:pt x="0" y="136294"/>
                      <a:pt x="0" y="87802"/>
                    </a:cubicBezTo>
                    <a:lnTo>
                      <a:pt x="0" y="87802"/>
                    </a:lnTo>
                    <a:cubicBezTo>
                      <a:pt x="0" y="39311"/>
                      <a:pt x="39311" y="0"/>
                      <a:pt x="87802" y="0"/>
                    </a:cubicBezTo>
                    <a:close/>
                  </a:path>
                </a:pathLst>
              </a:custGeom>
              <a:solidFill>
                <a:srgbClr val="BBBDB7"/>
              </a:solidFill>
              <a:ln cap="rnd">
                <a:noFill/>
                <a:prstDash val="dash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57150"/>
                <a:ext cx="292270" cy="2327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  <a:r>
                  <a:rPr lang="en-US" sz="25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span</a:t>
                </a:r>
              </a:p>
            </p:txBody>
          </p:sp>
        </p:grpSp>
      </p:grpSp>
      <p:grpSp>
        <p:nvGrpSpPr>
          <p:cNvPr name="Group 54" id="54"/>
          <p:cNvGrpSpPr/>
          <p:nvPr/>
        </p:nvGrpSpPr>
        <p:grpSpPr>
          <a:xfrm rot="0">
            <a:off x="7193117" y="4921004"/>
            <a:ext cx="1461565" cy="2366197"/>
            <a:chOff x="0" y="0"/>
            <a:chExt cx="1948753" cy="3154930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546755"/>
              <a:ext cx="1948753" cy="2608174"/>
              <a:chOff x="0" y="0"/>
              <a:chExt cx="391870" cy="524472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391870" cy="524472"/>
              </a:xfrm>
              <a:custGeom>
                <a:avLst/>
                <a:gdLst/>
                <a:ahLst/>
                <a:cxnLst/>
                <a:rect r="r" b="b" t="t" l="l"/>
                <a:pathLst>
                  <a:path h="524472" w="391870">
                    <a:moveTo>
                      <a:pt x="137722" y="0"/>
                    </a:moveTo>
                    <a:lnTo>
                      <a:pt x="254148" y="0"/>
                    </a:lnTo>
                    <a:cubicBezTo>
                      <a:pt x="290674" y="0"/>
                      <a:pt x="325704" y="14510"/>
                      <a:pt x="351532" y="40338"/>
                    </a:cubicBezTo>
                    <a:cubicBezTo>
                      <a:pt x="377360" y="66166"/>
                      <a:pt x="391870" y="101196"/>
                      <a:pt x="391870" y="137722"/>
                    </a:cubicBezTo>
                    <a:lnTo>
                      <a:pt x="391870" y="386749"/>
                    </a:lnTo>
                    <a:cubicBezTo>
                      <a:pt x="391870" y="423276"/>
                      <a:pt x="377360" y="458306"/>
                      <a:pt x="351532" y="484134"/>
                    </a:cubicBezTo>
                    <a:cubicBezTo>
                      <a:pt x="325704" y="509962"/>
                      <a:pt x="290674" y="524472"/>
                      <a:pt x="254148" y="524472"/>
                    </a:cubicBezTo>
                    <a:lnTo>
                      <a:pt x="137722" y="524472"/>
                    </a:lnTo>
                    <a:cubicBezTo>
                      <a:pt x="101196" y="524472"/>
                      <a:pt x="66166" y="509962"/>
                      <a:pt x="40338" y="484134"/>
                    </a:cubicBezTo>
                    <a:cubicBezTo>
                      <a:pt x="14510" y="458306"/>
                      <a:pt x="0" y="423276"/>
                      <a:pt x="0" y="386749"/>
                    </a:cubicBezTo>
                    <a:lnTo>
                      <a:pt x="0" y="137722"/>
                    </a:lnTo>
                    <a:cubicBezTo>
                      <a:pt x="0" y="101196"/>
                      <a:pt x="14510" y="66166"/>
                      <a:pt x="40338" y="40338"/>
                    </a:cubicBezTo>
                    <a:cubicBezTo>
                      <a:pt x="66166" y="14510"/>
                      <a:pt x="101196" y="0"/>
                      <a:pt x="137722" y="0"/>
                    </a:cubicBezTo>
                    <a:close/>
                  </a:path>
                </a:pathLst>
              </a:custGeom>
              <a:ln w="38100" cap="rnd">
                <a:solidFill>
                  <a:srgbClr val="FEA002"/>
                </a:solidFill>
                <a:prstDash val="solid"/>
                <a:round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391870" cy="5625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 strike="noStrike" u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Terceiro</a:t>
                </a:r>
              </a:p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 strike="noStrike" u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parágrafo</a:t>
                </a: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247654" y="0"/>
              <a:ext cx="1453445" cy="873276"/>
              <a:chOff x="0" y="0"/>
              <a:chExt cx="292270" cy="175605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292270" cy="175605"/>
              </a:xfrm>
              <a:custGeom>
                <a:avLst/>
                <a:gdLst/>
                <a:ahLst/>
                <a:cxnLst/>
                <a:rect r="r" b="b" t="t" l="l"/>
                <a:pathLst>
                  <a:path h="175605" w="292270">
                    <a:moveTo>
                      <a:pt x="87802" y="0"/>
                    </a:moveTo>
                    <a:lnTo>
                      <a:pt x="204467" y="0"/>
                    </a:lnTo>
                    <a:cubicBezTo>
                      <a:pt x="252959" y="0"/>
                      <a:pt x="292270" y="39311"/>
                      <a:pt x="292270" y="87802"/>
                    </a:cubicBezTo>
                    <a:lnTo>
                      <a:pt x="292270" y="87802"/>
                    </a:lnTo>
                    <a:cubicBezTo>
                      <a:pt x="292270" y="111089"/>
                      <a:pt x="283019" y="133422"/>
                      <a:pt x="266553" y="149888"/>
                    </a:cubicBezTo>
                    <a:cubicBezTo>
                      <a:pt x="250087" y="166354"/>
                      <a:pt x="227754" y="175605"/>
                      <a:pt x="204467" y="175605"/>
                    </a:cubicBezTo>
                    <a:lnTo>
                      <a:pt x="87802" y="175605"/>
                    </a:lnTo>
                    <a:cubicBezTo>
                      <a:pt x="39311" y="175605"/>
                      <a:pt x="0" y="136294"/>
                      <a:pt x="0" y="87802"/>
                    </a:cubicBezTo>
                    <a:lnTo>
                      <a:pt x="0" y="87802"/>
                    </a:lnTo>
                    <a:cubicBezTo>
                      <a:pt x="0" y="39311"/>
                      <a:pt x="39311" y="0"/>
                      <a:pt x="87802" y="0"/>
                    </a:cubicBezTo>
                    <a:close/>
                  </a:path>
                </a:pathLst>
              </a:custGeom>
              <a:solidFill>
                <a:srgbClr val="FEA002"/>
              </a:solidFill>
              <a:ln cap="rnd">
                <a:noFill/>
                <a:prstDash val="dash"/>
                <a:round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57150"/>
                <a:ext cx="292270" cy="2327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  <a:r>
                  <a:rPr lang="en-US" sz="2599" strike="noStrike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</a:t>
                </a:r>
              </a:p>
            </p:txBody>
          </p:sp>
        </p:grpSp>
      </p:grpSp>
      <p:grpSp>
        <p:nvGrpSpPr>
          <p:cNvPr name="Group 61" id="61"/>
          <p:cNvGrpSpPr/>
          <p:nvPr/>
        </p:nvGrpSpPr>
        <p:grpSpPr>
          <a:xfrm rot="0">
            <a:off x="4720241" y="3930796"/>
            <a:ext cx="1590609" cy="781771"/>
            <a:chOff x="0" y="0"/>
            <a:chExt cx="426469" cy="20960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26469" cy="209606"/>
            </a:xfrm>
            <a:custGeom>
              <a:avLst/>
              <a:gdLst/>
              <a:ahLst/>
              <a:cxnLst/>
              <a:rect r="r" b="b" t="t" l="l"/>
              <a:pathLst>
                <a:path h="209606" w="426469">
                  <a:moveTo>
                    <a:pt x="92478" y="0"/>
                  </a:moveTo>
                  <a:lnTo>
                    <a:pt x="333991" y="0"/>
                  </a:lnTo>
                  <a:cubicBezTo>
                    <a:pt x="385065" y="0"/>
                    <a:pt x="426469" y="41404"/>
                    <a:pt x="426469" y="92478"/>
                  </a:cubicBezTo>
                  <a:lnTo>
                    <a:pt x="426469" y="117128"/>
                  </a:lnTo>
                  <a:cubicBezTo>
                    <a:pt x="426469" y="141655"/>
                    <a:pt x="416726" y="165177"/>
                    <a:pt x="399383" y="182520"/>
                  </a:cubicBezTo>
                  <a:cubicBezTo>
                    <a:pt x="382040" y="199863"/>
                    <a:pt x="358518" y="209606"/>
                    <a:pt x="333991" y="209606"/>
                  </a:cubicBezTo>
                  <a:lnTo>
                    <a:pt x="92478" y="209606"/>
                  </a:lnTo>
                  <a:cubicBezTo>
                    <a:pt x="41404" y="209606"/>
                    <a:pt x="0" y="168202"/>
                    <a:pt x="0" y="117128"/>
                  </a:cubicBezTo>
                  <a:lnTo>
                    <a:pt x="0" y="92478"/>
                  </a:lnTo>
                  <a:cubicBezTo>
                    <a:pt x="0" y="67951"/>
                    <a:pt x="9743" y="44429"/>
                    <a:pt x="27086" y="27086"/>
                  </a:cubicBezTo>
                  <a:cubicBezTo>
                    <a:pt x="44429" y="9743"/>
                    <a:pt x="67951" y="0"/>
                    <a:pt x="92478" y="0"/>
                  </a:cubicBezTo>
                  <a:close/>
                </a:path>
              </a:pathLst>
            </a:custGeom>
            <a:solidFill>
              <a:srgbClr val="761989"/>
            </a:solidFill>
            <a:ln cap="sq">
              <a:noFill/>
              <a:prstDash val="dash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66675"/>
              <a:ext cx="426469" cy="276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div</a:t>
              </a: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649935" y="915801"/>
            <a:ext cx="1905000" cy="823919"/>
          </a:xfrm>
          <a:custGeom>
            <a:avLst/>
            <a:gdLst/>
            <a:ahLst/>
            <a:cxnLst/>
            <a:rect r="r" b="b" t="t" l="l"/>
            <a:pathLst>
              <a:path h="823919" w="1905000">
                <a:moveTo>
                  <a:pt x="0" y="0"/>
                </a:moveTo>
                <a:lnTo>
                  <a:pt x="1905000" y="0"/>
                </a:lnTo>
                <a:lnTo>
                  <a:pt x="1905000" y="823919"/>
                </a:lnTo>
                <a:lnTo>
                  <a:pt x="0" y="8239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1080727" y="509452"/>
            <a:ext cx="6178573" cy="5281982"/>
          </a:xfrm>
          <a:custGeom>
            <a:avLst/>
            <a:gdLst/>
            <a:ahLst/>
            <a:cxnLst/>
            <a:rect r="r" b="b" t="t" l="l"/>
            <a:pathLst>
              <a:path h="5281982" w="6178573">
                <a:moveTo>
                  <a:pt x="0" y="0"/>
                </a:moveTo>
                <a:lnTo>
                  <a:pt x="6178573" y="0"/>
                </a:lnTo>
                <a:lnTo>
                  <a:pt x="6178573" y="5281982"/>
                </a:lnTo>
                <a:lnTo>
                  <a:pt x="0" y="52819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1285" t="-16901" r="-37148" b="-123474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8794363" y="4921004"/>
            <a:ext cx="1461565" cy="2366197"/>
            <a:chOff x="0" y="0"/>
            <a:chExt cx="1948753" cy="3154930"/>
          </a:xfrm>
        </p:grpSpPr>
        <p:grpSp>
          <p:nvGrpSpPr>
            <p:cNvPr name="Group 67" id="67"/>
            <p:cNvGrpSpPr/>
            <p:nvPr/>
          </p:nvGrpSpPr>
          <p:grpSpPr>
            <a:xfrm rot="0">
              <a:off x="0" y="546755"/>
              <a:ext cx="1948753" cy="2608174"/>
              <a:chOff x="0" y="0"/>
              <a:chExt cx="391870" cy="524472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391870" cy="524472"/>
              </a:xfrm>
              <a:custGeom>
                <a:avLst/>
                <a:gdLst/>
                <a:ahLst/>
                <a:cxnLst/>
                <a:rect r="r" b="b" t="t" l="l"/>
                <a:pathLst>
                  <a:path h="524472" w="391870">
                    <a:moveTo>
                      <a:pt x="137722" y="0"/>
                    </a:moveTo>
                    <a:lnTo>
                      <a:pt x="254148" y="0"/>
                    </a:lnTo>
                    <a:cubicBezTo>
                      <a:pt x="290674" y="0"/>
                      <a:pt x="325704" y="14510"/>
                      <a:pt x="351532" y="40338"/>
                    </a:cubicBezTo>
                    <a:cubicBezTo>
                      <a:pt x="377360" y="66166"/>
                      <a:pt x="391870" y="101196"/>
                      <a:pt x="391870" y="137722"/>
                    </a:cubicBezTo>
                    <a:lnTo>
                      <a:pt x="391870" y="386749"/>
                    </a:lnTo>
                    <a:cubicBezTo>
                      <a:pt x="391870" y="423276"/>
                      <a:pt x="377360" y="458306"/>
                      <a:pt x="351532" y="484134"/>
                    </a:cubicBezTo>
                    <a:cubicBezTo>
                      <a:pt x="325704" y="509962"/>
                      <a:pt x="290674" y="524472"/>
                      <a:pt x="254148" y="524472"/>
                    </a:cubicBezTo>
                    <a:lnTo>
                      <a:pt x="137722" y="524472"/>
                    </a:lnTo>
                    <a:cubicBezTo>
                      <a:pt x="101196" y="524472"/>
                      <a:pt x="66166" y="509962"/>
                      <a:pt x="40338" y="484134"/>
                    </a:cubicBezTo>
                    <a:cubicBezTo>
                      <a:pt x="14510" y="458306"/>
                      <a:pt x="0" y="423276"/>
                      <a:pt x="0" y="386749"/>
                    </a:cubicBezTo>
                    <a:lnTo>
                      <a:pt x="0" y="137722"/>
                    </a:lnTo>
                    <a:cubicBezTo>
                      <a:pt x="0" y="101196"/>
                      <a:pt x="14510" y="66166"/>
                      <a:pt x="40338" y="40338"/>
                    </a:cubicBezTo>
                    <a:cubicBezTo>
                      <a:pt x="66166" y="14510"/>
                      <a:pt x="101196" y="0"/>
                      <a:pt x="137722" y="0"/>
                    </a:cubicBezTo>
                    <a:close/>
                  </a:path>
                </a:pathLst>
              </a:custGeom>
              <a:ln w="38100" cap="rnd">
                <a:solidFill>
                  <a:srgbClr val="FEA002"/>
                </a:solidFill>
                <a:prstDash val="solid"/>
                <a:round/>
              </a:ln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38100"/>
                <a:ext cx="391870" cy="5625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 strike="noStrike" u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Quarto</a:t>
                </a:r>
              </a:p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 strike="noStrike" u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parágrafo</a:t>
                </a:r>
              </a:p>
            </p:txBody>
          </p:sp>
        </p:grpSp>
        <p:grpSp>
          <p:nvGrpSpPr>
            <p:cNvPr name="Group 70" id="70"/>
            <p:cNvGrpSpPr/>
            <p:nvPr/>
          </p:nvGrpSpPr>
          <p:grpSpPr>
            <a:xfrm rot="0">
              <a:off x="247654" y="0"/>
              <a:ext cx="1453445" cy="873276"/>
              <a:chOff x="0" y="0"/>
              <a:chExt cx="292270" cy="175605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292270" cy="175605"/>
              </a:xfrm>
              <a:custGeom>
                <a:avLst/>
                <a:gdLst/>
                <a:ahLst/>
                <a:cxnLst/>
                <a:rect r="r" b="b" t="t" l="l"/>
                <a:pathLst>
                  <a:path h="175605" w="292270">
                    <a:moveTo>
                      <a:pt x="87802" y="0"/>
                    </a:moveTo>
                    <a:lnTo>
                      <a:pt x="204467" y="0"/>
                    </a:lnTo>
                    <a:cubicBezTo>
                      <a:pt x="252959" y="0"/>
                      <a:pt x="292270" y="39311"/>
                      <a:pt x="292270" y="87802"/>
                    </a:cubicBezTo>
                    <a:lnTo>
                      <a:pt x="292270" y="87802"/>
                    </a:lnTo>
                    <a:cubicBezTo>
                      <a:pt x="292270" y="111089"/>
                      <a:pt x="283019" y="133422"/>
                      <a:pt x="266553" y="149888"/>
                    </a:cubicBezTo>
                    <a:cubicBezTo>
                      <a:pt x="250087" y="166354"/>
                      <a:pt x="227754" y="175605"/>
                      <a:pt x="204467" y="175605"/>
                    </a:cubicBezTo>
                    <a:lnTo>
                      <a:pt x="87802" y="175605"/>
                    </a:lnTo>
                    <a:cubicBezTo>
                      <a:pt x="39311" y="175605"/>
                      <a:pt x="0" y="136294"/>
                      <a:pt x="0" y="87802"/>
                    </a:cubicBezTo>
                    <a:lnTo>
                      <a:pt x="0" y="87802"/>
                    </a:lnTo>
                    <a:cubicBezTo>
                      <a:pt x="0" y="39311"/>
                      <a:pt x="39311" y="0"/>
                      <a:pt x="87802" y="0"/>
                    </a:cubicBezTo>
                    <a:close/>
                  </a:path>
                </a:pathLst>
              </a:custGeom>
              <a:solidFill>
                <a:srgbClr val="FEA002"/>
              </a:solidFill>
              <a:ln cap="rnd">
                <a:noFill/>
                <a:prstDash val="dash"/>
                <a:round/>
              </a:ln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57150"/>
                <a:ext cx="292270" cy="2327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  <a:r>
                  <a:rPr lang="en-US" sz="2599" strike="noStrike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</a:t>
                </a:r>
              </a:p>
            </p:txBody>
          </p:sp>
        </p:grpSp>
      </p:grpSp>
      <p:sp>
        <p:nvSpPr>
          <p:cNvPr name="TextBox 73" id="73"/>
          <p:cNvSpPr txBox="true"/>
          <p:nvPr/>
        </p:nvSpPr>
        <p:spPr>
          <a:xfrm rot="0">
            <a:off x="2806862" y="1575008"/>
            <a:ext cx="6311137" cy="1575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95"/>
              </a:lnSpc>
            </a:pPr>
            <a:r>
              <a:rPr lang="en-US" sz="3500" spc="-192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Seleciona todos os elementos que vêm depois outro elemento (mesmo nível).</a:t>
            </a:r>
          </a:p>
        </p:txBody>
      </p:sp>
    </p:spTree>
  </p:cSld>
  <p:clrMapOvr>
    <a:masterClrMapping/>
  </p:clrMapOvr>
  <p:transition spd="med">
    <p:cover dir="d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70899" y="1152525"/>
            <a:ext cx="8946201" cy="138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17"/>
              </a:lnSpc>
              <a:spcBef>
                <a:spcPct val="0"/>
              </a:spcBef>
            </a:pPr>
            <a:r>
              <a:rPr lang="en-US" sz="9922" spc="-545">
                <a:solidFill>
                  <a:srgbClr val="4B9BB3"/>
                </a:solidFill>
                <a:latin typeface="Poetsen"/>
                <a:ea typeface="Poetsen"/>
                <a:cs typeface="Poetsen"/>
                <a:sym typeface="Poetsen"/>
              </a:rPr>
              <a:t>Atributos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138556" y="2808674"/>
            <a:ext cx="4010888" cy="6120759"/>
            <a:chOff x="0" y="0"/>
            <a:chExt cx="5347851" cy="81610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141160"/>
              <a:ext cx="5347851" cy="7019852"/>
            </a:xfrm>
            <a:custGeom>
              <a:avLst/>
              <a:gdLst/>
              <a:ahLst/>
              <a:cxnLst/>
              <a:rect r="r" b="b" t="t" l="l"/>
              <a:pathLst>
                <a:path h="7019852" w="5347851">
                  <a:moveTo>
                    <a:pt x="0" y="0"/>
                  </a:moveTo>
                  <a:lnTo>
                    <a:pt x="5347851" y="0"/>
                  </a:lnTo>
                  <a:lnTo>
                    <a:pt x="5347851" y="7019851"/>
                  </a:lnTo>
                  <a:lnTo>
                    <a:pt x="0" y="7019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592645" y="0"/>
              <a:ext cx="2839589" cy="2282320"/>
            </a:xfrm>
            <a:custGeom>
              <a:avLst/>
              <a:gdLst/>
              <a:ahLst/>
              <a:cxnLst/>
              <a:rect r="r" b="b" t="t" l="l"/>
              <a:pathLst>
                <a:path h="2282320" w="2839589">
                  <a:moveTo>
                    <a:pt x="0" y="0"/>
                  </a:moveTo>
                  <a:lnTo>
                    <a:pt x="2839589" y="0"/>
                  </a:lnTo>
                  <a:lnTo>
                    <a:pt x="2839589" y="2282320"/>
                  </a:lnTo>
                  <a:lnTo>
                    <a:pt x="0" y="2282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med">
    <p:cover dir="d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426315"/>
            <a:ext cx="7252256" cy="2911688"/>
            <a:chOff x="0" y="0"/>
            <a:chExt cx="2260754" cy="9076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60754" cy="907664"/>
            </a:xfrm>
            <a:custGeom>
              <a:avLst/>
              <a:gdLst/>
              <a:ahLst/>
              <a:cxnLst/>
              <a:rect r="r" b="b" t="t" l="l"/>
              <a:pathLst>
                <a:path h="907664" w="2260754">
                  <a:moveTo>
                    <a:pt x="33093" y="0"/>
                  </a:moveTo>
                  <a:lnTo>
                    <a:pt x="2227661" y="0"/>
                  </a:lnTo>
                  <a:cubicBezTo>
                    <a:pt x="2236438" y="0"/>
                    <a:pt x="2244855" y="3487"/>
                    <a:pt x="2251061" y="9693"/>
                  </a:cubicBezTo>
                  <a:cubicBezTo>
                    <a:pt x="2257267" y="15899"/>
                    <a:pt x="2260754" y="24316"/>
                    <a:pt x="2260754" y="33093"/>
                  </a:cubicBezTo>
                  <a:lnTo>
                    <a:pt x="2260754" y="874571"/>
                  </a:lnTo>
                  <a:cubicBezTo>
                    <a:pt x="2260754" y="892848"/>
                    <a:pt x="2245937" y="907664"/>
                    <a:pt x="2227661" y="907664"/>
                  </a:cubicBezTo>
                  <a:lnTo>
                    <a:pt x="33093" y="907664"/>
                  </a:lnTo>
                  <a:cubicBezTo>
                    <a:pt x="24316" y="907664"/>
                    <a:pt x="15899" y="904177"/>
                    <a:pt x="9693" y="897971"/>
                  </a:cubicBezTo>
                  <a:cubicBezTo>
                    <a:pt x="3487" y="891765"/>
                    <a:pt x="0" y="883348"/>
                    <a:pt x="0" y="874571"/>
                  </a:cubicBezTo>
                  <a:lnTo>
                    <a:pt x="0" y="33093"/>
                  </a:lnTo>
                  <a:cubicBezTo>
                    <a:pt x="0" y="24316"/>
                    <a:pt x="3487" y="15899"/>
                    <a:pt x="9693" y="9693"/>
                  </a:cubicBezTo>
                  <a:cubicBezTo>
                    <a:pt x="15899" y="3487"/>
                    <a:pt x="24316" y="0"/>
                    <a:pt x="33093" y="0"/>
                  </a:cubicBezTo>
                  <a:close/>
                </a:path>
              </a:pathLst>
            </a:custGeom>
            <a:solidFill>
              <a:srgbClr val="20242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60754" cy="945764"/>
            </a:xfrm>
            <a:prstGeom prst="rect">
              <a:avLst/>
            </a:prstGeom>
          </p:spPr>
          <p:txBody>
            <a:bodyPr anchor="ctr" rtlCol="false" tIns="42920" lIns="42920" bIns="42920" rIns="4292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4186374"/>
            <a:ext cx="1104034" cy="747835"/>
            <a:chOff x="0" y="0"/>
            <a:chExt cx="344162" cy="2331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4162" cy="233123"/>
            </a:xfrm>
            <a:custGeom>
              <a:avLst/>
              <a:gdLst/>
              <a:ahLst/>
              <a:cxnLst/>
              <a:rect r="r" b="b" t="t" l="l"/>
              <a:pathLst>
                <a:path h="233123" w="344162">
                  <a:moveTo>
                    <a:pt x="98174" y="0"/>
                  </a:moveTo>
                  <a:lnTo>
                    <a:pt x="245988" y="0"/>
                  </a:lnTo>
                  <a:cubicBezTo>
                    <a:pt x="300208" y="0"/>
                    <a:pt x="344162" y="43954"/>
                    <a:pt x="344162" y="98174"/>
                  </a:cubicBezTo>
                  <a:lnTo>
                    <a:pt x="344162" y="134950"/>
                  </a:lnTo>
                  <a:cubicBezTo>
                    <a:pt x="344162" y="189170"/>
                    <a:pt x="300208" y="233123"/>
                    <a:pt x="245988" y="233123"/>
                  </a:cubicBezTo>
                  <a:lnTo>
                    <a:pt x="98174" y="233123"/>
                  </a:lnTo>
                  <a:cubicBezTo>
                    <a:pt x="43954" y="233123"/>
                    <a:pt x="0" y="189170"/>
                    <a:pt x="0" y="134950"/>
                  </a:cubicBezTo>
                  <a:lnTo>
                    <a:pt x="0" y="98174"/>
                  </a:lnTo>
                  <a:cubicBezTo>
                    <a:pt x="0" y="43954"/>
                    <a:pt x="43954" y="0"/>
                    <a:pt x="98174" y="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44162" cy="271223"/>
            </a:xfrm>
            <a:prstGeom prst="rect">
              <a:avLst/>
            </a:prstGeom>
          </p:spPr>
          <p:txBody>
            <a:bodyPr anchor="ctr" rtlCol="false" tIns="42920" lIns="42920" bIns="42920" rIns="4292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4384251"/>
            <a:ext cx="1104034" cy="549959"/>
            <a:chOff x="0" y="0"/>
            <a:chExt cx="344162" cy="1714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4162" cy="171439"/>
            </a:xfrm>
            <a:custGeom>
              <a:avLst/>
              <a:gdLst/>
              <a:ahLst/>
              <a:cxnLst/>
              <a:rect r="r" b="b" t="t" l="l"/>
              <a:pathLst>
                <a:path h="171439" w="344162">
                  <a:moveTo>
                    <a:pt x="0" y="0"/>
                  </a:moveTo>
                  <a:lnTo>
                    <a:pt x="344162" y="0"/>
                  </a:lnTo>
                  <a:lnTo>
                    <a:pt x="344162" y="171439"/>
                  </a:lnTo>
                  <a:lnTo>
                    <a:pt x="0" y="171439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44162" cy="209539"/>
            </a:xfrm>
            <a:prstGeom prst="rect">
              <a:avLst/>
            </a:prstGeom>
          </p:spPr>
          <p:txBody>
            <a:bodyPr anchor="ctr" rtlCol="false" tIns="42920" lIns="42920" bIns="42920" rIns="4292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85474" y="8456104"/>
            <a:ext cx="7815676" cy="890766"/>
            <a:chOff x="0" y="0"/>
            <a:chExt cx="10420901" cy="118768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285141" y="61729"/>
              <a:ext cx="10135760" cy="1064231"/>
              <a:chOff x="0" y="0"/>
              <a:chExt cx="2002125" cy="21021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002125" cy="210218"/>
              </a:xfrm>
              <a:custGeom>
                <a:avLst/>
                <a:gdLst/>
                <a:ahLst/>
                <a:cxnLst/>
                <a:rect r="r" b="b" t="t" l="l"/>
                <a:pathLst>
                  <a:path h="210218" w="2002125">
                    <a:moveTo>
                      <a:pt x="31571" y="0"/>
                    </a:moveTo>
                    <a:lnTo>
                      <a:pt x="1970554" y="0"/>
                    </a:lnTo>
                    <a:cubicBezTo>
                      <a:pt x="1987990" y="0"/>
                      <a:pt x="2002125" y="14135"/>
                      <a:pt x="2002125" y="31571"/>
                    </a:cubicBezTo>
                    <a:lnTo>
                      <a:pt x="2002125" y="178647"/>
                    </a:lnTo>
                    <a:cubicBezTo>
                      <a:pt x="2002125" y="196083"/>
                      <a:pt x="1987990" y="210218"/>
                      <a:pt x="1970554" y="210218"/>
                    </a:cubicBezTo>
                    <a:lnTo>
                      <a:pt x="31571" y="210218"/>
                    </a:lnTo>
                    <a:cubicBezTo>
                      <a:pt x="14135" y="210218"/>
                      <a:pt x="0" y="196083"/>
                      <a:pt x="0" y="178647"/>
                    </a:cubicBezTo>
                    <a:lnTo>
                      <a:pt x="0" y="31571"/>
                    </a:lnTo>
                    <a:cubicBezTo>
                      <a:pt x="0" y="14135"/>
                      <a:pt x="14135" y="0"/>
                      <a:pt x="31571" y="0"/>
                    </a:cubicBezTo>
                    <a:close/>
                  </a:path>
                </a:pathLst>
              </a:custGeom>
              <a:solidFill>
                <a:srgbClr val="BFECAC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002125" cy="2483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90665" cy="1187689"/>
            </a:xfrm>
            <a:custGeom>
              <a:avLst/>
              <a:gdLst/>
              <a:ahLst/>
              <a:cxnLst/>
              <a:rect r="r" b="b" t="t" l="l"/>
              <a:pathLst>
                <a:path h="1187689" w="1190665">
                  <a:moveTo>
                    <a:pt x="0" y="0"/>
                  </a:moveTo>
                  <a:lnTo>
                    <a:pt x="1190665" y="0"/>
                  </a:lnTo>
                  <a:lnTo>
                    <a:pt x="1190665" y="1187689"/>
                  </a:lnTo>
                  <a:lnTo>
                    <a:pt x="0" y="1187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646798" y="77574"/>
              <a:ext cx="8243491" cy="975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1"/>
                </a:lnSpc>
              </a:pPr>
              <a:r>
                <a:rPr lang="en-US" b="true" sz="2136" spc="111">
                  <a:solidFill>
                    <a:srgbClr val="17320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Seleciona todos os &lt;input&gt; que têm o atributo required.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25120" y="3504464"/>
            <a:ext cx="8280965" cy="4729872"/>
            <a:chOff x="0" y="0"/>
            <a:chExt cx="2581434" cy="14744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81434" cy="1474448"/>
            </a:xfrm>
            <a:custGeom>
              <a:avLst/>
              <a:gdLst/>
              <a:ahLst/>
              <a:cxnLst/>
              <a:rect r="r" b="b" t="t" l="l"/>
              <a:pathLst>
                <a:path h="1474448" w="2581434">
                  <a:moveTo>
                    <a:pt x="26177" y="0"/>
                  </a:moveTo>
                  <a:lnTo>
                    <a:pt x="2555257" y="0"/>
                  </a:lnTo>
                  <a:cubicBezTo>
                    <a:pt x="2562200" y="0"/>
                    <a:pt x="2568858" y="2758"/>
                    <a:pt x="2573767" y="7667"/>
                  </a:cubicBezTo>
                  <a:cubicBezTo>
                    <a:pt x="2578677" y="12576"/>
                    <a:pt x="2581434" y="19235"/>
                    <a:pt x="2581434" y="26177"/>
                  </a:cubicBezTo>
                  <a:lnTo>
                    <a:pt x="2581434" y="1448271"/>
                  </a:lnTo>
                  <a:cubicBezTo>
                    <a:pt x="2581434" y="1455214"/>
                    <a:pt x="2578677" y="1461872"/>
                    <a:pt x="2573767" y="1466781"/>
                  </a:cubicBezTo>
                  <a:cubicBezTo>
                    <a:pt x="2568858" y="1471690"/>
                    <a:pt x="2562200" y="1474448"/>
                    <a:pt x="2555257" y="1474448"/>
                  </a:cubicBezTo>
                  <a:lnTo>
                    <a:pt x="26177" y="1474448"/>
                  </a:lnTo>
                  <a:cubicBezTo>
                    <a:pt x="19235" y="1474448"/>
                    <a:pt x="12576" y="1471690"/>
                    <a:pt x="7667" y="1466781"/>
                  </a:cubicBezTo>
                  <a:cubicBezTo>
                    <a:pt x="2758" y="1461872"/>
                    <a:pt x="0" y="1455214"/>
                    <a:pt x="0" y="1448271"/>
                  </a:cubicBezTo>
                  <a:lnTo>
                    <a:pt x="0" y="26177"/>
                  </a:lnTo>
                  <a:cubicBezTo>
                    <a:pt x="0" y="19235"/>
                    <a:pt x="2758" y="12576"/>
                    <a:pt x="7667" y="7667"/>
                  </a:cubicBezTo>
                  <a:cubicBezTo>
                    <a:pt x="12576" y="2758"/>
                    <a:pt x="19235" y="0"/>
                    <a:pt x="2617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581434" cy="1512548"/>
            </a:xfrm>
            <a:prstGeom prst="rect">
              <a:avLst/>
            </a:prstGeom>
          </p:spPr>
          <p:txBody>
            <a:bodyPr anchor="ctr" rtlCol="false" tIns="42920" lIns="42920" bIns="42920" rIns="4292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8896348" y="2700430"/>
            <a:ext cx="8865345" cy="5755674"/>
          </a:xfrm>
          <a:custGeom>
            <a:avLst/>
            <a:gdLst/>
            <a:ahLst/>
            <a:cxnLst/>
            <a:rect r="r" b="b" t="t" l="l"/>
            <a:pathLst>
              <a:path h="5755674" w="8865345">
                <a:moveTo>
                  <a:pt x="0" y="0"/>
                </a:moveTo>
                <a:lnTo>
                  <a:pt x="8865345" y="0"/>
                </a:lnTo>
                <a:lnTo>
                  <a:pt x="8865345" y="5755674"/>
                </a:lnTo>
                <a:lnTo>
                  <a:pt x="0" y="5755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9814" t="-83171" r="-2698" b="-29403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52109" y="4234097"/>
            <a:ext cx="857215" cy="55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60"/>
              </a:lnSpc>
            </a:pPr>
            <a:r>
              <a:rPr lang="en-US" sz="3042" spc="252">
                <a:solidFill>
                  <a:srgbClr val="F5FFF9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51206" y="5167315"/>
            <a:ext cx="5022571" cy="15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0"/>
              </a:lnSpc>
            </a:pPr>
            <a:r>
              <a:rPr lang="en-US" sz="3042" spc="252">
                <a:solidFill>
                  <a:srgbClr val="27EE5F"/>
                </a:solidFill>
                <a:latin typeface="Roboto"/>
                <a:ea typeface="Roboto"/>
                <a:cs typeface="Roboto"/>
                <a:sym typeface="Roboto"/>
              </a:rPr>
              <a:t>input</a:t>
            </a: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lang="en-US" sz="3042" spc="252">
                <a:solidFill>
                  <a:srgbClr val="27EE5F"/>
                </a:solidFill>
                <a:latin typeface="Roboto"/>
                <a:ea typeface="Roboto"/>
                <a:cs typeface="Roboto"/>
                <a:sym typeface="Roboto"/>
              </a:rPr>
              <a:t>required</a:t>
            </a: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] {</a:t>
            </a:r>
          </a:p>
          <a:p>
            <a:pPr algn="l">
              <a:lnSpc>
                <a:spcPts val="4260"/>
              </a:lnSpc>
            </a:pP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lang="en-US" sz="3042" spc="252">
                <a:solidFill>
                  <a:srgbClr val="BFECAC"/>
                </a:solidFill>
                <a:latin typeface="Roboto"/>
                <a:ea typeface="Roboto"/>
                <a:cs typeface="Roboto"/>
                <a:sym typeface="Roboto"/>
              </a:rPr>
              <a:t>border</a:t>
            </a: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3042" spc="252">
                <a:solidFill>
                  <a:srgbClr val="FEA002"/>
                </a:solidFill>
                <a:latin typeface="Roboto"/>
                <a:ea typeface="Roboto"/>
                <a:cs typeface="Roboto"/>
                <a:sym typeface="Roboto"/>
              </a:rPr>
              <a:t>2px </a:t>
            </a:r>
            <a:r>
              <a:rPr lang="en-US" sz="3042" spc="252">
                <a:solidFill>
                  <a:srgbClr val="EB4B36"/>
                </a:solidFill>
                <a:latin typeface="Roboto"/>
                <a:ea typeface="Roboto"/>
                <a:cs typeface="Roboto"/>
                <a:sym typeface="Roboto"/>
              </a:rPr>
              <a:t>solid </a:t>
            </a:r>
            <a:r>
              <a:rPr lang="en-US" sz="3042" spc="252">
                <a:solidFill>
                  <a:srgbClr val="FF5757"/>
                </a:solidFill>
                <a:latin typeface="Roboto"/>
                <a:ea typeface="Roboto"/>
                <a:cs typeface="Roboto"/>
                <a:sym typeface="Roboto"/>
              </a:rPr>
              <a:t>red</a:t>
            </a: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</a:p>
          <a:p>
            <a:pPr algn="l" marL="0" indent="0" lvl="0">
              <a:lnSpc>
                <a:spcPts val="4260"/>
              </a:lnSpc>
            </a:pP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43409" y="857250"/>
            <a:ext cx="14553359" cy="1896954"/>
            <a:chOff x="0" y="0"/>
            <a:chExt cx="19404478" cy="2529272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174922"/>
              <a:ext cx="2232820" cy="2232820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E1F7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8" id="28"/>
            <p:cNvSpPr/>
            <p:nvPr/>
          </p:nvSpPr>
          <p:spPr>
            <a:xfrm flipH="false" flipV="false" rot="0">
              <a:off x="483236" y="658158"/>
              <a:ext cx="1266348" cy="1266348"/>
            </a:xfrm>
            <a:custGeom>
              <a:avLst/>
              <a:gdLst/>
              <a:ahLst/>
              <a:cxnLst/>
              <a:rect r="r" b="b" t="t" l="l"/>
              <a:pathLst>
                <a:path h="1266348" w="1266348">
                  <a:moveTo>
                    <a:pt x="0" y="0"/>
                  </a:moveTo>
                  <a:lnTo>
                    <a:pt x="1266348" y="0"/>
                  </a:lnTo>
                  <a:lnTo>
                    <a:pt x="1266348" y="1266348"/>
                  </a:lnTo>
                  <a:lnTo>
                    <a:pt x="0" y="1266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2663664" y="-104775"/>
              <a:ext cx="10704012" cy="1244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364"/>
                </a:lnSpc>
              </a:pPr>
              <a:r>
                <a:rPr lang="en-US" b="true" sz="5621">
                  <a:solidFill>
                    <a:srgbClr val="5A231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Presença de atributo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663664" y="1120842"/>
              <a:ext cx="16740815" cy="14084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95"/>
                </a:lnSpc>
              </a:pPr>
              <a:r>
                <a:rPr lang="en-US" sz="3500" spc="-192">
                  <a:solidFill>
                    <a:srgbClr val="01111D"/>
                  </a:solidFill>
                  <a:latin typeface="Poppins"/>
                  <a:ea typeface="Poppins"/>
                  <a:cs typeface="Poppins"/>
                  <a:sym typeface="Poppins"/>
                </a:rPr>
                <a:t>Seleciona elementos que possuem um determinado atributo, independente do valor.</a:t>
              </a:r>
            </a:p>
          </p:txBody>
        </p:sp>
      </p:grpSp>
    </p:spTree>
  </p:cSld>
  <p:clrMapOvr>
    <a:masterClrMapping/>
  </p:clrMapOvr>
  <p:transition spd="med">
    <p:cover dir="d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85474" y="3995686"/>
            <a:ext cx="7611108" cy="2911688"/>
            <a:chOff x="0" y="0"/>
            <a:chExt cx="2372619" cy="9076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72619" cy="907664"/>
            </a:xfrm>
            <a:custGeom>
              <a:avLst/>
              <a:gdLst/>
              <a:ahLst/>
              <a:cxnLst/>
              <a:rect r="r" b="b" t="t" l="l"/>
              <a:pathLst>
                <a:path h="907664" w="2372619">
                  <a:moveTo>
                    <a:pt x="31533" y="0"/>
                  </a:moveTo>
                  <a:lnTo>
                    <a:pt x="2341086" y="0"/>
                  </a:lnTo>
                  <a:cubicBezTo>
                    <a:pt x="2349449" y="0"/>
                    <a:pt x="2357470" y="3322"/>
                    <a:pt x="2363383" y="9236"/>
                  </a:cubicBezTo>
                  <a:cubicBezTo>
                    <a:pt x="2369297" y="15149"/>
                    <a:pt x="2372619" y="23170"/>
                    <a:pt x="2372619" y="31533"/>
                  </a:cubicBezTo>
                  <a:lnTo>
                    <a:pt x="2372619" y="876131"/>
                  </a:lnTo>
                  <a:cubicBezTo>
                    <a:pt x="2372619" y="884494"/>
                    <a:pt x="2369297" y="892515"/>
                    <a:pt x="2363383" y="898428"/>
                  </a:cubicBezTo>
                  <a:cubicBezTo>
                    <a:pt x="2357470" y="904342"/>
                    <a:pt x="2349449" y="907664"/>
                    <a:pt x="2341086" y="907664"/>
                  </a:cubicBezTo>
                  <a:lnTo>
                    <a:pt x="31533" y="907664"/>
                  </a:lnTo>
                  <a:cubicBezTo>
                    <a:pt x="23170" y="907664"/>
                    <a:pt x="15149" y="904342"/>
                    <a:pt x="9236" y="898428"/>
                  </a:cubicBezTo>
                  <a:cubicBezTo>
                    <a:pt x="3322" y="892515"/>
                    <a:pt x="0" y="884494"/>
                    <a:pt x="0" y="876131"/>
                  </a:cubicBezTo>
                  <a:lnTo>
                    <a:pt x="0" y="31533"/>
                  </a:lnTo>
                  <a:cubicBezTo>
                    <a:pt x="0" y="23170"/>
                    <a:pt x="3322" y="15149"/>
                    <a:pt x="9236" y="9236"/>
                  </a:cubicBezTo>
                  <a:cubicBezTo>
                    <a:pt x="15149" y="3322"/>
                    <a:pt x="23170" y="0"/>
                    <a:pt x="31533" y="0"/>
                  </a:cubicBezTo>
                  <a:close/>
                </a:path>
              </a:pathLst>
            </a:custGeom>
            <a:solidFill>
              <a:srgbClr val="20242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72619" cy="945764"/>
            </a:xfrm>
            <a:prstGeom prst="rect">
              <a:avLst/>
            </a:prstGeom>
          </p:spPr>
          <p:txBody>
            <a:bodyPr anchor="ctr" rtlCol="false" tIns="42920" lIns="42920" bIns="42920" rIns="4292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85474" y="3755745"/>
            <a:ext cx="1104034" cy="747835"/>
            <a:chOff x="0" y="0"/>
            <a:chExt cx="344162" cy="2331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4162" cy="233123"/>
            </a:xfrm>
            <a:custGeom>
              <a:avLst/>
              <a:gdLst/>
              <a:ahLst/>
              <a:cxnLst/>
              <a:rect r="r" b="b" t="t" l="l"/>
              <a:pathLst>
                <a:path h="233123" w="344162">
                  <a:moveTo>
                    <a:pt x="98174" y="0"/>
                  </a:moveTo>
                  <a:lnTo>
                    <a:pt x="245988" y="0"/>
                  </a:lnTo>
                  <a:cubicBezTo>
                    <a:pt x="300208" y="0"/>
                    <a:pt x="344162" y="43954"/>
                    <a:pt x="344162" y="98174"/>
                  </a:cubicBezTo>
                  <a:lnTo>
                    <a:pt x="344162" y="134950"/>
                  </a:lnTo>
                  <a:cubicBezTo>
                    <a:pt x="344162" y="189170"/>
                    <a:pt x="300208" y="233123"/>
                    <a:pt x="245988" y="233123"/>
                  </a:cubicBezTo>
                  <a:lnTo>
                    <a:pt x="98174" y="233123"/>
                  </a:lnTo>
                  <a:cubicBezTo>
                    <a:pt x="43954" y="233123"/>
                    <a:pt x="0" y="189170"/>
                    <a:pt x="0" y="134950"/>
                  </a:cubicBezTo>
                  <a:lnTo>
                    <a:pt x="0" y="98174"/>
                  </a:lnTo>
                  <a:cubicBezTo>
                    <a:pt x="0" y="43954"/>
                    <a:pt x="43954" y="0"/>
                    <a:pt x="98174" y="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44162" cy="271223"/>
            </a:xfrm>
            <a:prstGeom prst="rect">
              <a:avLst/>
            </a:prstGeom>
          </p:spPr>
          <p:txBody>
            <a:bodyPr anchor="ctr" rtlCol="false" tIns="42920" lIns="42920" bIns="42920" rIns="4292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85474" y="3953622"/>
            <a:ext cx="1104034" cy="549959"/>
            <a:chOff x="0" y="0"/>
            <a:chExt cx="344162" cy="1714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4162" cy="171439"/>
            </a:xfrm>
            <a:custGeom>
              <a:avLst/>
              <a:gdLst/>
              <a:ahLst/>
              <a:cxnLst/>
              <a:rect r="r" b="b" t="t" l="l"/>
              <a:pathLst>
                <a:path h="171439" w="344162">
                  <a:moveTo>
                    <a:pt x="0" y="0"/>
                  </a:moveTo>
                  <a:lnTo>
                    <a:pt x="344162" y="0"/>
                  </a:lnTo>
                  <a:lnTo>
                    <a:pt x="344162" y="171439"/>
                  </a:lnTo>
                  <a:lnTo>
                    <a:pt x="0" y="171439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44162" cy="209539"/>
            </a:xfrm>
            <a:prstGeom prst="rect">
              <a:avLst/>
            </a:prstGeom>
          </p:spPr>
          <p:txBody>
            <a:bodyPr anchor="ctr" rtlCol="false" tIns="42920" lIns="42920" bIns="42920" rIns="4292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85474" y="8456104"/>
            <a:ext cx="7815676" cy="890766"/>
            <a:chOff x="0" y="0"/>
            <a:chExt cx="10420901" cy="118768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285141" y="61729"/>
              <a:ext cx="10135760" cy="1064231"/>
              <a:chOff x="0" y="0"/>
              <a:chExt cx="2002125" cy="21021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002125" cy="210218"/>
              </a:xfrm>
              <a:custGeom>
                <a:avLst/>
                <a:gdLst/>
                <a:ahLst/>
                <a:cxnLst/>
                <a:rect r="r" b="b" t="t" l="l"/>
                <a:pathLst>
                  <a:path h="210218" w="2002125">
                    <a:moveTo>
                      <a:pt x="31571" y="0"/>
                    </a:moveTo>
                    <a:lnTo>
                      <a:pt x="1970554" y="0"/>
                    </a:lnTo>
                    <a:cubicBezTo>
                      <a:pt x="1987990" y="0"/>
                      <a:pt x="2002125" y="14135"/>
                      <a:pt x="2002125" y="31571"/>
                    </a:cubicBezTo>
                    <a:lnTo>
                      <a:pt x="2002125" y="178647"/>
                    </a:lnTo>
                    <a:cubicBezTo>
                      <a:pt x="2002125" y="196083"/>
                      <a:pt x="1987990" y="210218"/>
                      <a:pt x="1970554" y="210218"/>
                    </a:cubicBezTo>
                    <a:lnTo>
                      <a:pt x="31571" y="210218"/>
                    </a:lnTo>
                    <a:cubicBezTo>
                      <a:pt x="14135" y="210218"/>
                      <a:pt x="0" y="196083"/>
                      <a:pt x="0" y="178647"/>
                    </a:cubicBezTo>
                    <a:lnTo>
                      <a:pt x="0" y="31571"/>
                    </a:lnTo>
                    <a:cubicBezTo>
                      <a:pt x="0" y="14135"/>
                      <a:pt x="14135" y="0"/>
                      <a:pt x="31571" y="0"/>
                    </a:cubicBezTo>
                    <a:close/>
                  </a:path>
                </a:pathLst>
              </a:custGeom>
              <a:solidFill>
                <a:srgbClr val="BFECAC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002125" cy="2483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90665" cy="1187689"/>
            </a:xfrm>
            <a:custGeom>
              <a:avLst/>
              <a:gdLst/>
              <a:ahLst/>
              <a:cxnLst/>
              <a:rect r="r" b="b" t="t" l="l"/>
              <a:pathLst>
                <a:path h="1187689" w="1190665">
                  <a:moveTo>
                    <a:pt x="0" y="0"/>
                  </a:moveTo>
                  <a:lnTo>
                    <a:pt x="1190665" y="0"/>
                  </a:lnTo>
                  <a:lnTo>
                    <a:pt x="1190665" y="1187689"/>
                  </a:lnTo>
                  <a:lnTo>
                    <a:pt x="0" y="1187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646798" y="77574"/>
              <a:ext cx="8243491" cy="975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1"/>
                </a:lnSpc>
              </a:pPr>
              <a:r>
                <a:rPr lang="en-US" b="true" sz="2136" spc="111">
                  <a:solidFill>
                    <a:srgbClr val="17320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Seleciona todos os &lt;input&gt; com type=”email”.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090968" y="2380182"/>
            <a:ext cx="7168332" cy="5222515"/>
          </a:xfrm>
          <a:custGeom>
            <a:avLst/>
            <a:gdLst/>
            <a:ahLst/>
            <a:cxnLst/>
            <a:rect r="r" b="b" t="t" l="l"/>
            <a:pathLst>
              <a:path h="5222515" w="7168332">
                <a:moveTo>
                  <a:pt x="0" y="0"/>
                </a:moveTo>
                <a:lnTo>
                  <a:pt x="7168332" y="0"/>
                </a:lnTo>
                <a:lnTo>
                  <a:pt x="7168332" y="5222515"/>
                </a:lnTo>
                <a:lnTo>
                  <a:pt x="0" y="522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2796" t="-75968" r="-5225" b="-41472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090968" y="8191395"/>
            <a:ext cx="7168332" cy="1587648"/>
            <a:chOff x="0" y="0"/>
            <a:chExt cx="1887956" cy="41814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87956" cy="418146"/>
            </a:xfrm>
            <a:custGeom>
              <a:avLst/>
              <a:gdLst/>
              <a:ahLst/>
              <a:cxnLst/>
              <a:rect r="r" b="b" t="t" l="l"/>
              <a:pathLst>
                <a:path h="418146" w="1887956">
                  <a:moveTo>
                    <a:pt x="33481" y="0"/>
                  </a:moveTo>
                  <a:lnTo>
                    <a:pt x="1854475" y="0"/>
                  </a:lnTo>
                  <a:cubicBezTo>
                    <a:pt x="1863355" y="0"/>
                    <a:pt x="1871871" y="3527"/>
                    <a:pt x="1878150" y="9806"/>
                  </a:cubicBezTo>
                  <a:cubicBezTo>
                    <a:pt x="1884428" y="16085"/>
                    <a:pt x="1887956" y="24601"/>
                    <a:pt x="1887956" y="33481"/>
                  </a:cubicBezTo>
                  <a:lnTo>
                    <a:pt x="1887956" y="384665"/>
                  </a:lnTo>
                  <a:cubicBezTo>
                    <a:pt x="1887956" y="403156"/>
                    <a:pt x="1872966" y="418146"/>
                    <a:pt x="1854475" y="418146"/>
                  </a:cubicBezTo>
                  <a:lnTo>
                    <a:pt x="33481" y="418146"/>
                  </a:lnTo>
                  <a:cubicBezTo>
                    <a:pt x="24601" y="418146"/>
                    <a:pt x="16085" y="414618"/>
                    <a:pt x="9806" y="408340"/>
                  </a:cubicBezTo>
                  <a:cubicBezTo>
                    <a:pt x="3527" y="402061"/>
                    <a:pt x="0" y="393545"/>
                    <a:pt x="0" y="384665"/>
                  </a:cubicBezTo>
                  <a:lnTo>
                    <a:pt x="0" y="33481"/>
                  </a:lnTo>
                  <a:cubicBezTo>
                    <a:pt x="0" y="24601"/>
                    <a:pt x="3527" y="16085"/>
                    <a:pt x="9806" y="9806"/>
                  </a:cubicBezTo>
                  <a:cubicBezTo>
                    <a:pt x="16085" y="3527"/>
                    <a:pt x="24601" y="0"/>
                    <a:pt x="33481" y="0"/>
                  </a:cubicBezTo>
                  <a:close/>
                </a:path>
              </a:pathLst>
            </a:custGeom>
            <a:solidFill>
              <a:srgbClr val="FFFDD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887956" cy="456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9647667" y="8502536"/>
            <a:ext cx="1430172" cy="965366"/>
          </a:xfrm>
          <a:custGeom>
            <a:avLst/>
            <a:gdLst/>
            <a:ahLst/>
            <a:cxnLst/>
            <a:rect r="r" b="b" t="t" l="l"/>
            <a:pathLst>
              <a:path h="965366" w="1430172">
                <a:moveTo>
                  <a:pt x="0" y="0"/>
                </a:moveTo>
                <a:lnTo>
                  <a:pt x="1430173" y="0"/>
                </a:lnTo>
                <a:lnTo>
                  <a:pt x="1430173" y="965366"/>
                </a:lnTo>
                <a:lnTo>
                  <a:pt x="0" y="9653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508884" y="3803468"/>
            <a:ext cx="857215" cy="55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60"/>
              </a:lnSpc>
            </a:pPr>
            <a:r>
              <a:rPr lang="en-US" sz="3042" spc="252">
                <a:solidFill>
                  <a:srgbClr val="F5FFF9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07981" y="4736686"/>
            <a:ext cx="6888602" cy="15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0"/>
              </a:lnSpc>
            </a:pPr>
            <a:r>
              <a:rPr lang="en-US" sz="3042" spc="252">
                <a:solidFill>
                  <a:srgbClr val="27EE5F"/>
                </a:solidFill>
                <a:latin typeface="Roboto"/>
                <a:ea typeface="Roboto"/>
                <a:cs typeface="Roboto"/>
                <a:sym typeface="Roboto"/>
              </a:rPr>
              <a:t>input</a:t>
            </a: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lang="en-US" sz="3042" spc="252">
                <a:solidFill>
                  <a:srgbClr val="F661A1"/>
                </a:solidFill>
                <a:latin typeface="Roboto"/>
                <a:ea typeface="Roboto"/>
                <a:cs typeface="Roboto"/>
                <a:sym typeface="Roboto"/>
              </a:rPr>
              <a:t>type</a:t>
            </a:r>
            <a:r>
              <a:rPr lang="en-US" sz="3042" spc="252">
                <a:solidFill>
                  <a:srgbClr val="27EE5F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r>
              <a:rPr lang="en-US" sz="3042" spc="252">
                <a:solidFill>
                  <a:srgbClr val="FEA002"/>
                </a:solidFill>
                <a:latin typeface="Roboto"/>
                <a:ea typeface="Roboto"/>
                <a:cs typeface="Roboto"/>
                <a:sym typeface="Roboto"/>
              </a:rPr>
              <a:t>”email”</a:t>
            </a: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] {</a:t>
            </a:r>
          </a:p>
          <a:p>
            <a:pPr algn="l">
              <a:lnSpc>
                <a:spcPts val="4260"/>
              </a:lnSpc>
            </a:pP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lang="en-US" sz="3042" spc="252">
                <a:solidFill>
                  <a:srgbClr val="BFECAC"/>
                </a:solidFill>
                <a:latin typeface="Roboto"/>
                <a:ea typeface="Roboto"/>
                <a:cs typeface="Roboto"/>
                <a:sym typeface="Roboto"/>
              </a:rPr>
              <a:t>bacground-color </a:t>
            </a: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3042" spc="252">
                <a:solidFill>
                  <a:srgbClr val="FBE25E"/>
                </a:solidFill>
                <a:latin typeface="Roboto"/>
                <a:ea typeface="Roboto"/>
                <a:cs typeface="Roboto"/>
                <a:sym typeface="Roboto"/>
              </a:rPr>
              <a:t>lightyellow</a:t>
            </a: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</a:p>
          <a:p>
            <a:pPr algn="l" marL="0" indent="0" lvl="0">
              <a:lnSpc>
                <a:spcPts val="4260"/>
              </a:lnSpc>
            </a:pP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43409" y="857250"/>
            <a:ext cx="14553359" cy="1896954"/>
            <a:chOff x="0" y="0"/>
            <a:chExt cx="19404478" cy="2529272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174922"/>
              <a:ext cx="2232820" cy="2232820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E1F7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2663664" y="1120842"/>
              <a:ext cx="16740815" cy="14084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95"/>
                </a:lnSpc>
              </a:pPr>
              <a:r>
                <a:rPr lang="en-US" sz="3500" spc="-192">
                  <a:solidFill>
                    <a:srgbClr val="01111D"/>
                  </a:solidFill>
                  <a:latin typeface="Poppins"/>
                  <a:ea typeface="Poppins"/>
                  <a:cs typeface="Poppins"/>
                  <a:sym typeface="Poppins"/>
                </a:rPr>
                <a:t>Seleciona elementos cujo valor do atributo é exatamente igual ao especificado.</a:t>
              </a:r>
            </a:p>
          </p:txBody>
        </p:sp>
        <p:sp>
          <p:nvSpPr>
            <p:cNvPr name="Freeform 30" id="30"/>
            <p:cNvSpPr/>
            <p:nvPr/>
          </p:nvSpPr>
          <p:spPr>
            <a:xfrm flipH="false" flipV="false" rot="0">
              <a:off x="324534" y="321655"/>
              <a:ext cx="1786953" cy="1786953"/>
            </a:xfrm>
            <a:custGeom>
              <a:avLst/>
              <a:gdLst/>
              <a:ahLst/>
              <a:cxnLst/>
              <a:rect r="r" b="b" t="t" l="l"/>
              <a:pathLst>
                <a:path h="1786953" w="1786953">
                  <a:moveTo>
                    <a:pt x="0" y="0"/>
                  </a:moveTo>
                  <a:lnTo>
                    <a:pt x="1786952" y="0"/>
                  </a:lnTo>
                  <a:lnTo>
                    <a:pt x="1786952" y="1786953"/>
                  </a:lnTo>
                  <a:lnTo>
                    <a:pt x="0" y="1786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2663664" y="-104775"/>
              <a:ext cx="10704012" cy="1244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364"/>
                </a:lnSpc>
              </a:pPr>
              <a:r>
                <a:rPr lang="en-US" b="true" sz="5621">
                  <a:solidFill>
                    <a:srgbClr val="5A231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Valor exato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1332969" y="8538644"/>
            <a:ext cx="5734943" cy="790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236" spc="116" b="true">
                <a:solidFill>
                  <a:srgbClr val="17320B"/>
                </a:solidFill>
                <a:latin typeface="Poppins Bold"/>
                <a:ea typeface="Poppins Bold"/>
                <a:cs typeface="Poppins Bold"/>
                <a:sym typeface="Poppins Bold"/>
              </a:rPr>
              <a:t>O valor deve ser exatamente igual.</a:t>
            </a:r>
          </a:p>
          <a:p>
            <a:pPr algn="l" marL="0" indent="0" lvl="0">
              <a:lnSpc>
                <a:spcPts val="3131"/>
              </a:lnSpc>
            </a:pPr>
            <a:r>
              <a:rPr lang="en-US" b="true" sz="2236" spc="116">
                <a:solidFill>
                  <a:srgbClr val="17320B"/>
                </a:solidFill>
                <a:latin typeface="Poppins Bold"/>
                <a:ea typeface="Poppins Bold"/>
                <a:cs typeface="Poppins Bold"/>
                <a:sym typeface="Poppins Bold"/>
              </a:rPr>
              <a:t> Se for type=”Email”, não seleciona.</a:t>
            </a:r>
          </a:p>
        </p:txBody>
      </p:sp>
    </p:spTree>
  </p:cSld>
  <p:clrMapOvr>
    <a:masterClrMapping/>
  </p:clrMapOvr>
  <p:transition spd="med">
    <p:cover dir="d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426315"/>
            <a:ext cx="7611108" cy="2911688"/>
            <a:chOff x="0" y="0"/>
            <a:chExt cx="2372619" cy="9076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72619" cy="907664"/>
            </a:xfrm>
            <a:custGeom>
              <a:avLst/>
              <a:gdLst/>
              <a:ahLst/>
              <a:cxnLst/>
              <a:rect r="r" b="b" t="t" l="l"/>
              <a:pathLst>
                <a:path h="907664" w="2372619">
                  <a:moveTo>
                    <a:pt x="31533" y="0"/>
                  </a:moveTo>
                  <a:lnTo>
                    <a:pt x="2341086" y="0"/>
                  </a:lnTo>
                  <a:cubicBezTo>
                    <a:pt x="2349449" y="0"/>
                    <a:pt x="2357470" y="3322"/>
                    <a:pt x="2363383" y="9236"/>
                  </a:cubicBezTo>
                  <a:cubicBezTo>
                    <a:pt x="2369297" y="15149"/>
                    <a:pt x="2372619" y="23170"/>
                    <a:pt x="2372619" y="31533"/>
                  </a:cubicBezTo>
                  <a:lnTo>
                    <a:pt x="2372619" y="876131"/>
                  </a:lnTo>
                  <a:cubicBezTo>
                    <a:pt x="2372619" y="884494"/>
                    <a:pt x="2369297" y="892515"/>
                    <a:pt x="2363383" y="898428"/>
                  </a:cubicBezTo>
                  <a:cubicBezTo>
                    <a:pt x="2357470" y="904342"/>
                    <a:pt x="2349449" y="907664"/>
                    <a:pt x="2341086" y="907664"/>
                  </a:cubicBezTo>
                  <a:lnTo>
                    <a:pt x="31533" y="907664"/>
                  </a:lnTo>
                  <a:cubicBezTo>
                    <a:pt x="23170" y="907664"/>
                    <a:pt x="15149" y="904342"/>
                    <a:pt x="9236" y="898428"/>
                  </a:cubicBezTo>
                  <a:cubicBezTo>
                    <a:pt x="3322" y="892515"/>
                    <a:pt x="0" y="884494"/>
                    <a:pt x="0" y="876131"/>
                  </a:cubicBezTo>
                  <a:lnTo>
                    <a:pt x="0" y="31533"/>
                  </a:lnTo>
                  <a:cubicBezTo>
                    <a:pt x="0" y="23170"/>
                    <a:pt x="3322" y="15149"/>
                    <a:pt x="9236" y="9236"/>
                  </a:cubicBezTo>
                  <a:cubicBezTo>
                    <a:pt x="15149" y="3322"/>
                    <a:pt x="23170" y="0"/>
                    <a:pt x="31533" y="0"/>
                  </a:cubicBezTo>
                  <a:close/>
                </a:path>
              </a:pathLst>
            </a:custGeom>
            <a:solidFill>
              <a:srgbClr val="20242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72619" cy="945764"/>
            </a:xfrm>
            <a:prstGeom prst="rect">
              <a:avLst/>
            </a:prstGeom>
          </p:spPr>
          <p:txBody>
            <a:bodyPr anchor="ctr" rtlCol="false" tIns="42920" lIns="42920" bIns="42920" rIns="4292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4186374"/>
            <a:ext cx="1104034" cy="747835"/>
            <a:chOff x="0" y="0"/>
            <a:chExt cx="344162" cy="2331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4162" cy="233123"/>
            </a:xfrm>
            <a:custGeom>
              <a:avLst/>
              <a:gdLst/>
              <a:ahLst/>
              <a:cxnLst/>
              <a:rect r="r" b="b" t="t" l="l"/>
              <a:pathLst>
                <a:path h="233123" w="344162">
                  <a:moveTo>
                    <a:pt x="98174" y="0"/>
                  </a:moveTo>
                  <a:lnTo>
                    <a:pt x="245988" y="0"/>
                  </a:lnTo>
                  <a:cubicBezTo>
                    <a:pt x="300208" y="0"/>
                    <a:pt x="344162" y="43954"/>
                    <a:pt x="344162" y="98174"/>
                  </a:cubicBezTo>
                  <a:lnTo>
                    <a:pt x="344162" y="134950"/>
                  </a:lnTo>
                  <a:cubicBezTo>
                    <a:pt x="344162" y="189170"/>
                    <a:pt x="300208" y="233123"/>
                    <a:pt x="245988" y="233123"/>
                  </a:cubicBezTo>
                  <a:lnTo>
                    <a:pt x="98174" y="233123"/>
                  </a:lnTo>
                  <a:cubicBezTo>
                    <a:pt x="43954" y="233123"/>
                    <a:pt x="0" y="189170"/>
                    <a:pt x="0" y="134950"/>
                  </a:cubicBezTo>
                  <a:lnTo>
                    <a:pt x="0" y="98174"/>
                  </a:lnTo>
                  <a:cubicBezTo>
                    <a:pt x="0" y="43954"/>
                    <a:pt x="43954" y="0"/>
                    <a:pt x="98174" y="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44162" cy="271223"/>
            </a:xfrm>
            <a:prstGeom prst="rect">
              <a:avLst/>
            </a:prstGeom>
          </p:spPr>
          <p:txBody>
            <a:bodyPr anchor="ctr" rtlCol="false" tIns="42920" lIns="42920" bIns="42920" rIns="4292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4384251"/>
            <a:ext cx="1104034" cy="549959"/>
            <a:chOff x="0" y="0"/>
            <a:chExt cx="344162" cy="1714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4162" cy="171439"/>
            </a:xfrm>
            <a:custGeom>
              <a:avLst/>
              <a:gdLst/>
              <a:ahLst/>
              <a:cxnLst/>
              <a:rect r="r" b="b" t="t" l="l"/>
              <a:pathLst>
                <a:path h="171439" w="344162">
                  <a:moveTo>
                    <a:pt x="0" y="0"/>
                  </a:moveTo>
                  <a:lnTo>
                    <a:pt x="344162" y="0"/>
                  </a:lnTo>
                  <a:lnTo>
                    <a:pt x="344162" y="171439"/>
                  </a:lnTo>
                  <a:lnTo>
                    <a:pt x="0" y="171439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44162" cy="209539"/>
            </a:xfrm>
            <a:prstGeom prst="rect">
              <a:avLst/>
            </a:prstGeom>
          </p:spPr>
          <p:txBody>
            <a:bodyPr anchor="ctr" rtlCol="false" tIns="42920" lIns="42920" bIns="42920" rIns="4292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236162" y="8367534"/>
            <a:ext cx="7815676" cy="890766"/>
            <a:chOff x="0" y="0"/>
            <a:chExt cx="10420901" cy="118768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285141" y="61729"/>
              <a:ext cx="10135760" cy="1064231"/>
              <a:chOff x="0" y="0"/>
              <a:chExt cx="2002125" cy="21021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002125" cy="210218"/>
              </a:xfrm>
              <a:custGeom>
                <a:avLst/>
                <a:gdLst/>
                <a:ahLst/>
                <a:cxnLst/>
                <a:rect r="r" b="b" t="t" l="l"/>
                <a:pathLst>
                  <a:path h="210218" w="2002125">
                    <a:moveTo>
                      <a:pt x="31571" y="0"/>
                    </a:moveTo>
                    <a:lnTo>
                      <a:pt x="1970554" y="0"/>
                    </a:lnTo>
                    <a:cubicBezTo>
                      <a:pt x="1987990" y="0"/>
                      <a:pt x="2002125" y="14135"/>
                      <a:pt x="2002125" y="31571"/>
                    </a:cubicBezTo>
                    <a:lnTo>
                      <a:pt x="2002125" y="178647"/>
                    </a:lnTo>
                    <a:cubicBezTo>
                      <a:pt x="2002125" y="196083"/>
                      <a:pt x="1987990" y="210218"/>
                      <a:pt x="1970554" y="210218"/>
                    </a:cubicBezTo>
                    <a:lnTo>
                      <a:pt x="31571" y="210218"/>
                    </a:lnTo>
                    <a:cubicBezTo>
                      <a:pt x="14135" y="210218"/>
                      <a:pt x="0" y="196083"/>
                      <a:pt x="0" y="178647"/>
                    </a:cubicBezTo>
                    <a:lnTo>
                      <a:pt x="0" y="31571"/>
                    </a:lnTo>
                    <a:cubicBezTo>
                      <a:pt x="0" y="14135"/>
                      <a:pt x="14135" y="0"/>
                      <a:pt x="31571" y="0"/>
                    </a:cubicBezTo>
                    <a:close/>
                  </a:path>
                </a:pathLst>
              </a:custGeom>
              <a:solidFill>
                <a:srgbClr val="BFECAC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002125" cy="2483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90665" cy="1187689"/>
            </a:xfrm>
            <a:custGeom>
              <a:avLst/>
              <a:gdLst/>
              <a:ahLst/>
              <a:cxnLst/>
              <a:rect r="r" b="b" t="t" l="l"/>
              <a:pathLst>
                <a:path h="1187689" w="1190665">
                  <a:moveTo>
                    <a:pt x="0" y="0"/>
                  </a:moveTo>
                  <a:lnTo>
                    <a:pt x="1190665" y="0"/>
                  </a:lnTo>
                  <a:lnTo>
                    <a:pt x="1190665" y="1187689"/>
                  </a:lnTo>
                  <a:lnTo>
                    <a:pt x="0" y="1187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646798" y="77574"/>
              <a:ext cx="8243491" cy="975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1"/>
                </a:lnSpc>
              </a:pPr>
              <a:r>
                <a:rPr lang="en-US" b="true" sz="2136" spc="111">
                  <a:solidFill>
                    <a:srgbClr val="17320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Seleciona todos os &lt;a&gt; com href começando por “https”.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" y="968419"/>
            <a:ext cx="1674615" cy="167461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1F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128244" y="1242499"/>
            <a:ext cx="942126" cy="1126455"/>
          </a:xfrm>
          <a:custGeom>
            <a:avLst/>
            <a:gdLst/>
            <a:ahLst/>
            <a:cxnLst/>
            <a:rect r="r" b="b" t="t" l="l"/>
            <a:pathLst>
              <a:path h="1126455" w="942126">
                <a:moveTo>
                  <a:pt x="0" y="0"/>
                </a:moveTo>
                <a:lnTo>
                  <a:pt x="942127" y="0"/>
                </a:lnTo>
                <a:lnTo>
                  <a:pt x="942127" y="1126456"/>
                </a:lnTo>
                <a:lnTo>
                  <a:pt x="0" y="11264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52109" y="4234097"/>
            <a:ext cx="857215" cy="55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60"/>
              </a:lnSpc>
            </a:pPr>
            <a:r>
              <a:rPr lang="en-US" sz="3042" spc="252">
                <a:solidFill>
                  <a:srgbClr val="F5FFF9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51206" y="5167315"/>
            <a:ext cx="6888602" cy="15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0"/>
              </a:lnSpc>
            </a:pPr>
            <a:r>
              <a:rPr lang="en-US" sz="3042" spc="252">
                <a:solidFill>
                  <a:srgbClr val="27EE5F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lang="en-US" sz="3042" spc="252">
                <a:solidFill>
                  <a:srgbClr val="F661A1"/>
                </a:solidFill>
                <a:latin typeface="Roboto"/>
                <a:ea typeface="Roboto"/>
                <a:cs typeface="Roboto"/>
                <a:sym typeface="Roboto"/>
              </a:rPr>
              <a:t>href</a:t>
            </a:r>
            <a:r>
              <a:rPr lang="en-US" sz="3042" spc="252">
                <a:solidFill>
                  <a:srgbClr val="27EE5F"/>
                </a:solidFill>
                <a:latin typeface="Roboto"/>
                <a:ea typeface="Roboto"/>
                <a:cs typeface="Roboto"/>
                <a:sym typeface="Roboto"/>
              </a:rPr>
              <a:t>^=</a:t>
            </a:r>
            <a:r>
              <a:rPr lang="en-US" sz="3042" spc="252">
                <a:solidFill>
                  <a:srgbClr val="FEA002"/>
                </a:solidFill>
                <a:latin typeface="Roboto"/>
                <a:ea typeface="Roboto"/>
                <a:cs typeface="Roboto"/>
                <a:sym typeface="Roboto"/>
              </a:rPr>
              <a:t>”https”</a:t>
            </a: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] {</a:t>
            </a:r>
          </a:p>
          <a:p>
            <a:pPr algn="l">
              <a:lnSpc>
                <a:spcPts val="4260"/>
              </a:lnSpc>
            </a:pP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lang="en-US" sz="3042" spc="252">
                <a:solidFill>
                  <a:srgbClr val="BFECAC"/>
                </a:solidFill>
                <a:latin typeface="Roboto"/>
                <a:ea typeface="Roboto"/>
                <a:cs typeface="Roboto"/>
                <a:sym typeface="Roboto"/>
              </a:rPr>
              <a:t>color </a:t>
            </a: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3042" spc="252">
                <a:solidFill>
                  <a:srgbClr val="27EE5F"/>
                </a:solidFill>
                <a:latin typeface="Roboto"/>
                <a:ea typeface="Roboto"/>
                <a:cs typeface="Roboto"/>
                <a:sym typeface="Roboto"/>
              </a:rPr>
              <a:t>green</a:t>
            </a: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</a:p>
          <a:p>
            <a:pPr algn="l" marL="0" indent="0" lvl="0">
              <a:lnSpc>
                <a:spcPts val="4260"/>
              </a:lnSpc>
            </a:pP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59748" y="1693119"/>
            <a:ext cx="12555611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500" spc="-192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Seleciona elementos cujo valor do atributo </a:t>
            </a:r>
          </a:p>
          <a:p>
            <a:pPr algn="l" marL="0" indent="0" lvl="0">
              <a:lnSpc>
                <a:spcPts val="4095"/>
              </a:lnSpc>
            </a:pPr>
            <a:r>
              <a:rPr lang="en-US" sz="3500" spc="-192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começa com o valor indicado.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59748" y="752475"/>
            <a:ext cx="8028009" cy="95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64"/>
              </a:lnSpc>
            </a:pPr>
            <a:r>
              <a:rPr lang="en-US" b="true" sz="5621">
                <a:solidFill>
                  <a:srgbClr val="5A2312"/>
                </a:solidFill>
                <a:latin typeface="Poppins Bold"/>
                <a:ea typeface="Poppins Bold"/>
                <a:cs typeface="Poppins Bold"/>
                <a:sym typeface="Poppins Bold"/>
              </a:rPr>
              <a:t>Começa com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933431" y="943293"/>
            <a:ext cx="5156200" cy="61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44"/>
              </a:lnSpc>
            </a:pPr>
            <a:r>
              <a:rPr lang="en-US" b="true" sz="3621">
                <a:solidFill>
                  <a:srgbClr val="5A2312"/>
                </a:solidFill>
                <a:latin typeface="Poppins Bold"/>
                <a:ea typeface="Poppins Bold"/>
                <a:cs typeface="Poppins Bold"/>
                <a:sym typeface="Poppins Bold"/>
              </a:rPr>
              <a:t>(^=)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884525" y="3115606"/>
            <a:ext cx="8936479" cy="4752533"/>
          </a:xfrm>
          <a:custGeom>
            <a:avLst/>
            <a:gdLst/>
            <a:ahLst/>
            <a:cxnLst/>
            <a:rect r="r" b="b" t="t" l="l"/>
            <a:pathLst>
              <a:path h="4752533" w="8936479">
                <a:moveTo>
                  <a:pt x="0" y="0"/>
                </a:moveTo>
                <a:lnTo>
                  <a:pt x="8936479" y="0"/>
                </a:lnTo>
                <a:lnTo>
                  <a:pt x="8936479" y="4752533"/>
                </a:lnTo>
                <a:lnTo>
                  <a:pt x="0" y="4752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9027" t="-97291" r="-4801" b="-47855"/>
            </a:stretch>
          </a:blipFill>
        </p:spPr>
      </p:sp>
    </p:spTree>
  </p:cSld>
  <p:clrMapOvr>
    <a:masterClrMapping/>
  </p:clrMapOvr>
  <p:transition spd="med">
    <p:cover dir="d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426315"/>
            <a:ext cx="7611108" cy="2911688"/>
            <a:chOff x="0" y="0"/>
            <a:chExt cx="2372619" cy="9076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72619" cy="907664"/>
            </a:xfrm>
            <a:custGeom>
              <a:avLst/>
              <a:gdLst/>
              <a:ahLst/>
              <a:cxnLst/>
              <a:rect r="r" b="b" t="t" l="l"/>
              <a:pathLst>
                <a:path h="907664" w="2372619">
                  <a:moveTo>
                    <a:pt x="31533" y="0"/>
                  </a:moveTo>
                  <a:lnTo>
                    <a:pt x="2341086" y="0"/>
                  </a:lnTo>
                  <a:cubicBezTo>
                    <a:pt x="2349449" y="0"/>
                    <a:pt x="2357470" y="3322"/>
                    <a:pt x="2363383" y="9236"/>
                  </a:cubicBezTo>
                  <a:cubicBezTo>
                    <a:pt x="2369297" y="15149"/>
                    <a:pt x="2372619" y="23170"/>
                    <a:pt x="2372619" y="31533"/>
                  </a:cubicBezTo>
                  <a:lnTo>
                    <a:pt x="2372619" y="876131"/>
                  </a:lnTo>
                  <a:cubicBezTo>
                    <a:pt x="2372619" y="884494"/>
                    <a:pt x="2369297" y="892515"/>
                    <a:pt x="2363383" y="898428"/>
                  </a:cubicBezTo>
                  <a:cubicBezTo>
                    <a:pt x="2357470" y="904342"/>
                    <a:pt x="2349449" y="907664"/>
                    <a:pt x="2341086" y="907664"/>
                  </a:cubicBezTo>
                  <a:lnTo>
                    <a:pt x="31533" y="907664"/>
                  </a:lnTo>
                  <a:cubicBezTo>
                    <a:pt x="23170" y="907664"/>
                    <a:pt x="15149" y="904342"/>
                    <a:pt x="9236" y="898428"/>
                  </a:cubicBezTo>
                  <a:cubicBezTo>
                    <a:pt x="3322" y="892515"/>
                    <a:pt x="0" y="884494"/>
                    <a:pt x="0" y="876131"/>
                  </a:cubicBezTo>
                  <a:lnTo>
                    <a:pt x="0" y="31533"/>
                  </a:lnTo>
                  <a:cubicBezTo>
                    <a:pt x="0" y="23170"/>
                    <a:pt x="3322" y="15149"/>
                    <a:pt x="9236" y="9236"/>
                  </a:cubicBezTo>
                  <a:cubicBezTo>
                    <a:pt x="15149" y="3322"/>
                    <a:pt x="23170" y="0"/>
                    <a:pt x="31533" y="0"/>
                  </a:cubicBezTo>
                  <a:close/>
                </a:path>
              </a:pathLst>
            </a:custGeom>
            <a:solidFill>
              <a:srgbClr val="20242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72619" cy="945764"/>
            </a:xfrm>
            <a:prstGeom prst="rect">
              <a:avLst/>
            </a:prstGeom>
          </p:spPr>
          <p:txBody>
            <a:bodyPr anchor="ctr" rtlCol="false" tIns="42920" lIns="42920" bIns="42920" rIns="4292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4186374"/>
            <a:ext cx="1104034" cy="747835"/>
            <a:chOff x="0" y="0"/>
            <a:chExt cx="344162" cy="2331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4162" cy="233123"/>
            </a:xfrm>
            <a:custGeom>
              <a:avLst/>
              <a:gdLst/>
              <a:ahLst/>
              <a:cxnLst/>
              <a:rect r="r" b="b" t="t" l="l"/>
              <a:pathLst>
                <a:path h="233123" w="344162">
                  <a:moveTo>
                    <a:pt x="98174" y="0"/>
                  </a:moveTo>
                  <a:lnTo>
                    <a:pt x="245988" y="0"/>
                  </a:lnTo>
                  <a:cubicBezTo>
                    <a:pt x="300208" y="0"/>
                    <a:pt x="344162" y="43954"/>
                    <a:pt x="344162" y="98174"/>
                  </a:cubicBezTo>
                  <a:lnTo>
                    <a:pt x="344162" y="134950"/>
                  </a:lnTo>
                  <a:cubicBezTo>
                    <a:pt x="344162" y="189170"/>
                    <a:pt x="300208" y="233123"/>
                    <a:pt x="245988" y="233123"/>
                  </a:cubicBezTo>
                  <a:lnTo>
                    <a:pt x="98174" y="233123"/>
                  </a:lnTo>
                  <a:cubicBezTo>
                    <a:pt x="43954" y="233123"/>
                    <a:pt x="0" y="189170"/>
                    <a:pt x="0" y="134950"/>
                  </a:cubicBezTo>
                  <a:lnTo>
                    <a:pt x="0" y="98174"/>
                  </a:lnTo>
                  <a:cubicBezTo>
                    <a:pt x="0" y="43954"/>
                    <a:pt x="43954" y="0"/>
                    <a:pt x="98174" y="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44162" cy="271223"/>
            </a:xfrm>
            <a:prstGeom prst="rect">
              <a:avLst/>
            </a:prstGeom>
          </p:spPr>
          <p:txBody>
            <a:bodyPr anchor="ctr" rtlCol="false" tIns="42920" lIns="42920" bIns="42920" rIns="4292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4384251"/>
            <a:ext cx="1104034" cy="549959"/>
            <a:chOff x="0" y="0"/>
            <a:chExt cx="344162" cy="1714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4162" cy="171439"/>
            </a:xfrm>
            <a:custGeom>
              <a:avLst/>
              <a:gdLst/>
              <a:ahLst/>
              <a:cxnLst/>
              <a:rect r="r" b="b" t="t" l="l"/>
              <a:pathLst>
                <a:path h="171439" w="344162">
                  <a:moveTo>
                    <a:pt x="0" y="0"/>
                  </a:moveTo>
                  <a:lnTo>
                    <a:pt x="344162" y="0"/>
                  </a:lnTo>
                  <a:lnTo>
                    <a:pt x="344162" y="171439"/>
                  </a:lnTo>
                  <a:lnTo>
                    <a:pt x="0" y="171439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44162" cy="209539"/>
            </a:xfrm>
            <a:prstGeom prst="rect">
              <a:avLst/>
            </a:prstGeom>
          </p:spPr>
          <p:txBody>
            <a:bodyPr anchor="ctr" rtlCol="false" tIns="42920" lIns="42920" bIns="42920" rIns="4292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236162" y="8456104"/>
            <a:ext cx="7815676" cy="890766"/>
            <a:chOff x="0" y="0"/>
            <a:chExt cx="10420901" cy="118768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285141" y="61729"/>
              <a:ext cx="10135760" cy="1064231"/>
              <a:chOff x="0" y="0"/>
              <a:chExt cx="2002125" cy="21021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002125" cy="210218"/>
              </a:xfrm>
              <a:custGeom>
                <a:avLst/>
                <a:gdLst/>
                <a:ahLst/>
                <a:cxnLst/>
                <a:rect r="r" b="b" t="t" l="l"/>
                <a:pathLst>
                  <a:path h="210218" w="2002125">
                    <a:moveTo>
                      <a:pt x="31571" y="0"/>
                    </a:moveTo>
                    <a:lnTo>
                      <a:pt x="1970554" y="0"/>
                    </a:lnTo>
                    <a:cubicBezTo>
                      <a:pt x="1987990" y="0"/>
                      <a:pt x="2002125" y="14135"/>
                      <a:pt x="2002125" y="31571"/>
                    </a:cubicBezTo>
                    <a:lnTo>
                      <a:pt x="2002125" y="178647"/>
                    </a:lnTo>
                    <a:cubicBezTo>
                      <a:pt x="2002125" y="196083"/>
                      <a:pt x="1987990" y="210218"/>
                      <a:pt x="1970554" y="210218"/>
                    </a:cubicBezTo>
                    <a:lnTo>
                      <a:pt x="31571" y="210218"/>
                    </a:lnTo>
                    <a:cubicBezTo>
                      <a:pt x="14135" y="210218"/>
                      <a:pt x="0" y="196083"/>
                      <a:pt x="0" y="178647"/>
                    </a:cubicBezTo>
                    <a:lnTo>
                      <a:pt x="0" y="31571"/>
                    </a:lnTo>
                    <a:cubicBezTo>
                      <a:pt x="0" y="14135"/>
                      <a:pt x="14135" y="0"/>
                      <a:pt x="31571" y="0"/>
                    </a:cubicBezTo>
                    <a:close/>
                  </a:path>
                </a:pathLst>
              </a:custGeom>
              <a:solidFill>
                <a:srgbClr val="BFECAC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002125" cy="2483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90665" cy="1187689"/>
            </a:xfrm>
            <a:custGeom>
              <a:avLst/>
              <a:gdLst/>
              <a:ahLst/>
              <a:cxnLst/>
              <a:rect r="r" b="b" t="t" l="l"/>
              <a:pathLst>
                <a:path h="1187689" w="1190665">
                  <a:moveTo>
                    <a:pt x="0" y="0"/>
                  </a:moveTo>
                  <a:lnTo>
                    <a:pt x="1190665" y="0"/>
                  </a:lnTo>
                  <a:lnTo>
                    <a:pt x="1190665" y="1187689"/>
                  </a:lnTo>
                  <a:lnTo>
                    <a:pt x="0" y="1187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646798" y="77574"/>
              <a:ext cx="8243491" cy="975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1"/>
                </a:lnSpc>
              </a:pPr>
              <a:r>
                <a:rPr lang="en-US" b="true" sz="2136" spc="111">
                  <a:solidFill>
                    <a:srgbClr val="17320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Seleciona todos os links que terminam com “.pdf”.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" y="968419"/>
            <a:ext cx="1674615" cy="167461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1F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177225" y="1259830"/>
            <a:ext cx="970332" cy="1091794"/>
          </a:xfrm>
          <a:custGeom>
            <a:avLst/>
            <a:gdLst/>
            <a:ahLst/>
            <a:cxnLst/>
            <a:rect r="r" b="b" t="t" l="l"/>
            <a:pathLst>
              <a:path h="1091794" w="970332">
                <a:moveTo>
                  <a:pt x="0" y="0"/>
                </a:moveTo>
                <a:lnTo>
                  <a:pt x="970332" y="0"/>
                </a:lnTo>
                <a:lnTo>
                  <a:pt x="970332" y="1091794"/>
                </a:lnTo>
                <a:lnTo>
                  <a:pt x="0" y="10917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52109" y="4234097"/>
            <a:ext cx="857215" cy="55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60"/>
              </a:lnSpc>
            </a:pPr>
            <a:r>
              <a:rPr lang="en-US" sz="3042" spc="252">
                <a:solidFill>
                  <a:srgbClr val="F5FFF9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51206" y="5167315"/>
            <a:ext cx="6888602" cy="15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0"/>
              </a:lnSpc>
            </a:pPr>
            <a:r>
              <a:rPr lang="en-US" sz="3042" spc="252">
                <a:solidFill>
                  <a:srgbClr val="27EE5F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lang="en-US" sz="3042" spc="252">
                <a:solidFill>
                  <a:srgbClr val="F661A1"/>
                </a:solidFill>
                <a:latin typeface="Roboto"/>
                <a:ea typeface="Roboto"/>
                <a:cs typeface="Roboto"/>
                <a:sym typeface="Roboto"/>
              </a:rPr>
              <a:t>href</a:t>
            </a:r>
            <a:r>
              <a:rPr lang="en-US" sz="3042" spc="252">
                <a:solidFill>
                  <a:srgbClr val="27EE5F"/>
                </a:solidFill>
                <a:latin typeface="Roboto"/>
                <a:ea typeface="Roboto"/>
                <a:cs typeface="Roboto"/>
                <a:sym typeface="Roboto"/>
              </a:rPr>
              <a:t>$=</a:t>
            </a:r>
            <a:r>
              <a:rPr lang="en-US" sz="3042" spc="252">
                <a:solidFill>
                  <a:srgbClr val="FEA002"/>
                </a:solidFill>
                <a:latin typeface="Roboto"/>
                <a:ea typeface="Roboto"/>
                <a:cs typeface="Roboto"/>
                <a:sym typeface="Roboto"/>
              </a:rPr>
              <a:t>”.pdf”</a:t>
            </a: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] {</a:t>
            </a:r>
          </a:p>
          <a:p>
            <a:pPr algn="l">
              <a:lnSpc>
                <a:spcPts val="4260"/>
              </a:lnSpc>
            </a:pP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lang="en-US" sz="3042" spc="252">
                <a:solidFill>
                  <a:srgbClr val="BFECAC"/>
                </a:solidFill>
                <a:latin typeface="Roboto"/>
                <a:ea typeface="Roboto"/>
                <a:cs typeface="Roboto"/>
                <a:sym typeface="Roboto"/>
              </a:rPr>
              <a:t>color</a:t>
            </a: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3042" spc="252">
                <a:solidFill>
                  <a:srgbClr val="FF5757"/>
                </a:solidFill>
                <a:latin typeface="Roboto"/>
                <a:ea typeface="Roboto"/>
                <a:cs typeface="Roboto"/>
                <a:sym typeface="Roboto"/>
              </a:rPr>
              <a:t>red</a:t>
            </a: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</a:p>
          <a:p>
            <a:pPr algn="l" marL="0" indent="0" lvl="0">
              <a:lnSpc>
                <a:spcPts val="4260"/>
              </a:lnSpc>
            </a:pP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59748" y="1693119"/>
            <a:ext cx="12555611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500" spc="-192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Seleciona elementos cujo valor do atributo </a:t>
            </a:r>
          </a:p>
          <a:p>
            <a:pPr algn="l" marL="0" indent="0" lvl="0">
              <a:lnSpc>
                <a:spcPts val="4095"/>
              </a:lnSpc>
            </a:pPr>
            <a:r>
              <a:rPr lang="en-US" sz="3500" spc="-192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termina com determinado valor.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59748" y="752475"/>
            <a:ext cx="8028009" cy="95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64"/>
              </a:lnSpc>
            </a:pPr>
            <a:r>
              <a:rPr lang="en-US" b="true" sz="5621">
                <a:solidFill>
                  <a:srgbClr val="5A2312"/>
                </a:solidFill>
                <a:latin typeface="Poppins Bold"/>
                <a:ea typeface="Poppins Bold"/>
                <a:cs typeface="Poppins Bold"/>
                <a:sym typeface="Poppins Bold"/>
              </a:rPr>
              <a:t>Termina com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027403" y="943293"/>
            <a:ext cx="5156200" cy="61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44"/>
              </a:lnSpc>
            </a:pPr>
            <a:r>
              <a:rPr lang="en-US" b="true" sz="3621">
                <a:solidFill>
                  <a:srgbClr val="5A2312"/>
                </a:solidFill>
                <a:latin typeface="Poppins Bold"/>
                <a:ea typeface="Poppins Bold"/>
                <a:cs typeface="Poppins Bold"/>
                <a:sym typeface="Poppins Bold"/>
              </a:rPr>
              <a:t>($=)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9384222" y="2906604"/>
            <a:ext cx="8356065" cy="4803249"/>
          </a:xfrm>
          <a:custGeom>
            <a:avLst/>
            <a:gdLst/>
            <a:ahLst/>
            <a:cxnLst/>
            <a:rect r="r" b="b" t="t" l="l"/>
            <a:pathLst>
              <a:path h="4803249" w="8356065">
                <a:moveTo>
                  <a:pt x="0" y="0"/>
                </a:moveTo>
                <a:lnTo>
                  <a:pt x="8356065" y="0"/>
                </a:lnTo>
                <a:lnTo>
                  <a:pt x="8356065" y="4803249"/>
                </a:lnTo>
                <a:lnTo>
                  <a:pt x="0" y="48032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7102" t="-89669" r="-4869" b="-34710"/>
            </a:stretch>
          </a:blipFill>
        </p:spPr>
      </p:sp>
    </p:spTree>
  </p:cSld>
  <p:clrMapOvr>
    <a:masterClrMapping/>
  </p:clrMapOvr>
  <p:transition spd="med">
    <p:cover dir="d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36162" y="8456104"/>
            <a:ext cx="7815676" cy="890766"/>
            <a:chOff x="0" y="0"/>
            <a:chExt cx="10420901" cy="118768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285141" y="61729"/>
              <a:ext cx="10135760" cy="1064231"/>
              <a:chOff x="0" y="0"/>
              <a:chExt cx="2002125" cy="21021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002125" cy="210218"/>
              </a:xfrm>
              <a:custGeom>
                <a:avLst/>
                <a:gdLst/>
                <a:ahLst/>
                <a:cxnLst/>
                <a:rect r="r" b="b" t="t" l="l"/>
                <a:pathLst>
                  <a:path h="210218" w="2002125">
                    <a:moveTo>
                      <a:pt x="31571" y="0"/>
                    </a:moveTo>
                    <a:lnTo>
                      <a:pt x="1970554" y="0"/>
                    </a:lnTo>
                    <a:cubicBezTo>
                      <a:pt x="1987990" y="0"/>
                      <a:pt x="2002125" y="14135"/>
                      <a:pt x="2002125" y="31571"/>
                    </a:cubicBezTo>
                    <a:lnTo>
                      <a:pt x="2002125" y="178647"/>
                    </a:lnTo>
                    <a:cubicBezTo>
                      <a:pt x="2002125" y="196083"/>
                      <a:pt x="1987990" y="210218"/>
                      <a:pt x="1970554" y="210218"/>
                    </a:cubicBezTo>
                    <a:lnTo>
                      <a:pt x="31571" y="210218"/>
                    </a:lnTo>
                    <a:cubicBezTo>
                      <a:pt x="14135" y="210218"/>
                      <a:pt x="0" y="196083"/>
                      <a:pt x="0" y="178647"/>
                    </a:cubicBezTo>
                    <a:lnTo>
                      <a:pt x="0" y="31571"/>
                    </a:lnTo>
                    <a:cubicBezTo>
                      <a:pt x="0" y="14135"/>
                      <a:pt x="14135" y="0"/>
                      <a:pt x="31571" y="0"/>
                    </a:cubicBezTo>
                    <a:close/>
                  </a:path>
                </a:pathLst>
              </a:custGeom>
              <a:solidFill>
                <a:srgbClr val="BFECAC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002125" cy="2483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0665" cy="1187689"/>
            </a:xfrm>
            <a:custGeom>
              <a:avLst/>
              <a:gdLst/>
              <a:ahLst/>
              <a:cxnLst/>
              <a:rect r="r" b="b" t="t" l="l"/>
              <a:pathLst>
                <a:path h="1187689" w="1190665">
                  <a:moveTo>
                    <a:pt x="0" y="0"/>
                  </a:moveTo>
                  <a:lnTo>
                    <a:pt x="1190665" y="0"/>
                  </a:lnTo>
                  <a:lnTo>
                    <a:pt x="1190665" y="1187689"/>
                  </a:lnTo>
                  <a:lnTo>
                    <a:pt x="0" y="1187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646798" y="77574"/>
              <a:ext cx="8243491" cy="975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1"/>
                </a:lnSpc>
              </a:pPr>
              <a:r>
                <a:rPr lang="en-US" b="true" sz="2136" spc="111">
                  <a:solidFill>
                    <a:srgbClr val="17320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Seleciona links que contém “google” em qualquer parte do href.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2000" y="857250"/>
            <a:ext cx="14553359" cy="1896954"/>
            <a:chOff x="0" y="0"/>
            <a:chExt cx="19404478" cy="252927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148226"/>
              <a:ext cx="2232820" cy="2232820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E1F7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388547" y="536773"/>
              <a:ext cx="1455725" cy="1455725"/>
            </a:xfrm>
            <a:custGeom>
              <a:avLst/>
              <a:gdLst/>
              <a:ahLst/>
              <a:cxnLst/>
              <a:rect r="r" b="b" t="t" l="l"/>
              <a:pathLst>
                <a:path h="1455725" w="1455725">
                  <a:moveTo>
                    <a:pt x="0" y="0"/>
                  </a:moveTo>
                  <a:lnTo>
                    <a:pt x="1455726" y="0"/>
                  </a:lnTo>
                  <a:lnTo>
                    <a:pt x="1455726" y="1455726"/>
                  </a:lnTo>
                  <a:lnTo>
                    <a:pt x="0" y="14557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2663664" y="1120842"/>
              <a:ext cx="16740815" cy="14084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95"/>
                </a:lnSpc>
              </a:pPr>
              <a:r>
                <a:rPr lang="en-US" sz="3500" spc="-192">
                  <a:solidFill>
                    <a:srgbClr val="01111D"/>
                  </a:solidFill>
                  <a:latin typeface="Poppins"/>
                  <a:ea typeface="Poppins"/>
                  <a:cs typeface="Poppins"/>
                  <a:sym typeface="Poppins"/>
                </a:rPr>
                <a:t>Seleciona elementos cujo valor do atributo </a:t>
              </a:r>
            </a:p>
            <a:p>
              <a:pPr algn="l" marL="0" indent="0" lvl="0">
                <a:lnSpc>
                  <a:spcPts val="4095"/>
                </a:lnSpc>
              </a:pPr>
              <a:r>
                <a:rPr lang="en-US" sz="3500" spc="-192">
                  <a:solidFill>
                    <a:srgbClr val="01111D"/>
                  </a:solidFill>
                  <a:latin typeface="Poppins"/>
                  <a:ea typeface="Poppins"/>
                  <a:cs typeface="Poppins"/>
                  <a:sym typeface="Poppins"/>
                </a:rPr>
                <a:t>contém o valor especificado.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663664" y="-104775"/>
              <a:ext cx="10704012" cy="1244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364"/>
                </a:lnSpc>
              </a:pPr>
              <a:r>
                <a:rPr lang="en-US" b="true" sz="5621">
                  <a:solidFill>
                    <a:srgbClr val="5A231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Contém trecho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0341774" y="136949"/>
              <a:ext cx="6874933" cy="7993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44"/>
                </a:lnSpc>
              </a:pPr>
              <a:r>
                <a:rPr lang="en-US" b="true" sz="3621">
                  <a:solidFill>
                    <a:srgbClr val="5A231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(*=)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4186374"/>
            <a:ext cx="7611108" cy="3151629"/>
            <a:chOff x="0" y="0"/>
            <a:chExt cx="10148144" cy="4202172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319921"/>
              <a:ext cx="10148144" cy="3882251"/>
              <a:chOff x="0" y="0"/>
              <a:chExt cx="2372619" cy="90766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372619" cy="907664"/>
              </a:xfrm>
              <a:custGeom>
                <a:avLst/>
                <a:gdLst/>
                <a:ahLst/>
                <a:cxnLst/>
                <a:rect r="r" b="b" t="t" l="l"/>
                <a:pathLst>
                  <a:path h="907664" w="2372619">
                    <a:moveTo>
                      <a:pt x="31533" y="0"/>
                    </a:moveTo>
                    <a:lnTo>
                      <a:pt x="2341086" y="0"/>
                    </a:lnTo>
                    <a:cubicBezTo>
                      <a:pt x="2349449" y="0"/>
                      <a:pt x="2357470" y="3322"/>
                      <a:pt x="2363383" y="9236"/>
                    </a:cubicBezTo>
                    <a:cubicBezTo>
                      <a:pt x="2369297" y="15149"/>
                      <a:pt x="2372619" y="23170"/>
                      <a:pt x="2372619" y="31533"/>
                    </a:cubicBezTo>
                    <a:lnTo>
                      <a:pt x="2372619" y="876131"/>
                    </a:lnTo>
                    <a:cubicBezTo>
                      <a:pt x="2372619" y="884494"/>
                      <a:pt x="2369297" y="892515"/>
                      <a:pt x="2363383" y="898428"/>
                    </a:cubicBezTo>
                    <a:cubicBezTo>
                      <a:pt x="2357470" y="904342"/>
                      <a:pt x="2349449" y="907664"/>
                      <a:pt x="2341086" y="907664"/>
                    </a:cubicBezTo>
                    <a:lnTo>
                      <a:pt x="31533" y="907664"/>
                    </a:lnTo>
                    <a:cubicBezTo>
                      <a:pt x="23170" y="907664"/>
                      <a:pt x="15149" y="904342"/>
                      <a:pt x="9236" y="898428"/>
                    </a:cubicBezTo>
                    <a:cubicBezTo>
                      <a:pt x="3322" y="892515"/>
                      <a:pt x="0" y="884494"/>
                      <a:pt x="0" y="876131"/>
                    </a:cubicBezTo>
                    <a:lnTo>
                      <a:pt x="0" y="31533"/>
                    </a:lnTo>
                    <a:cubicBezTo>
                      <a:pt x="0" y="23170"/>
                      <a:pt x="3322" y="15149"/>
                      <a:pt x="9236" y="9236"/>
                    </a:cubicBezTo>
                    <a:cubicBezTo>
                      <a:pt x="15149" y="3322"/>
                      <a:pt x="23170" y="0"/>
                      <a:pt x="31533" y="0"/>
                    </a:cubicBezTo>
                    <a:close/>
                  </a:path>
                </a:pathLst>
              </a:custGeom>
              <a:solidFill>
                <a:srgbClr val="202429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372619" cy="945764"/>
              </a:xfrm>
              <a:prstGeom prst="rect">
                <a:avLst/>
              </a:prstGeom>
            </p:spPr>
            <p:txBody>
              <a:bodyPr anchor="ctr" rtlCol="false" tIns="42920" lIns="42920" bIns="42920" rIns="4292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0"/>
              <a:ext cx="1472045" cy="997113"/>
              <a:chOff x="0" y="0"/>
              <a:chExt cx="344162" cy="23312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44162" cy="233123"/>
              </a:xfrm>
              <a:custGeom>
                <a:avLst/>
                <a:gdLst/>
                <a:ahLst/>
                <a:cxnLst/>
                <a:rect r="r" b="b" t="t" l="l"/>
                <a:pathLst>
                  <a:path h="233123" w="344162">
                    <a:moveTo>
                      <a:pt x="98174" y="0"/>
                    </a:moveTo>
                    <a:lnTo>
                      <a:pt x="245988" y="0"/>
                    </a:lnTo>
                    <a:cubicBezTo>
                      <a:pt x="300208" y="0"/>
                      <a:pt x="344162" y="43954"/>
                      <a:pt x="344162" y="98174"/>
                    </a:cubicBezTo>
                    <a:lnTo>
                      <a:pt x="344162" y="134950"/>
                    </a:lnTo>
                    <a:cubicBezTo>
                      <a:pt x="344162" y="189170"/>
                      <a:pt x="300208" y="233123"/>
                      <a:pt x="245988" y="233123"/>
                    </a:cubicBezTo>
                    <a:lnTo>
                      <a:pt x="98174" y="233123"/>
                    </a:lnTo>
                    <a:cubicBezTo>
                      <a:pt x="43954" y="233123"/>
                      <a:pt x="0" y="189170"/>
                      <a:pt x="0" y="134950"/>
                    </a:cubicBezTo>
                    <a:lnTo>
                      <a:pt x="0" y="98174"/>
                    </a:lnTo>
                    <a:cubicBezTo>
                      <a:pt x="0" y="43954"/>
                      <a:pt x="43954" y="0"/>
                      <a:pt x="98174" y="0"/>
                    </a:cubicBez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344162" cy="271223"/>
              </a:xfrm>
              <a:prstGeom prst="rect">
                <a:avLst/>
              </a:prstGeom>
            </p:spPr>
            <p:txBody>
              <a:bodyPr anchor="ctr" rtlCol="false" tIns="42920" lIns="42920" bIns="42920" rIns="4292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263835"/>
              <a:ext cx="1472045" cy="733278"/>
              <a:chOff x="0" y="0"/>
              <a:chExt cx="344162" cy="17143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44162" cy="171439"/>
              </a:xfrm>
              <a:custGeom>
                <a:avLst/>
                <a:gdLst/>
                <a:ahLst/>
                <a:cxnLst/>
                <a:rect r="r" b="b" t="t" l="l"/>
                <a:pathLst>
                  <a:path h="171439" w="344162">
                    <a:moveTo>
                      <a:pt x="0" y="0"/>
                    </a:moveTo>
                    <a:lnTo>
                      <a:pt x="344162" y="0"/>
                    </a:lnTo>
                    <a:lnTo>
                      <a:pt x="344162" y="171439"/>
                    </a:lnTo>
                    <a:lnTo>
                      <a:pt x="0" y="171439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344162" cy="209539"/>
              </a:xfrm>
              <a:prstGeom prst="rect">
                <a:avLst/>
              </a:prstGeom>
            </p:spPr>
            <p:txBody>
              <a:bodyPr anchor="ctr" rtlCol="false" tIns="42920" lIns="42920" bIns="42920" rIns="4292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164546" y="95380"/>
              <a:ext cx="1142954" cy="7111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F5FFF9"/>
                  </a:solidFill>
                  <a:latin typeface="Poppins"/>
                  <a:ea typeface="Poppins"/>
                  <a:cs typeface="Poppins"/>
                  <a:sym typeface="Poppins"/>
                </a:rPr>
                <a:t>CSS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963342" y="1330146"/>
              <a:ext cx="9184802" cy="20972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60"/>
                </a:lnSpc>
              </a:pPr>
              <a:r>
                <a:rPr lang="en-US" sz="3042" spc="252">
                  <a:solidFill>
                    <a:srgbClr val="27EE5F"/>
                  </a:solidFill>
                  <a:latin typeface="Roboto"/>
                  <a:ea typeface="Roboto"/>
                  <a:cs typeface="Roboto"/>
                  <a:sym typeface="Roboto"/>
                </a:rPr>
                <a:t>a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[</a:t>
              </a:r>
              <a:r>
                <a:rPr lang="en-US" sz="3042" spc="252">
                  <a:solidFill>
                    <a:srgbClr val="F661A1"/>
                  </a:solidFill>
                  <a:latin typeface="Roboto"/>
                  <a:ea typeface="Roboto"/>
                  <a:cs typeface="Roboto"/>
                  <a:sym typeface="Roboto"/>
                </a:rPr>
                <a:t>href</a:t>
              </a:r>
              <a:r>
                <a:rPr lang="en-US" sz="3042" spc="252">
                  <a:solidFill>
                    <a:srgbClr val="27EE5F"/>
                  </a:solidFill>
                  <a:latin typeface="Roboto"/>
                  <a:ea typeface="Roboto"/>
                  <a:cs typeface="Roboto"/>
                  <a:sym typeface="Roboto"/>
                </a:rPr>
                <a:t>*=</a:t>
              </a:r>
              <a:r>
                <a:rPr lang="en-US" sz="3042" spc="252">
                  <a:solidFill>
                    <a:srgbClr val="FEA002"/>
                  </a:solidFill>
                  <a:latin typeface="Roboto"/>
                  <a:ea typeface="Roboto"/>
                  <a:cs typeface="Roboto"/>
                  <a:sym typeface="Roboto"/>
                </a:rPr>
                <a:t>”google”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] {</a:t>
              </a:r>
            </a:p>
            <a:p>
              <a:pPr algn="l">
                <a:lnSpc>
                  <a:spcPts val="4260"/>
                </a:lnSpc>
              </a:pP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     </a:t>
              </a:r>
              <a:r>
                <a:rPr lang="en-US" sz="3042" spc="252">
                  <a:solidFill>
                    <a:srgbClr val="BFECAC"/>
                  </a:solidFill>
                  <a:latin typeface="Roboto"/>
                  <a:ea typeface="Roboto"/>
                  <a:cs typeface="Roboto"/>
                  <a:sym typeface="Roboto"/>
                </a:rPr>
                <a:t>font-weight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: </a:t>
              </a:r>
              <a:r>
                <a:rPr lang="en-US" sz="3042" spc="252">
                  <a:solidFill>
                    <a:srgbClr val="FBE25E"/>
                  </a:solidFill>
                  <a:latin typeface="Roboto"/>
                  <a:ea typeface="Roboto"/>
                  <a:cs typeface="Roboto"/>
                  <a:sym typeface="Roboto"/>
                </a:rPr>
                <a:t>bold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;</a:t>
              </a:r>
            </a:p>
            <a:p>
              <a:pPr algn="l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}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9201150" y="2816590"/>
            <a:ext cx="8791198" cy="5155660"/>
          </a:xfrm>
          <a:custGeom>
            <a:avLst/>
            <a:gdLst/>
            <a:ahLst/>
            <a:cxnLst/>
            <a:rect r="r" b="b" t="t" l="l"/>
            <a:pathLst>
              <a:path h="5155660" w="8791198">
                <a:moveTo>
                  <a:pt x="0" y="0"/>
                </a:moveTo>
                <a:lnTo>
                  <a:pt x="8791198" y="0"/>
                </a:lnTo>
                <a:lnTo>
                  <a:pt x="8791198" y="5155660"/>
                </a:lnTo>
                <a:lnTo>
                  <a:pt x="0" y="515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9286" t="-88453" r="-5804" b="-35463"/>
            </a:stretch>
          </a:blipFill>
        </p:spPr>
      </p:sp>
    </p:spTree>
  </p:cSld>
  <p:clrMapOvr>
    <a:masterClrMapping/>
  </p:clrMapOvr>
  <p:transition spd="med">
    <p:cover dir="d"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426315"/>
            <a:ext cx="7611108" cy="2911688"/>
            <a:chOff x="0" y="0"/>
            <a:chExt cx="2372619" cy="9076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72619" cy="907664"/>
            </a:xfrm>
            <a:custGeom>
              <a:avLst/>
              <a:gdLst/>
              <a:ahLst/>
              <a:cxnLst/>
              <a:rect r="r" b="b" t="t" l="l"/>
              <a:pathLst>
                <a:path h="907664" w="2372619">
                  <a:moveTo>
                    <a:pt x="31533" y="0"/>
                  </a:moveTo>
                  <a:lnTo>
                    <a:pt x="2341086" y="0"/>
                  </a:lnTo>
                  <a:cubicBezTo>
                    <a:pt x="2349449" y="0"/>
                    <a:pt x="2357470" y="3322"/>
                    <a:pt x="2363383" y="9236"/>
                  </a:cubicBezTo>
                  <a:cubicBezTo>
                    <a:pt x="2369297" y="15149"/>
                    <a:pt x="2372619" y="23170"/>
                    <a:pt x="2372619" y="31533"/>
                  </a:cubicBezTo>
                  <a:lnTo>
                    <a:pt x="2372619" y="876131"/>
                  </a:lnTo>
                  <a:cubicBezTo>
                    <a:pt x="2372619" y="884494"/>
                    <a:pt x="2369297" y="892515"/>
                    <a:pt x="2363383" y="898428"/>
                  </a:cubicBezTo>
                  <a:cubicBezTo>
                    <a:pt x="2357470" y="904342"/>
                    <a:pt x="2349449" y="907664"/>
                    <a:pt x="2341086" y="907664"/>
                  </a:cubicBezTo>
                  <a:lnTo>
                    <a:pt x="31533" y="907664"/>
                  </a:lnTo>
                  <a:cubicBezTo>
                    <a:pt x="23170" y="907664"/>
                    <a:pt x="15149" y="904342"/>
                    <a:pt x="9236" y="898428"/>
                  </a:cubicBezTo>
                  <a:cubicBezTo>
                    <a:pt x="3322" y="892515"/>
                    <a:pt x="0" y="884494"/>
                    <a:pt x="0" y="876131"/>
                  </a:cubicBezTo>
                  <a:lnTo>
                    <a:pt x="0" y="31533"/>
                  </a:lnTo>
                  <a:cubicBezTo>
                    <a:pt x="0" y="23170"/>
                    <a:pt x="3322" y="15149"/>
                    <a:pt x="9236" y="9236"/>
                  </a:cubicBezTo>
                  <a:cubicBezTo>
                    <a:pt x="15149" y="3322"/>
                    <a:pt x="23170" y="0"/>
                    <a:pt x="31533" y="0"/>
                  </a:cubicBezTo>
                  <a:close/>
                </a:path>
              </a:pathLst>
            </a:custGeom>
            <a:solidFill>
              <a:srgbClr val="20242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72619" cy="945764"/>
            </a:xfrm>
            <a:prstGeom prst="rect">
              <a:avLst/>
            </a:prstGeom>
          </p:spPr>
          <p:txBody>
            <a:bodyPr anchor="ctr" rtlCol="false" tIns="42920" lIns="42920" bIns="42920" rIns="4292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4186374"/>
            <a:ext cx="1104034" cy="747835"/>
            <a:chOff x="0" y="0"/>
            <a:chExt cx="344162" cy="2331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4162" cy="233123"/>
            </a:xfrm>
            <a:custGeom>
              <a:avLst/>
              <a:gdLst/>
              <a:ahLst/>
              <a:cxnLst/>
              <a:rect r="r" b="b" t="t" l="l"/>
              <a:pathLst>
                <a:path h="233123" w="344162">
                  <a:moveTo>
                    <a:pt x="98174" y="0"/>
                  </a:moveTo>
                  <a:lnTo>
                    <a:pt x="245988" y="0"/>
                  </a:lnTo>
                  <a:cubicBezTo>
                    <a:pt x="300208" y="0"/>
                    <a:pt x="344162" y="43954"/>
                    <a:pt x="344162" y="98174"/>
                  </a:cubicBezTo>
                  <a:lnTo>
                    <a:pt x="344162" y="134950"/>
                  </a:lnTo>
                  <a:cubicBezTo>
                    <a:pt x="344162" y="189170"/>
                    <a:pt x="300208" y="233123"/>
                    <a:pt x="245988" y="233123"/>
                  </a:cubicBezTo>
                  <a:lnTo>
                    <a:pt x="98174" y="233123"/>
                  </a:lnTo>
                  <a:cubicBezTo>
                    <a:pt x="43954" y="233123"/>
                    <a:pt x="0" y="189170"/>
                    <a:pt x="0" y="134950"/>
                  </a:cubicBezTo>
                  <a:lnTo>
                    <a:pt x="0" y="98174"/>
                  </a:lnTo>
                  <a:cubicBezTo>
                    <a:pt x="0" y="43954"/>
                    <a:pt x="43954" y="0"/>
                    <a:pt x="98174" y="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44162" cy="271223"/>
            </a:xfrm>
            <a:prstGeom prst="rect">
              <a:avLst/>
            </a:prstGeom>
          </p:spPr>
          <p:txBody>
            <a:bodyPr anchor="ctr" rtlCol="false" tIns="42920" lIns="42920" bIns="42920" rIns="4292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4384251"/>
            <a:ext cx="1104034" cy="549959"/>
            <a:chOff x="0" y="0"/>
            <a:chExt cx="344162" cy="1714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4162" cy="171439"/>
            </a:xfrm>
            <a:custGeom>
              <a:avLst/>
              <a:gdLst/>
              <a:ahLst/>
              <a:cxnLst/>
              <a:rect r="r" b="b" t="t" l="l"/>
              <a:pathLst>
                <a:path h="171439" w="344162">
                  <a:moveTo>
                    <a:pt x="0" y="0"/>
                  </a:moveTo>
                  <a:lnTo>
                    <a:pt x="344162" y="0"/>
                  </a:lnTo>
                  <a:lnTo>
                    <a:pt x="344162" y="171439"/>
                  </a:lnTo>
                  <a:lnTo>
                    <a:pt x="0" y="171439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44162" cy="209539"/>
            </a:xfrm>
            <a:prstGeom prst="rect">
              <a:avLst/>
            </a:prstGeom>
          </p:spPr>
          <p:txBody>
            <a:bodyPr anchor="ctr" rtlCol="false" tIns="42920" lIns="42920" bIns="42920" rIns="4292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62000" y="968419"/>
            <a:ext cx="1674615" cy="167461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1F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433878" y="8606112"/>
            <a:ext cx="7420245" cy="965366"/>
            <a:chOff x="0" y="0"/>
            <a:chExt cx="9893660" cy="1287155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591068" y="137043"/>
              <a:ext cx="8404392" cy="1150111"/>
              <a:chOff x="0" y="0"/>
              <a:chExt cx="1660127" cy="22718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660127" cy="227183"/>
              </a:xfrm>
              <a:custGeom>
                <a:avLst/>
                <a:gdLst/>
                <a:ahLst/>
                <a:cxnLst/>
                <a:rect r="r" b="b" t="t" l="l"/>
                <a:pathLst>
                  <a:path h="227183" w="1660127">
                    <a:moveTo>
                      <a:pt x="38075" y="0"/>
                    </a:moveTo>
                    <a:lnTo>
                      <a:pt x="1622052" y="0"/>
                    </a:lnTo>
                    <a:cubicBezTo>
                      <a:pt x="1643080" y="0"/>
                      <a:pt x="1660127" y="17047"/>
                      <a:pt x="1660127" y="38075"/>
                    </a:cubicBezTo>
                    <a:lnTo>
                      <a:pt x="1660127" y="189107"/>
                    </a:lnTo>
                    <a:cubicBezTo>
                      <a:pt x="1660127" y="210136"/>
                      <a:pt x="1643080" y="227183"/>
                      <a:pt x="1622052" y="227183"/>
                    </a:cubicBezTo>
                    <a:lnTo>
                      <a:pt x="38075" y="227183"/>
                    </a:lnTo>
                    <a:cubicBezTo>
                      <a:pt x="17047" y="227183"/>
                      <a:pt x="0" y="210136"/>
                      <a:pt x="0" y="189107"/>
                    </a:cubicBezTo>
                    <a:lnTo>
                      <a:pt x="0" y="38075"/>
                    </a:lnTo>
                    <a:cubicBezTo>
                      <a:pt x="0" y="17047"/>
                      <a:pt x="17047" y="0"/>
                      <a:pt x="38075" y="0"/>
                    </a:cubicBezTo>
                    <a:close/>
                  </a:path>
                </a:pathLst>
              </a:custGeom>
              <a:solidFill>
                <a:srgbClr val="FFFDD7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660127" cy="2652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06896" cy="1287155"/>
            </a:xfrm>
            <a:custGeom>
              <a:avLst/>
              <a:gdLst/>
              <a:ahLst/>
              <a:cxnLst/>
              <a:rect r="r" b="b" t="t" l="l"/>
              <a:pathLst>
                <a:path h="1287155" w="1906896">
                  <a:moveTo>
                    <a:pt x="0" y="0"/>
                  </a:moveTo>
                  <a:lnTo>
                    <a:pt x="1906896" y="0"/>
                  </a:lnTo>
                  <a:lnTo>
                    <a:pt x="1906896" y="1287155"/>
                  </a:lnTo>
                  <a:lnTo>
                    <a:pt x="0" y="1287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2247069" y="162597"/>
              <a:ext cx="7646591" cy="1032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31"/>
                </a:lnSpc>
              </a:pPr>
              <a:r>
                <a:rPr lang="en-US" b="true" sz="2236" spc="116">
                  <a:solidFill>
                    <a:srgbClr val="17320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 valor deve ser uma palavra completa dentro do atributo.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9037553" y="3470854"/>
            <a:ext cx="8652956" cy="4822609"/>
          </a:xfrm>
          <a:custGeom>
            <a:avLst/>
            <a:gdLst/>
            <a:ahLst/>
            <a:cxnLst/>
            <a:rect r="r" b="b" t="t" l="l"/>
            <a:pathLst>
              <a:path h="4822609" w="8652956">
                <a:moveTo>
                  <a:pt x="0" y="0"/>
                </a:moveTo>
                <a:lnTo>
                  <a:pt x="8652956" y="0"/>
                </a:lnTo>
                <a:lnTo>
                  <a:pt x="8652956" y="4822609"/>
                </a:lnTo>
                <a:lnTo>
                  <a:pt x="0" y="48226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4475" t="-93584" r="-4069" b="-46681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52755" y="1260541"/>
            <a:ext cx="1093104" cy="1090372"/>
          </a:xfrm>
          <a:custGeom>
            <a:avLst/>
            <a:gdLst/>
            <a:ahLst/>
            <a:cxnLst/>
            <a:rect r="r" b="b" t="t" l="l"/>
            <a:pathLst>
              <a:path h="1090372" w="1093104">
                <a:moveTo>
                  <a:pt x="0" y="0"/>
                </a:moveTo>
                <a:lnTo>
                  <a:pt x="1093105" y="0"/>
                </a:lnTo>
                <a:lnTo>
                  <a:pt x="1093105" y="1090372"/>
                </a:lnTo>
                <a:lnTo>
                  <a:pt x="0" y="10903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52109" y="4234097"/>
            <a:ext cx="857215" cy="55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60"/>
              </a:lnSpc>
            </a:pPr>
            <a:r>
              <a:rPr lang="en-US" sz="3042" spc="252">
                <a:solidFill>
                  <a:srgbClr val="F5FFF9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51206" y="5167315"/>
            <a:ext cx="6888602" cy="15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0"/>
              </a:lnSpc>
            </a:pPr>
            <a:r>
              <a:rPr lang="en-US" sz="3042" spc="252">
                <a:solidFill>
                  <a:srgbClr val="27EE5F"/>
                </a:solidFill>
                <a:latin typeface="Roboto"/>
                <a:ea typeface="Roboto"/>
                <a:cs typeface="Roboto"/>
                <a:sym typeface="Roboto"/>
              </a:rPr>
              <a:t>div</a:t>
            </a: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lang="en-US" sz="3042" spc="252">
                <a:solidFill>
                  <a:srgbClr val="F5E38B"/>
                </a:solidFill>
                <a:latin typeface="Roboto"/>
                <a:ea typeface="Roboto"/>
                <a:cs typeface="Roboto"/>
                <a:sym typeface="Roboto"/>
              </a:rPr>
              <a:t>class</a:t>
            </a:r>
            <a:r>
              <a:rPr lang="en-US" sz="3042" spc="252">
                <a:solidFill>
                  <a:srgbClr val="27EE5F"/>
                </a:solidFill>
                <a:latin typeface="Roboto"/>
                <a:ea typeface="Roboto"/>
                <a:cs typeface="Roboto"/>
                <a:sym typeface="Roboto"/>
              </a:rPr>
              <a:t>~=</a:t>
            </a:r>
            <a:r>
              <a:rPr lang="en-US" sz="3042" spc="252">
                <a:solidFill>
                  <a:srgbClr val="F5E38B"/>
                </a:solidFill>
                <a:latin typeface="Roboto"/>
                <a:ea typeface="Roboto"/>
                <a:cs typeface="Roboto"/>
                <a:sym typeface="Roboto"/>
              </a:rPr>
              <a:t>”ativo”</a:t>
            </a: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] {</a:t>
            </a:r>
          </a:p>
          <a:p>
            <a:pPr algn="l">
              <a:lnSpc>
                <a:spcPts val="4260"/>
              </a:lnSpc>
            </a:pP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lang="en-US" sz="3042" spc="252">
                <a:solidFill>
                  <a:srgbClr val="BFECAC"/>
                </a:solidFill>
                <a:latin typeface="Roboto"/>
                <a:ea typeface="Roboto"/>
                <a:cs typeface="Roboto"/>
                <a:sym typeface="Roboto"/>
              </a:rPr>
              <a:t>bacground-color </a:t>
            </a: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3042" spc="252">
                <a:solidFill>
                  <a:srgbClr val="74BDCE"/>
                </a:solidFill>
                <a:latin typeface="Roboto"/>
                <a:ea typeface="Roboto"/>
                <a:cs typeface="Roboto"/>
                <a:sym typeface="Roboto"/>
              </a:rPr>
              <a:t>lightblue</a:t>
            </a: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</a:p>
          <a:p>
            <a:pPr algn="l" marL="0" indent="0" lvl="0">
              <a:lnSpc>
                <a:spcPts val="4260"/>
              </a:lnSpc>
            </a:pP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59748" y="1693119"/>
            <a:ext cx="12555611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500" spc="-192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Seleciona elementos cujo valor do atributo </a:t>
            </a:r>
          </a:p>
          <a:p>
            <a:pPr algn="l" marL="0" indent="0" lvl="0">
              <a:lnSpc>
                <a:spcPts val="4095"/>
              </a:lnSpc>
            </a:pPr>
            <a:r>
              <a:rPr lang="en-US" sz="3500" spc="-192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contém uma palavra exata, separada por espaços.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759748" y="752475"/>
            <a:ext cx="8028009" cy="95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64"/>
              </a:lnSpc>
            </a:pPr>
            <a:r>
              <a:rPr lang="en-US" b="true" sz="5621">
                <a:solidFill>
                  <a:srgbClr val="5A2312"/>
                </a:solidFill>
                <a:latin typeface="Poppins Bold"/>
                <a:ea typeface="Poppins Bold"/>
                <a:cs typeface="Poppins Bold"/>
                <a:sym typeface="Poppins Bold"/>
              </a:rPr>
              <a:t>Palavra separada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39275" y="943293"/>
            <a:ext cx="5156200" cy="61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44"/>
              </a:lnSpc>
            </a:pPr>
            <a:r>
              <a:rPr lang="en-US" b="true" sz="3621">
                <a:solidFill>
                  <a:srgbClr val="5A2312"/>
                </a:solidFill>
                <a:latin typeface="Poppins Bold"/>
                <a:ea typeface="Poppins Bold"/>
                <a:cs typeface="Poppins Bold"/>
                <a:sym typeface="Poppins Bold"/>
              </a:rPr>
              <a:t>(~=)</a:t>
            </a:r>
          </a:p>
        </p:txBody>
      </p:sp>
    </p:spTree>
  </p:cSld>
  <p:clrMapOvr>
    <a:masterClrMapping/>
  </p:clrMapOvr>
  <p:transition spd="med">
    <p:cover dir="d"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673965"/>
            <a:ext cx="5745052" cy="2911688"/>
            <a:chOff x="0" y="0"/>
            <a:chExt cx="1790911" cy="9076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0911" cy="907664"/>
            </a:xfrm>
            <a:custGeom>
              <a:avLst/>
              <a:gdLst/>
              <a:ahLst/>
              <a:cxnLst/>
              <a:rect r="r" b="b" t="t" l="l"/>
              <a:pathLst>
                <a:path h="907664" w="1790911">
                  <a:moveTo>
                    <a:pt x="41775" y="0"/>
                  </a:moveTo>
                  <a:lnTo>
                    <a:pt x="1749136" y="0"/>
                  </a:lnTo>
                  <a:cubicBezTo>
                    <a:pt x="1760216" y="0"/>
                    <a:pt x="1770842" y="4401"/>
                    <a:pt x="1778676" y="12236"/>
                  </a:cubicBezTo>
                  <a:cubicBezTo>
                    <a:pt x="1786510" y="20070"/>
                    <a:pt x="1790911" y="30696"/>
                    <a:pt x="1790911" y="41775"/>
                  </a:cubicBezTo>
                  <a:lnTo>
                    <a:pt x="1790911" y="865889"/>
                  </a:lnTo>
                  <a:cubicBezTo>
                    <a:pt x="1790911" y="876968"/>
                    <a:pt x="1786510" y="887594"/>
                    <a:pt x="1778676" y="895428"/>
                  </a:cubicBezTo>
                  <a:cubicBezTo>
                    <a:pt x="1770842" y="903263"/>
                    <a:pt x="1760216" y="907664"/>
                    <a:pt x="1749136" y="907664"/>
                  </a:cubicBezTo>
                  <a:lnTo>
                    <a:pt x="41775" y="907664"/>
                  </a:lnTo>
                  <a:cubicBezTo>
                    <a:pt x="30696" y="907664"/>
                    <a:pt x="20070" y="903263"/>
                    <a:pt x="12236" y="895428"/>
                  </a:cubicBezTo>
                  <a:cubicBezTo>
                    <a:pt x="4401" y="887594"/>
                    <a:pt x="0" y="876968"/>
                    <a:pt x="0" y="865889"/>
                  </a:cubicBezTo>
                  <a:lnTo>
                    <a:pt x="0" y="41775"/>
                  </a:lnTo>
                  <a:cubicBezTo>
                    <a:pt x="0" y="30696"/>
                    <a:pt x="4401" y="20070"/>
                    <a:pt x="12236" y="12236"/>
                  </a:cubicBezTo>
                  <a:cubicBezTo>
                    <a:pt x="20070" y="4401"/>
                    <a:pt x="30696" y="0"/>
                    <a:pt x="41775" y="0"/>
                  </a:cubicBezTo>
                  <a:close/>
                </a:path>
              </a:pathLst>
            </a:custGeom>
            <a:solidFill>
              <a:srgbClr val="20242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90911" cy="945764"/>
            </a:xfrm>
            <a:prstGeom prst="rect">
              <a:avLst/>
            </a:prstGeom>
          </p:spPr>
          <p:txBody>
            <a:bodyPr anchor="ctr" rtlCol="false" tIns="42920" lIns="42920" bIns="42920" rIns="4292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4434024"/>
            <a:ext cx="1104034" cy="747835"/>
            <a:chOff x="0" y="0"/>
            <a:chExt cx="344162" cy="2331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4162" cy="233123"/>
            </a:xfrm>
            <a:custGeom>
              <a:avLst/>
              <a:gdLst/>
              <a:ahLst/>
              <a:cxnLst/>
              <a:rect r="r" b="b" t="t" l="l"/>
              <a:pathLst>
                <a:path h="233123" w="344162">
                  <a:moveTo>
                    <a:pt x="98174" y="0"/>
                  </a:moveTo>
                  <a:lnTo>
                    <a:pt x="245988" y="0"/>
                  </a:lnTo>
                  <a:cubicBezTo>
                    <a:pt x="300208" y="0"/>
                    <a:pt x="344162" y="43954"/>
                    <a:pt x="344162" y="98174"/>
                  </a:cubicBezTo>
                  <a:lnTo>
                    <a:pt x="344162" y="134950"/>
                  </a:lnTo>
                  <a:cubicBezTo>
                    <a:pt x="344162" y="189170"/>
                    <a:pt x="300208" y="233123"/>
                    <a:pt x="245988" y="233123"/>
                  </a:cubicBezTo>
                  <a:lnTo>
                    <a:pt x="98174" y="233123"/>
                  </a:lnTo>
                  <a:cubicBezTo>
                    <a:pt x="43954" y="233123"/>
                    <a:pt x="0" y="189170"/>
                    <a:pt x="0" y="134950"/>
                  </a:cubicBezTo>
                  <a:lnTo>
                    <a:pt x="0" y="98174"/>
                  </a:lnTo>
                  <a:cubicBezTo>
                    <a:pt x="0" y="43954"/>
                    <a:pt x="43954" y="0"/>
                    <a:pt x="98174" y="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44162" cy="271223"/>
            </a:xfrm>
            <a:prstGeom prst="rect">
              <a:avLst/>
            </a:prstGeom>
          </p:spPr>
          <p:txBody>
            <a:bodyPr anchor="ctr" rtlCol="false" tIns="42920" lIns="42920" bIns="42920" rIns="4292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4631901"/>
            <a:ext cx="1104034" cy="549959"/>
            <a:chOff x="0" y="0"/>
            <a:chExt cx="344162" cy="1714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4162" cy="171439"/>
            </a:xfrm>
            <a:custGeom>
              <a:avLst/>
              <a:gdLst/>
              <a:ahLst/>
              <a:cxnLst/>
              <a:rect r="r" b="b" t="t" l="l"/>
              <a:pathLst>
                <a:path h="171439" w="344162">
                  <a:moveTo>
                    <a:pt x="0" y="0"/>
                  </a:moveTo>
                  <a:lnTo>
                    <a:pt x="344162" y="0"/>
                  </a:lnTo>
                  <a:lnTo>
                    <a:pt x="344162" y="171439"/>
                  </a:lnTo>
                  <a:lnTo>
                    <a:pt x="0" y="171439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44162" cy="209539"/>
            </a:xfrm>
            <a:prstGeom prst="rect">
              <a:avLst/>
            </a:prstGeom>
          </p:spPr>
          <p:txBody>
            <a:bodyPr anchor="ctr" rtlCol="false" tIns="42920" lIns="42920" bIns="42920" rIns="4292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62000" y="968419"/>
            <a:ext cx="1674615" cy="167461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1F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674196" y="3453758"/>
            <a:ext cx="9585104" cy="5649016"/>
          </a:xfrm>
          <a:custGeom>
            <a:avLst/>
            <a:gdLst/>
            <a:ahLst/>
            <a:cxnLst/>
            <a:rect r="r" b="b" t="t" l="l"/>
            <a:pathLst>
              <a:path h="5649016" w="9585104">
                <a:moveTo>
                  <a:pt x="0" y="0"/>
                </a:moveTo>
                <a:lnTo>
                  <a:pt x="9585104" y="0"/>
                </a:lnTo>
                <a:lnTo>
                  <a:pt x="9585104" y="5649016"/>
                </a:lnTo>
                <a:lnTo>
                  <a:pt x="0" y="5649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8453" t="-90967" r="-5069" b="-4258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47291" y="1253710"/>
            <a:ext cx="1104034" cy="1104034"/>
          </a:xfrm>
          <a:custGeom>
            <a:avLst/>
            <a:gdLst/>
            <a:ahLst/>
            <a:cxnLst/>
            <a:rect r="r" b="b" t="t" l="l"/>
            <a:pathLst>
              <a:path h="1104034" w="1104034">
                <a:moveTo>
                  <a:pt x="0" y="0"/>
                </a:moveTo>
                <a:lnTo>
                  <a:pt x="1104033" y="0"/>
                </a:lnTo>
                <a:lnTo>
                  <a:pt x="1104033" y="1104034"/>
                </a:lnTo>
                <a:lnTo>
                  <a:pt x="0" y="1104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52109" y="4481747"/>
            <a:ext cx="857215" cy="55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60"/>
              </a:lnSpc>
            </a:pPr>
            <a:r>
              <a:rPr lang="en-US" sz="3042" spc="252">
                <a:solidFill>
                  <a:srgbClr val="F5FFF9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51206" y="5414965"/>
            <a:ext cx="3810677" cy="15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0"/>
              </a:lnSpc>
            </a:pPr>
            <a:r>
              <a:rPr lang="en-US" sz="3042" spc="252">
                <a:solidFill>
                  <a:srgbClr val="27EE5F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lang="en-US" sz="3042" spc="252">
                <a:solidFill>
                  <a:srgbClr val="F5E38B"/>
                </a:solidFill>
                <a:latin typeface="Roboto"/>
                <a:ea typeface="Roboto"/>
                <a:cs typeface="Roboto"/>
                <a:sym typeface="Roboto"/>
              </a:rPr>
              <a:t>lang</a:t>
            </a:r>
            <a:r>
              <a:rPr lang="en-US" sz="3042" spc="252">
                <a:solidFill>
                  <a:srgbClr val="27EE5F"/>
                </a:solidFill>
                <a:latin typeface="Roboto"/>
                <a:ea typeface="Roboto"/>
                <a:cs typeface="Roboto"/>
                <a:sym typeface="Roboto"/>
              </a:rPr>
              <a:t>|=</a:t>
            </a:r>
            <a:r>
              <a:rPr lang="en-US" sz="3042" spc="252">
                <a:solidFill>
                  <a:srgbClr val="FEA002"/>
                </a:solidFill>
                <a:latin typeface="Roboto"/>
                <a:ea typeface="Roboto"/>
                <a:cs typeface="Roboto"/>
                <a:sym typeface="Roboto"/>
              </a:rPr>
              <a:t>”pt”</a:t>
            </a: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] {</a:t>
            </a:r>
          </a:p>
          <a:p>
            <a:pPr algn="l">
              <a:lnSpc>
                <a:spcPts val="4260"/>
              </a:lnSpc>
            </a:pP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lang="en-US" sz="3042" spc="252">
                <a:solidFill>
                  <a:srgbClr val="BFECAC"/>
                </a:solidFill>
                <a:latin typeface="Roboto"/>
                <a:ea typeface="Roboto"/>
                <a:cs typeface="Roboto"/>
                <a:sym typeface="Roboto"/>
              </a:rPr>
              <a:t>color </a:t>
            </a: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3042" spc="252">
                <a:solidFill>
                  <a:srgbClr val="74BDCE"/>
                </a:solidFill>
                <a:latin typeface="Roboto"/>
                <a:ea typeface="Roboto"/>
                <a:cs typeface="Roboto"/>
                <a:sym typeface="Roboto"/>
              </a:rPr>
              <a:t>blue</a:t>
            </a: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</a:p>
          <a:p>
            <a:pPr algn="l" marL="0" indent="0" lvl="0">
              <a:lnSpc>
                <a:spcPts val="4260"/>
              </a:lnSpc>
            </a:pPr>
            <a:r>
              <a:rPr lang="en-US" sz="3042" spc="252">
                <a:solidFill>
                  <a:srgbClr val="F5FFF9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759748" y="1693119"/>
            <a:ext cx="12716548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95"/>
              </a:lnSpc>
            </a:pPr>
            <a:r>
              <a:rPr lang="en-US" sz="3500" spc="-192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Seleciona elementos cujo valor do atributo são exatamente iguais ou começam  com o valor seguido de hífen.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59748" y="752475"/>
            <a:ext cx="8028009" cy="95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64"/>
              </a:lnSpc>
            </a:pPr>
            <a:r>
              <a:rPr lang="en-US" b="true" sz="5621">
                <a:solidFill>
                  <a:srgbClr val="5A2312"/>
                </a:solidFill>
                <a:latin typeface="Poppins Bold"/>
                <a:ea typeface="Poppins Bold"/>
                <a:cs typeface="Poppins Bold"/>
                <a:sym typeface="Poppins Bold"/>
              </a:rPr>
              <a:t>Prefixo com hífen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01150" y="943293"/>
            <a:ext cx="5156200" cy="61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44"/>
              </a:lnSpc>
            </a:pPr>
            <a:r>
              <a:rPr lang="en-US" b="true" sz="3621">
                <a:solidFill>
                  <a:srgbClr val="5A2312"/>
                </a:solidFill>
                <a:latin typeface="Poppins Bold"/>
                <a:ea typeface="Poppins Bold"/>
                <a:cs typeface="Poppins Bold"/>
                <a:sym typeface="Poppins Bold"/>
              </a:rPr>
              <a:t>(|=)</a:t>
            </a:r>
          </a:p>
        </p:txBody>
      </p:sp>
    </p:spTree>
  </p:cSld>
  <p:clrMapOvr>
    <a:masterClrMapping/>
  </p:clrMapOvr>
  <p:transition spd="med">
    <p:cover dir="d"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14530" y="752475"/>
            <a:ext cx="8028009" cy="95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64"/>
              </a:lnSpc>
            </a:pPr>
            <a:r>
              <a:rPr lang="en-US" b="true" sz="5621">
                <a:solidFill>
                  <a:srgbClr val="5A2312"/>
                </a:solidFill>
                <a:latin typeface="Poppins Bold"/>
                <a:ea typeface="Poppins Bold"/>
                <a:cs typeface="Poppins Bold"/>
                <a:sym typeface="Poppins Bold"/>
              </a:rPr>
              <a:t>Resumindo...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43841" y="597702"/>
            <a:ext cx="1413140" cy="2156502"/>
            <a:chOff x="0" y="0"/>
            <a:chExt cx="1884186" cy="2875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402060"/>
              <a:ext cx="1884186" cy="2473275"/>
            </a:xfrm>
            <a:custGeom>
              <a:avLst/>
              <a:gdLst/>
              <a:ahLst/>
              <a:cxnLst/>
              <a:rect r="r" b="b" t="t" l="l"/>
              <a:pathLst>
                <a:path h="2473275" w="1884186">
                  <a:moveTo>
                    <a:pt x="0" y="0"/>
                  </a:moveTo>
                  <a:lnTo>
                    <a:pt x="1884186" y="0"/>
                  </a:lnTo>
                  <a:lnTo>
                    <a:pt x="1884186" y="2473276"/>
                  </a:lnTo>
                  <a:lnTo>
                    <a:pt x="0" y="24732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804" y="0"/>
              <a:ext cx="1000461" cy="804120"/>
            </a:xfrm>
            <a:custGeom>
              <a:avLst/>
              <a:gdLst/>
              <a:ahLst/>
              <a:cxnLst/>
              <a:rect r="r" b="b" t="t" l="l"/>
              <a:pathLst>
                <a:path h="804120" w="1000461">
                  <a:moveTo>
                    <a:pt x="0" y="0"/>
                  </a:moveTo>
                  <a:lnTo>
                    <a:pt x="1000461" y="0"/>
                  </a:lnTo>
                  <a:lnTo>
                    <a:pt x="1000461" y="804120"/>
                  </a:lnTo>
                  <a:lnTo>
                    <a:pt x="0" y="804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3314530" y="1693119"/>
            <a:ext cx="10043716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95"/>
              </a:lnSpc>
              <a:spcBef>
                <a:spcPct val="0"/>
              </a:spcBef>
            </a:pPr>
            <a:r>
              <a:rPr lang="en-US" sz="3500" spc="-192" strike="noStrike" u="none">
                <a:solidFill>
                  <a:srgbClr val="01111D"/>
                </a:solidFill>
                <a:latin typeface="Poppins"/>
                <a:ea typeface="Poppins"/>
                <a:cs typeface="Poppins"/>
                <a:sym typeface="Poppins"/>
              </a:rPr>
              <a:t>Os seletores de atributo selecionam os elementos pelo atributo e/ou pelo valor do atributo.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83482" y="3480933"/>
            <a:ext cx="15675818" cy="6108114"/>
            <a:chOff x="0" y="0"/>
            <a:chExt cx="4886640" cy="19040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86640" cy="1904089"/>
            </a:xfrm>
            <a:custGeom>
              <a:avLst/>
              <a:gdLst/>
              <a:ahLst/>
              <a:cxnLst/>
              <a:rect r="r" b="b" t="t" l="l"/>
              <a:pathLst>
                <a:path h="1904089" w="4886640">
                  <a:moveTo>
                    <a:pt x="15310" y="0"/>
                  </a:moveTo>
                  <a:lnTo>
                    <a:pt x="4871330" y="0"/>
                  </a:lnTo>
                  <a:cubicBezTo>
                    <a:pt x="4875390" y="0"/>
                    <a:pt x="4879285" y="1613"/>
                    <a:pt x="4882156" y="4484"/>
                  </a:cubicBezTo>
                  <a:cubicBezTo>
                    <a:pt x="4885027" y="7355"/>
                    <a:pt x="4886640" y="11250"/>
                    <a:pt x="4886640" y="15310"/>
                  </a:cubicBezTo>
                  <a:lnTo>
                    <a:pt x="4886640" y="1888779"/>
                  </a:lnTo>
                  <a:cubicBezTo>
                    <a:pt x="4886640" y="1892839"/>
                    <a:pt x="4885027" y="1896734"/>
                    <a:pt x="4882156" y="1899605"/>
                  </a:cubicBezTo>
                  <a:cubicBezTo>
                    <a:pt x="4879285" y="1902476"/>
                    <a:pt x="4875390" y="1904089"/>
                    <a:pt x="4871330" y="1904089"/>
                  </a:cubicBezTo>
                  <a:lnTo>
                    <a:pt x="15310" y="1904089"/>
                  </a:lnTo>
                  <a:cubicBezTo>
                    <a:pt x="11250" y="1904089"/>
                    <a:pt x="7355" y="1902476"/>
                    <a:pt x="4484" y="1899605"/>
                  </a:cubicBezTo>
                  <a:cubicBezTo>
                    <a:pt x="1613" y="1896734"/>
                    <a:pt x="0" y="1892839"/>
                    <a:pt x="0" y="1888779"/>
                  </a:cubicBezTo>
                  <a:lnTo>
                    <a:pt x="0" y="15310"/>
                  </a:lnTo>
                  <a:cubicBezTo>
                    <a:pt x="0" y="11250"/>
                    <a:pt x="1613" y="7355"/>
                    <a:pt x="4484" y="4484"/>
                  </a:cubicBezTo>
                  <a:cubicBezTo>
                    <a:pt x="7355" y="1613"/>
                    <a:pt x="11250" y="0"/>
                    <a:pt x="15310" y="0"/>
                  </a:cubicBezTo>
                  <a:close/>
                </a:path>
              </a:pathLst>
            </a:custGeom>
            <a:solidFill>
              <a:srgbClr val="20242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86640" cy="1942189"/>
            </a:xfrm>
            <a:prstGeom prst="rect">
              <a:avLst/>
            </a:prstGeom>
          </p:spPr>
          <p:txBody>
            <a:bodyPr anchor="ctr" rtlCol="false" tIns="42920" lIns="42920" bIns="42920" rIns="4292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957668" y="4820117"/>
            <a:ext cx="4592578" cy="4438183"/>
            <a:chOff x="0" y="0"/>
            <a:chExt cx="6123437" cy="591757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5242755"/>
              <a:ext cx="6123437" cy="674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27EE5F"/>
                  </a:solidFill>
                  <a:latin typeface="Roboto"/>
                  <a:ea typeface="Roboto"/>
                  <a:cs typeface="Roboto"/>
                  <a:sym typeface="Roboto"/>
                </a:rPr>
                <a:t>p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[</a:t>
              </a:r>
              <a:r>
                <a:rPr lang="en-US" sz="3042" spc="252">
                  <a:solidFill>
                    <a:srgbClr val="F5E38B"/>
                  </a:solidFill>
                  <a:latin typeface="Roboto"/>
                  <a:ea typeface="Roboto"/>
                  <a:cs typeface="Roboto"/>
                  <a:sym typeface="Roboto"/>
                </a:rPr>
                <a:t>lang</a:t>
              </a:r>
              <a:r>
                <a:rPr lang="en-US" sz="3042" spc="252">
                  <a:solidFill>
                    <a:srgbClr val="27EE5F"/>
                  </a:solidFill>
                  <a:latin typeface="Roboto"/>
                  <a:ea typeface="Roboto"/>
                  <a:cs typeface="Roboto"/>
                  <a:sym typeface="Roboto"/>
                </a:rPr>
                <a:t>|=</a:t>
              </a:r>
              <a:r>
                <a:rPr lang="en-US" sz="3042" spc="252">
                  <a:solidFill>
                    <a:srgbClr val="FEA002"/>
                  </a:solidFill>
                  <a:latin typeface="Roboto"/>
                  <a:ea typeface="Roboto"/>
                  <a:cs typeface="Roboto"/>
                  <a:sym typeface="Roboto"/>
                </a:rPr>
                <a:t>”pt”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]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357850"/>
              <a:ext cx="6123437" cy="674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27EE5F"/>
                  </a:solidFill>
                  <a:latin typeface="Roboto"/>
                  <a:ea typeface="Roboto"/>
                  <a:cs typeface="Roboto"/>
                  <a:sym typeface="Roboto"/>
                </a:rPr>
                <a:t>div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[</a:t>
              </a:r>
              <a:r>
                <a:rPr lang="en-US" sz="3042" spc="252">
                  <a:solidFill>
                    <a:srgbClr val="F5E38B"/>
                  </a:solidFill>
                  <a:latin typeface="Roboto"/>
                  <a:ea typeface="Roboto"/>
                  <a:cs typeface="Roboto"/>
                  <a:sym typeface="Roboto"/>
                </a:rPr>
                <a:t>class</a:t>
              </a:r>
              <a:r>
                <a:rPr lang="en-US" sz="3042" spc="252">
                  <a:solidFill>
                    <a:srgbClr val="27EE5F"/>
                  </a:solidFill>
                  <a:latin typeface="Roboto"/>
                  <a:ea typeface="Roboto"/>
                  <a:cs typeface="Roboto"/>
                  <a:sym typeface="Roboto"/>
                </a:rPr>
                <a:t>~=</a:t>
              </a:r>
              <a:r>
                <a:rPr lang="en-US" sz="3042" spc="252">
                  <a:solidFill>
                    <a:srgbClr val="F5E38B"/>
                  </a:solidFill>
                  <a:latin typeface="Roboto"/>
                  <a:ea typeface="Roboto"/>
                  <a:cs typeface="Roboto"/>
                  <a:sym typeface="Roboto"/>
                </a:rPr>
                <a:t>”ativo”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]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703135"/>
              <a:ext cx="6123437" cy="674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27EE5F"/>
                  </a:solidFill>
                  <a:latin typeface="Roboto"/>
                  <a:ea typeface="Roboto"/>
                  <a:cs typeface="Roboto"/>
                  <a:sym typeface="Roboto"/>
                </a:rPr>
                <a:t>a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[</a:t>
              </a:r>
              <a:r>
                <a:rPr lang="en-US" sz="3042" spc="252">
                  <a:solidFill>
                    <a:srgbClr val="F661A1"/>
                  </a:solidFill>
                  <a:latin typeface="Roboto"/>
                  <a:ea typeface="Roboto"/>
                  <a:cs typeface="Roboto"/>
                  <a:sym typeface="Roboto"/>
                </a:rPr>
                <a:t>href</a:t>
              </a:r>
              <a:r>
                <a:rPr lang="en-US" sz="3042" spc="252">
                  <a:solidFill>
                    <a:srgbClr val="27EE5F"/>
                  </a:solidFill>
                  <a:latin typeface="Roboto"/>
                  <a:ea typeface="Roboto"/>
                  <a:cs typeface="Roboto"/>
                  <a:sym typeface="Roboto"/>
                </a:rPr>
                <a:t>^=</a:t>
              </a:r>
              <a:r>
                <a:rPr lang="en-US" sz="3042" spc="252">
                  <a:solidFill>
                    <a:srgbClr val="FEA002"/>
                  </a:solidFill>
                  <a:latin typeface="Roboto"/>
                  <a:ea typeface="Roboto"/>
                  <a:cs typeface="Roboto"/>
                  <a:sym typeface="Roboto"/>
                </a:rPr>
                <a:t>”https”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]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2588040"/>
              <a:ext cx="6123437" cy="674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27EE5F"/>
                  </a:solidFill>
                  <a:latin typeface="Roboto"/>
                  <a:ea typeface="Roboto"/>
                  <a:cs typeface="Roboto"/>
                  <a:sym typeface="Roboto"/>
                </a:rPr>
                <a:t>a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[</a:t>
              </a:r>
              <a:r>
                <a:rPr lang="en-US" sz="3042" spc="252">
                  <a:solidFill>
                    <a:srgbClr val="F661A1"/>
                  </a:solidFill>
                  <a:latin typeface="Roboto"/>
                  <a:ea typeface="Roboto"/>
                  <a:cs typeface="Roboto"/>
                  <a:sym typeface="Roboto"/>
                </a:rPr>
                <a:t>href</a:t>
              </a:r>
              <a:r>
                <a:rPr lang="en-US" sz="3042" spc="252">
                  <a:solidFill>
                    <a:srgbClr val="27EE5F"/>
                  </a:solidFill>
                  <a:latin typeface="Roboto"/>
                  <a:ea typeface="Roboto"/>
                  <a:cs typeface="Roboto"/>
                  <a:sym typeface="Roboto"/>
                </a:rPr>
                <a:t>$=</a:t>
              </a:r>
              <a:r>
                <a:rPr lang="en-US" sz="3042" spc="252">
                  <a:solidFill>
                    <a:srgbClr val="FEA002"/>
                  </a:solidFill>
                  <a:latin typeface="Roboto"/>
                  <a:ea typeface="Roboto"/>
                  <a:cs typeface="Roboto"/>
                  <a:sym typeface="Roboto"/>
                </a:rPr>
                <a:t>”.pdf”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]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3472945"/>
              <a:ext cx="6123437" cy="674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27EE5F"/>
                  </a:solidFill>
                  <a:latin typeface="Roboto"/>
                  <a:ea typeface="Roboto"/>
                  <a:cs typeface="Roboto"/>
                  <a:sym typeface="Roboto"/>
                </a:rPr>
                <a:t>a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[</a:t>
              </a:r>
              <a:r>
                <a:rPr lang="en-US" sz="3042" spc="252">
                  <a:solidFill>
                    <a:srgbClr val="F661A1"/>
                  </a:solidFill>
                  <a:latin typeface="Roboto"/>
                  <a:ea typeface="Roboto"/>
                  <a:cs typeface="Roboto"/>
                  <a:sym typeface="Roboto"/>
                </a:rPr>
                <a:t>href</a:t>
              </a:r>
              <a:r>
                <a:rPr lang="en-US" sz="3042" spc="252">
                  <a:solidFill>
                    <a:srgbClr val="27EE5F"/>
                  </a:solidFill>
                  <a:latin typeface="Roboto"/>
                  <a:ea typeface="Roboto"/>
                  <a:cs typeface="Roboto"/>
                  <a:sym typeface="Roboto"/>
                </a:rPr>
                <a:t>*=</a:t>
              </a:r>
              <a:r>
                <a:rPr lang="en-US" sz="3042" spc="252">
                  <a:solidFill>
                    <a:srgbClr val="FEA002"/>
                  </a:solidFill>
                  <a:latin typeface="Roboto"/>
                  <a:ea typeface="Roboto"/>
                  <a:cs typeface="Roboto"/>
                  <a:sym typeface="Roboto"/>
                </a:rPr>
                <a:t>”google”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]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818230"/>
              <a:ext cx="6123437" cy="674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27EE5F"/>
                  </a:solidFill>
                  <a:latin typeface="Roboto"/>
                  <a:ea typeface="Roboto"/>
                  <a:cs typeface="Roboto"/>
                  <a:sym typeface="Roboto"/>
                </a:rPr>
                <a:t>input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[</a:t>
              </a:r>
              <a:r>
                <a:rPr lang="en-US" sz="3042" spc="252">
                  <a:solidFill>
                    <a:srgbClr val="F661A1"/>
                  </a:solidFill>
                  <a:latin typeface="Roboto"/>
                  <a:ea typeface="Roboto"/>
                  <a:cs typeface="Roboto"/>
                  <a:sym typeface="Roboto"/>
                </a:rPr>
                <a:t>type</a:t>
              </a:r>
              <a:r>
                <a:rPr lang="en-US" sz="3042" spc="252">
                  <a:solidFill>
                    <a:srgbClr val="27EE5F"/>
                  </a:solidFill>
                  <a:latin typeface="Roboto"/>
                  <a:ea typeface="Roboto"/>
                  <a:cs typeface="Roboto"/>
                  <a:sym typeface="Roboto"/>
                </a:rPr>
                <a:t>=</a:t>
              </a:r>
              <a:r>
                <a:rPr lang="en-US" sz="3042" spc="252">
                  <a:solidFill>
                    <a:srgbClr val="FEA002"/>
                  </a:solidFill>
                  <a:latin typeface="Roboto"/>
                  <a:ea typeface="Roboto"/>
                  <a:cs typeface="Roboto"/>
                  <a:sym typeface="Roboto"/>
                </a:rPr>
                <a:t>”email”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]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-66675"/>
              <a:ext cx="6123437" cy="674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27EE5F"/>
                  </a:solidFill>
                  <a:latin typeface="Roboto"/>
                  <a:ea typeface="Roboto"/>
                  <a:cs typeface="Roboto"/>
                  <a:sym typeface="Roboto"/>
                </a:rPr>
                <a:t>input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[</a:t>
              </a:r>
              <a:r>
                <a:rPr lang="en-US" sz="3042" spc="252">
                  <a:solidFill>
                    <a:srgbClr val="27EE5F"/>
                  </a:solidFill>
                  <a:latin typeface="Roboto"/>
                  <a:ea typeface="Roboto"/>
                  <a:cs typeface="Roboto"/>
                  <a:sym typeface="Roboto"/>
                </a:rPr>
                <a:t>required</a:t>
              </a: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]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735956" y="4820117"/>
            <a:ext cx="1396152" cy="4438183"/>
            <a:chOff x="0" y="0"/>
            <a:chExt cx="1861536" cy="5917577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5242755"/>
              <a:ext cx="1861536" cy="674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27EE5F"/>
                  </a:solidFill>
                  <a:latin typeface="Roboto"/>
                  <a:ea typeface="Roboto"/>
                  <a:cs typeface="Roboto"/>
                  <a:sym typeface="Roboto"/>
                </a:rPr>
                <a:t>|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4357850"/>
              <a:ext cx="1861536" cy="674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27EE5F"/>
                  </a:solidFill>
                  <a:latin typeface="Roboto"/>
                  <a:ea typeface="Roboto"/>
                  <a:cs typeface="Roboto"/>
                  <a:sym typeface="Roboto"/>
                </a:rPr>
                <a:t>~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703135"/>
              <a:ext cx="1861536" cy="674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27EE5F"/>
                  </a:solidFill>
                  <a:latin typeface="Roboto"/>
                  <a:ea typeface="Roboto"/>
                  <a:cs typeface="Roboto"/>
                  <a:sym typeface="Roboto"/>
                </a:rPr>
                <a:t>^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2588040"/>
              <a:ext cx="1861536" cy="674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27EE5F"/>
                  </a:solidFill>
                  <a:latin typeface="Roboto"/>
                  <a:ea typeface="Roboto"/>
                  <a:cs typeface="Roboto"/>
                  <a:sym typeface="Roboto"/>
                </a:rPr>
                <a:t>$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3472945"/>
              <a:ext cx="1861536" cy="674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27EE5F"/>
                  </a:solidFill>
                  <a:latin typeface="Roboto"/>
                  <a:ea typeface="Roboto"/>
                  <a:cs typeface="Roboto"/>
                  <a:sym typeface="Roboto"/>
                </a:rPr>
                <a:t>*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818230"/>
              <a:ext cx="1861536" cy="674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27EE5F"/>
                  </a:solidFill>
                  <a:latin typeface="Roboto"/>
                  <a:ea typeface="Roboto"/>
                  <a:cs typeface="Roboto"/>
                  <a:sym typeface="Roboto"/>
                </a:rPr>
                <a:t>=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-66675"/>
              <a:ext cx="1861536" cy="674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F5FFF9"/>
                  </a:solidFill>
                  <a:latin typeface="Roboto"/>
                  <a:ea typeface="Roboto"/>
                  <a:cs typeface="Roboto"/>
                  <a:sym typeface="Roboto"/>
                </a:rPr>
                <a:t>[]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467621" y="4820117"/>
            <a:ext cx="7154534" cy="4438183"/>
            <a:chOff x="0" y="0"/>
            <a:chExt cx="9539378" cy="5917577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5242755"/>
              <a:ext cx="9539378" cy="674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00B2FF"/>
                  </a:solidFill>
                  <a:latin typeface="Roboto"/>
                  <a:ea typeface="Roboto"/>
                  <a:cs typeface="Roboto"/>
                  <a:sym typeface="Roboto"/>
                </a:rPr>
                <a:t>Valor - Separado por hífen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4357850"/>
              <a:ext cx="9539378" cy="674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00B2FF"/>
                  </a:solidFill>
                  <a:latin typeface="Roboto"/>
                  <a:ea typeface="Roboto"/>
                  <a:cs typeface="Roboto"/>
                  <a:sym typeface="Roboto"/>
                </a:rPr>
                <a:t>Valor - Separado por espaço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1703135"/>
              <a:ext cx="9539378" cy="674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00B2FF"/>
                  </a:solidFill>
                  <a:latin typeface="Roboto"/>
                  <a:ea typeface="Roboto"/>
                  <a:cs typeface="Roboto"/>
                  <a:sym typeface="Roboto"/>
                </a:rPr>
                <a:t>Valor - Começa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2588040"/>
              <a:ext cx="9539378" cy="674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00B2FF"/>
                  </a:solidFill>
                  <a:latin typeface="Roboto"/>
                  <a:ea typeface="Roboto"/>
                  <a:cs typeface="Roboto"/>
                  <a:sym typeface="Roboto"/>
                </a:rPr>
                <a:t>Valor - Termina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3472945"/>
              <a:ext cx="9539378" cy="674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00B2FF"/>
                  </a:solidFill>
                  <a:latin typeface="Roboto"/>
                  <a:ea typeface="Roboto"/>
                  <a:cs typeface="Roboto"/>
                  <a:sym typeface="Roboto"/>
                </a:rPr>
                <a:t>Valor - Contém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818230"/>
              <a:ext cx="9539378" cy="674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00B2FF"/>
                  </a:solidFill>
                  <a:latin typeface="Roboto"/>
                  <a:ea typeface="Roboto"/>
                  <a:cs typeface="Roboto"/>
                  <a:sym typeface="Roboto"/>
                </a:rPr>
                <a:t>Valor - Exato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-66675"/>
              <a:ext cx="9539378" cy="674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60"/>
                </a:lnSpc>
              </a:pPr>
              <a:r>
                <a:rPr lang="en-US" sz="3042" spc="252">
                  <a:solidFill>
                    <a:srgbClr val="00B2FF"/>
                  </a:solidFill>
                  <a:latin typeface="Roboto"/>
                  <a:ea typeface="Roboto"/>
                  <a:cs typeface="Roboto"/>
                  <a:sym typeface="Roboto"/>
                </a:rPr>
                <a:t>Presença do atributo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638765" y="4000271"/>
            <a:ext cx="2269855" cy="522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60"/>
              </a:lnSpc>
            </a:pPr>
            <a:r>
              <a:rPr lang="en-US" b="true" sz="3042" spc="25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Exemplo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909960" y="4000271"/>
            <a:ext cx="2269855" cy="522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60"/>
              </a:lnSpc>
            </a:pPr>
            <a:r>
              <a:rPr lang="en-US" b="true" sz="3042" spc="25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Função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299105" y="4000271"/>
            <a:ext cx="2269855" cy="522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60"/>
              </a:lnSpc>
            </a:pPr>
            <a:r>
              <a:rPr lang="en-US" b="true" sz="3042" spc="25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Símbolo</a:t>
            </a:r>
          </a:p>
        </p:txBody>
      </p:sp>
    </p:spTree>
  </p:cSld>
  <p:clrMapOvr>
    <a:masterClrMapping/>
  </p:clrMapOvr>
  <p:transition spd="med">
    <p:cover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DAHI0ztznNM</dc:identifier>
  <dcterms:modified xsi:type="dcterms:W3CDTF">2011-08-01T06:04:30Z</dcterms:modified>
  <cp:revision>1</cp:revision>
  <dc:title>Seletores CSS</dc:title>
</cp:coreProperties>
</file>